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2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4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06" autoAdjust="0"/>
    <p:restoredTop sz="79476" autoAdjust="0"/>
  </p:normalViewPr>
  <p:slideViewPr>
    <p:cSldViewPr snapToGrid="0">
      <p:cViewPr varScale="1">
        <p:scale>
          <a:sx n="78" d="100"/>
          <a:sy n="78" d="100"/>
        </p:scale>
        <p:origin x="126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effectLst/>
              </a:rPr>
              <a:t>Good morning. I’m Shaoyuan Wu. </a:t>
            </a:r>
          </a:p>
          <a:p>
            <a:endParaRPr lang="en-US" sz="1200" b="0" kern="1200" dirty="0">
              <a:effectLst/>
            </a:endParaRPr>
          </a:p>
          <a:p>
            <a:r>
              <a:rPr lang="en-US" sz="1200" b="0" kern="1200" dirty="0">
                <a:effectLst/>
              </a:rPr>
              <a:t>Today,</a:t>
            </a:r>
            <a:r>
              <a:rPr lang="zh-CN" altLang="en-US" sz="1200" b="0" kern="1200" dirty="0">
                <a:effectLst/>
              </a:rPr>
              <a:t> </a:t>
            </a:r>
            <a:r>
              <a:rPr lang="en-US" sz="1200" b="0" kern="1200" dirty="0">
                <a:effectLst/>
              </a:rPr>
              <a:t>I will present Multiverse Path Encryption, MPE. The name is inspired by the concept of Many-Worlds Interpretation: an observed path exists alongside multiple coherent alternative paths. </a:t>
            </a:r>
          </a:p>
          <a:p>
            <a:endParaRPr lang="en-US" sz="1200" b="0" kern="1200" dirty="0">
              <a:effectLst/>
            </a:endParaRPr>
          </a:p>
          <a:p>
            <a:r>
              <a:rPr lang="en-US" sz="1200" b="0" kern="1200" dirty="0">
                <a:effectLst/>
              </a:rPr>
              <a:t>MPE translates a branching-world intuition into a framework for post-compromise security. </a:t>
            </a:r>
          </a:p>
          <a:p>
            <a:endParaRPr lang="en-US" sz="1200" b="0" kern="1200" dirty="0">
              <a:effectLst/>
            </a:endParaRPr>
          </a:p>
          <a:p>
            <a:r>
              <a:rPr lang="en-US" sz="1200" b="0" kern="1200" dirty="0">
                <a:effectLst/>
              </a:rPr>
              <a:t>Our central question is: if an adversary can already observe ciphertext-derived outputs or </a:t>
            </a:r>
            <a:r>
              <a:rPr lang="en-US" sz="1200" b="0" kern="1200" dirty="0" err="1">
                <a:effectLst/>
              </a:rPr>
              <a:t>queryable</a:t>
            </a:r>
            <a:r>
              <a:rPr lang="en-US" sz="1200" b="0" kern="1200" dirty="0">
                <a:effectLst/>
              </a:rPr>
              <a:t> system states, can we still prevent reliable interpretation? </a:t>
            </a:r>
          </a:p>
          <a:p>
            <a:endParaRPr lang="en-US" sz="1200" b="0" kern="1200" dirty="0">
              <a:effectLst/>
            </a:endParaRPr>
          </a:p>
          <a:p>
            <a:r>
              <a:rPr lang="en-US" sz="1200" b="0" kern="1200" dirty="0">
                <a:effectLst/>
              </a:rPr>
              <a:t>Traditional encryption seeks to prevent access, while MPE seeks to control what access can reveal reliably.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Here is the short bio of the authors.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For today's presentation, I will concentrate on the technical idea, the architecture, and the experimental evidence.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1E02-E6B0-4351-E92F-D389392CC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849C7-A988-AA48-40D3-062F1D962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4CB7BE-A7C9-C7C4-49A6-785A5886D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Traditional cryptography primarily protects against unauthorized plaintext recovery.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Post-compromise access changes the attacker's position, because the attacker may already observe symbolic outputs, textual traces, or query responses.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However, visibility alone does not show whether those observations support a reliable operational interpretation.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07D71-7ABF-D90D-2C73-F2BA0588DE3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3546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43DA-1867-FFBD-BB74-11364CB7A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BDB39-0E0E-8154-5EE7-BC986CA50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4B772-4469-6D36-91A4-59F699AF8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The attacker still needs to determine which target matters, which path is real, and which action should be prioritized. This creates a second security problem besides visibility, which is what the adversary can infer from it confidently.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In other words, can the attacker resolve the intended interpretation reliably enough to select a target, reconstruct a path, or prioritize an action?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MPE addresses this by separating access from reliable interpretation.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system does not merely hide one message. Instead, it allows multiple coherent interpretations to remain viable under the attacker's observations.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In short, access does not automatically produce an authenticated or uniquely actionable meaning.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48469-B675-23CA-5F26-BC57EFB0064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6204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The technical shift is summarized by this chain shown above.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key does not directly retrieve or select a stored plaintext. Instead, it seeds a traversal policy. That policy determines a path through a shared semantic graph. The path is then closed into a coherent world, and responses to a query that are projected from that world.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Therefore, different admissible keys can induce incompatible worlds while each world remains internally consistent.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Thus, MPE elevates ambiguity from isolated messages to structured, path-dependent, and query-consistent interpretations.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This figure shows the full architecture.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sender establishes an observable semantic context. Candidate keys condition different traversal policies over the same constrained semantic graph, and those paths induce different coherent worlds.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Related queries are projected from one selected world. So, the answers remain mutually consistent, instead of behaving like independent decoys.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There are three design commitments.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First, the key determines a traversal policy, not a plaintext.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Second, the shared graph and closure function enforce global coherence.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Third, only the legitimate receiver can validate the intended world.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Authentication outcomes must never become an adversarial oracle, because a distinguishing validation signal would immediately collapse non-identifiability.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kern="1200" dirty="0">
                <a:effectLst/>
              </a:rPr>
              <a:t>The adversary is strong in observation but bounded at authentication. </a:t>
            </a:r>
          </a:p>
          <a:p>
            <a:endParaRPr lang="en-US" sz="2400" kern="1200" dirty="0">
              <a:effectLst/>
            </a:endParaRPr>
          </a:p>
          <a:p>
            <a:r>
              <a:rPr lang="en-US" sz="2400" kern="1200" dirty="0">
                <a:effectLst/>
              </a:rPr>
              <a:t>It can inspect candidate worlds and projected outputs, issue repeated or related queries, check structural consistency, rank targets, and reconstruct paths. </a:t>
            </a:r>
          </a:p>
          <a:p>
            <a:endParaRPr lang="en-US" sz="2400" kern="1200" dirty="0">
              <a:effectLst/>
            </a:endParaRPr>
          </a:p>
          <a:p>
            <a:r>
              <a:rPr lang="en-US" sz="2400" kern="1200" dirty="0">
                <a:effectLst/>
              </a:rPr>
              <a:t>It cannot access receiver-side authentication, query authentication as an oracle, or observe a distinguishing validation result. The security objective is world non-identifiability. </a:t>
            </a:r>
          </a:p>
          <a:p>
            <a:endParaRPr lang="en-US" sz="2400" kern="1200" dirty="0">
              <a:effectLst/>
            </a:endParaRPr>
          </a:p>
          <a:p>
            <a:r>
              <a:rPr lang="en-US" sz="2400" kern="1200" dirty="0">
                <a:effectLst/>
              </a:rPr>
              <a:t>After all permitted observations O, the set of observation-consistent worlds, script W of O, still contains more than one member. </a:t>
            </a:r>
          </a:p>
          <a:p>
            <a:endParaRPr lang="en-US" sz="2400" kern="1200" dirty="0">
              <a:effectLst/>
            </a:endParaRPr>
          </a:p>
          <a:p>
            <a:r>
              <a:rPr lang="en-US" sz="2400" kern="1200" dirty="0">
                <a:effectLst/>
              </a:rPr>
              <a:t>Therefore, observation does not uniquely identify the intended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The evaluation uses a structured cyber scenario.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Each world contains a target, host or network segment, privilege level, attack action, dependencies, timing, and impact.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A trial is one independent experimental run. In each trial, the attacker evaluates one intended world together with D coherent decoy worlds.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For example, one hundred trials by ten decoys means one hundred independent runs, each with eleven candidate worlds.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Trials improve statistical stability. Decoys enlarge the candidate interpretation space.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We report target-selection error, path-reconstruction error, joint attack success, decision-ranking distortion, and the rank of the intended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Across the evaluated configurations, target-selection error rises from 0.660 to 0.805, while joint target-and-path success falls from 0.160 to 0.074.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Decision-ranking distortion increases from 113.8 to 144.4. The raw average rank of the intended world increases from 5.72 to 21.65 as the candidate set grows from eleven to forty-one worlds.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Together, these results show that the intended interpretation becomes harder to select and prioritize as coherent alternatives are added.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However, the raw-rank increase must be interpreted carefully, because the candidate count also increases. Raw rank alone does not prove a non-combinatorial effect. The stronger evidence comes from the baseline, ablation, and adaptive-query comparisons at comparable candidate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The ablation and baseline comparison shows complementary roles for keyed traversal and global coherence.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Full MPE sustains forty-one coherent candidates. Removing global coherence reduces that number to 25.14, while local perturbation produces only 5.31 coherent candidates.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plausibility-optimized baseline is substantially weaker on the two most decision-relevant measures shown here. Its target-selection error is 33.7 percent, compared with 80.5 percent for full MPE, and its decision-ranking distortion is 104.5, compared with 144.4.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key point is that a method may misdirect one local choice without generating a scalable set of complete, query-consistent worlds.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Keyed traversal connects variation to the key, while global coherence keeps alternative worlds structurally valid across related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Under the evaluated querying attacker, ambiguity persists.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attacker repeatedly queries candidate worlds, compares projected responses, and updates its ranking, while authentication remains inaccessible.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MPE reaches a target-selection error of 0.810, compared with 0.352 for the plausibility baseline.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Decision-ranking distortion reaches 158.6, compared with 113.0.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These comparative effects remain significant after Holm correction, which control the family-wise error rate across multiple statistical comparisons.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structural reason is that related answers are not assembled as isolated decoys; they are projected from the same coherent world.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Additional queries can reveal more local detail without necessarily identifying which world is intended. This supports robustness against the specific querying strategy evaluated here, not against every possible adaptive adversary.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Conceptually, MPE changes the attacker's problem from recovering one hidden state to selecting among multiple coherent hypotheses.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experiments support operational world non-identifiability, persistent decision-ranking distortion, and query-consistent ambiguity under the tested conditions.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boundary is equally important. This is not yet a reduction-based cryptographic guarantee or an information-theoretic bound.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 semantic graph, cyber scenario, and adversary models are bounded, and authentication outcomes or distinguishing validation signals must remain unavailable.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Therefore, the responsible claim is an interpretation-control architecture with operational evidence, not a completed proof of a conventional encryption primitive.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In conclusion, MPE reframes post-compromise security.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When access can no longer be prevented, security can still control what an adversary can reliably infer.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It elevates ambiguity from message-level uncertainty to coherent alternative worlds.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It generates interpretations through key-conditioned, path-dependent traversal.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It enforces global coherence across related queries, and it uses ambiguity as a mechanism of epistemic control rather than mere deception. 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kern="1200" dirty="0">
                <a:effectLst/>
              </a:rPr>
              <a:t>Under the evaluated threat model, the results show degraded adversarial target selection and ranking, provided that authentication outcomes and exploitable side-channel signals remain inaccessible.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AE25-33F6-81FC-B3D0-75B6D62AA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EB9680-4526-0E41-B9B6-819399CA6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A5D14-1A7F-923A-E964-B11ACE084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effectLst/>
              </a:rPr>
              <a:t>Q1. Is MPE a replacement for conventional encryption?</a:t>
            </a:r>
          </a:p>
          <a:p>
            <a:r>
              <a:rPr lang="en-US" sz="1200" kern="1200" dirty="0">
                <a:effectLst/>
              </a:rPr>
              <a:t>No. MPE is an interpretation-control layer for post-compromise settings. Conventional encryption, access control, and authentication remain necessary.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b="1" kern="1200" dirty="0">
                <a:effectLst/>
              </a:rPr>
              <a:t>Q2. How is MPE different from honey encryption or deniable encryption?</a:t>
            </a:r>
          </a:p>
          <a:p>
            <a:r>
              <a:rPr lang="en-US" sz="1200" kern="1200" dirty="0">
                <a:effectLst/>
              </a:rPr>
              <a:t>Those approaches typically make incorrect keys yield plausible messages. MPE elevates ambiguity to coherent, </a:t>
            </a:r>
            <a:r>
              <a:rPr lang="en-US" sz="1200" kern="1200" dirty="0" err="1">
                <a:effectLst/>
              </a:rPr>
              <a:t>queryable</a:t>
            </a:r>
            <a:r>
              <a:rPr lang="en-US" sz="1200" kern="1200" dirty="0">
                <a:effectLst/>
              </a:rPr>
              <a:t> worlds generated through key-conditioned traversal and global closure.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b="1" kern="1200" dirty="0">
                <a:effectLst/>
              </a:rPr>
              <a:t>Q3. Why can’t repeated queries reveal the intended world?</a:t>
            </a:r>
          </a:p>
          <a:p>
            <a:r>
              <a:rPr lang="en-US" sz="1200" kern="1200" dirty="0">
                <a:effectLst/>
              </a:rPr>
              <a:t>All projected responses come from the same generated world, so related answers remain internally consistent. The claim depends on Auth remaining unavailable as a distinguishing oracle.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b="1" kern="1200" dirty="0">
                <a:effectLst/>
              </a:rPr>
              <a:t>Q4. Does every incorrect key generate a coherent world?</a:t>
            </a:r>
          </a:p>
          <a:p>
            <a:r>
              <a:rPr lang="en-US" sz="1200" kern="1200" dirty="0">
                <a:effectLst/>
              </a:rPr>
              <a:t>The paper claims this for incorrect but admissible keys. Candidate filtering and global closure reject invalid paths; arbitrary keys are not assumed to guarantee a usable world.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b="1" kern="1200" dirty="0">
                <a:effectLst/>
              </a:rPr>
              <a:t>Q5. What prevents the attacker from learning through Auth?</a:t>
            </a:r>
          </a:p>
          <a:p>
            <a:r>
              <a:rPr lang="en-US" sz="1200" kern="1200" dirty="0">
                <a:effectLst/>
              </a:rPr>
              <a:t>Auth uses receiver-side secret validation material and is never returned through the query projection. If Auth leaks or becomes </a:t>
            </a:r>
            <a:r>
              <a:rPr lang="en-US" sz="1200" kern="1200" dirty="0" err="1">
                <a:effectLst/>
              </a:rPr>
              <a:t>queryable</a:t>
            </a:r>
            <a:r>
              <a:rPr lang="en-US" sz="1200" kern="1200" dirty="0">
                <a:effectLst/>
              </a:rPr>
              <a:t>, world non-identifiability can collapse.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b="1" kern="1200" dirty="0">
                <a:effectLst/>
              </a:rPr>
              <a:t>Q6. Do the results provide a formal cryptographic security guarantee?</a:t>
            </a:r>
          </a:p>
          <a:p>
            <a:r>
              <a:rPr lang="en-US" sz="1200" kern="1200" dirty="0">
                <a:effectLst/>
              </a:rPr>
              <a:t>Not yet. They support operational non-identifiability and decision uncertainty under the evaluated observation model. Formal games, bounds, and reductions are future work.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b="1" kern="1200" dirty="0">
                <a:effectLst/>
              </a:rPr>
              <a:t>Q7. What is the main empirical result?</a:t>
            </a:r>
          </a:p>
          <a:p>
            <a:r>
              <a:rPr lang="en-US" sz="1200" kern="1200" dirty="0">
                <a:effectLst/>
              </a:rPr>
              <a:t>At the 1,000-trial / 40-decoy setting, TSER is 0.805, PRE is 0.926, ASR is 0.074, and the intended world’s average rank is 21.65. Under adaptive querying, MPE TSER remains 0.810.</a:t>
            </a:r>
          </a:p>
          <a:p>
            <a:endParaRPr lang="en-US" sz="1200" kern="1200" dirty="0">
              <a:effectLst/>
            </a:endParaRPr>
          </a:p>
          <a:p>
            <a:r>
              <a:rPr lang="en-US" sz="1200" b="1" kern="1200" dirty="0">
                <a:effectLst/>
              </a:rPr>
              <a:t>Q8. What is the main implementation cost?</a:t>
            </a:r>
          </a:p>
          <a:p>
            <a:r>
              <a:rPr lang="en-US" sz="1200" kern="1200" dirty="0">
                <a:effectLst/>
              </a:rPr>
              <a:t>MPE avoids enumerating a fixed plaintext for every key by using a shared graph and deterministic traversal, but it introduces graph-construction, constraint-checking, traversal, and authentication overhead that still requires scalability testing.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6F7F1-3E4A-82A5-16AB-A68149E4918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66373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This slide defines the five evaluation metrics. TSER measures target-selection error, and PRE measures path-reconstruction error. ASR is stricter because both the target and the path must be correct. Decision-ranking distortion is the score gap between the highest-ranked decoy and the intended world. Rank records how deeply the intended world is buried. Higher values are favorable for TSER, PRE, distortion, and intended-world rank; lower values are favorable for attack success. ASR should be interpreted cautiously because path reconstruction is difficult across all tested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effectLst/>
              </a:rPr>
              <a:t>This slide provides the complete scaling table and the principal significance tests. Under both the heuristic and querying attackers, the comparative target-selection and decision-ranking effects remain significant after Holm correction. For the heuristic attacker, TSER is 0.805 versus 0.337, and Delta S is 144.4 versus 104.5. For the querying attacker, TSER is 0.810 versus 0.352, and Delta S is 158.6 versus 113.0. These tests support the conclusion that the reported comparative effects are not explained by random variation within the evaluated configurations.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yzhang56@students.kennesaw.edu" TargetMode="External"/><Relationship Id="rId5" Type="http://schemas.openxmlformats.org/officeDocument/2006/relationships/image" Target="../media/image3.png"/><Relationship Id="rId4" Type="http://schemas.openxmlformats.org/officeDocument/2006/relationships/hyperlink" Target="mailto:sywu@epinova.or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24E7243-26AF-3179-B470-B57200362B1F}"/>
              </a:ext>
            </a:extLst>
          </p:cNvPr>
          <p:cNvSpPr>
            <a:spLocks noGrp="1"/>
          </p:cNvSpPr>
          <p:nvPr/>
        </p:nvSpPr>
        <p:spPr>
          <a:xfrm>
            <a:off x="-2" y="3261638"/>
            <a:ext cx="12192000" cy="35963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ver-eyebrow">
            <a:extLst>
              <a:ext uri="{FF2B5EF4-FFF2-40B4-BE49-F238E27FC236}">
                <a16:creationId xmlns:a16="http://schemas.microsoft.com/office/drawing/2014/main" id="{0DC42CDE-4A6C-4E88-8DB6-A56D238291DD}"/>
              </a:ext>
            </a:extLst>
          </p:cNvPr>
          <p:cNvSpPr>
            <a:spLocks noGrp="1"/>
          </p:cNvSpPr>
          <p:nvPr/>
        </p:nvSpPr>
        <p:spPr>
          <a:xfrm>
            <a:off x="3238498" y="6186562"/>
            <a:ext cx="5715000" cy="3439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1275" b="1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r>
              <a:rPr sz="1275" b="1" i="0" dirty="0">
                <a:solidFill>
                  <a:schemeClr val="bg2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IEEE IMNS 2026  /  SECURE AND TRUSTWORTHY AI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F2B83363-29E9-48DF-A1C0-4D7B356404CC}"/>
              </a:ext>
            </a:extLst>
          </p:cNvPr>
          <p:cNvSpPr>
            <a:spLocks noGrp="1"/>
          </p:cNvSpPr>
          <p:nvPr/>
        </p:nvSpPr>
        <p:spPr>
          <a:xfrm>
            <a:off x="809624" y="1486932"/>
            <a:ext cx="10572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5100" b="0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r>
              <a:rPr sz="4800" b="1" i="0" dirty="0">
                <a:solidFill>
                  <a:srgbClr val="F5F5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Multiverse Path Encryption</a:t>
            </a:r>
          </a:p>
        </p:txBody>
      </p:sp>
      <p:sp>
        <p:nvSpPr>
          <p:cNvPr id="4" name="deck-subtitle">
            <a:extLst>
              <a:ext uri="{FF2B5EF4-FFF2-40B4-BE49-F238E27FC236}">
                <a16:creationId xmlns:a16="http://schemas.microsoft.com/office/drawing/2014/main" id="{3D2A5A78-40D3-4932-8843-3BB27D09757B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2259C2A8-2C81-42C9-8670-9978AC6967FD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8" name="conference-slot">
            <a:extLst>
              <a:ext uri="{FF2B5EF4-FFF2-40B4-BE49-F238E27FC236}">
                <a16:creationId xmlns:a16="http://schemas.microsoft.com/office/drawing/2014/main" id="{0DE0D653-DB78-4206-A2C0-EC62A15D8755}"/>
              </a:ext>
            </a:extLst>
          </p:cNvPr>
          <p:cNvSpPr>
            <a:spLocks noGrp="1"/>
          </p:cNvSpPr>
          <p:nvPr/>
        </p:nvSpPr>
        <p:spPr>
          <a:xfrm>
            <a:off x="2857498" y="5900812"/>
            <a:ext cx="647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474" lnSpcReduction="10000"/>
          </a:bodyPr>
          <a:lstStyle/>
          <a:p>
            <a:pPr algn="ctr">
              <a:buNone/>
              <a:defRPr sz="1425" b="0" i="0">
                <a:solidFill>
                  <a:srgbClr val="91928E"/>
                </a:solidFill>
                <a:latin typeface="Arial"/>
                <a:ea typeface="Arial"/>
                <a:cs typeface="Arial"/>
              </a:defRPr>
            </a:pPr>
            <a:r>
              <a:rPr sz="1425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August </a:t>
            </a:r>
            <a:r>
              <a:rPr lang="en-US" sz="1425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0</a:t>
            </a:r>
            <a:r>
              <a:rPr sz="1425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3, 2026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4A765E-6DBC-2BB4-A9FC-D2B97FAD8DA9}"/>
              </a:ext>
            </a:extLst>
          </p:cNvPr>
          <p:cNvSpPr>
            <a:spLocks noGrp="1"/>
          </p:cNvSpPr>
          <p:nvPr/>
        </p:nvSpPr>
        <p:spPr>
          <a:xfrm>
            <a:off x="1586745" y="2385683"/>
            <a:ext cx="90185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</a:rPr>
              <a:t>Securing Interpretation under Adversarial Access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434CE3-C94D-B827-B277-AFF28643F8EE}"/>
              </a:ext>
            </a:extLst>
          </p:cNvPr>
          <p:cNvSpPr>
            <a:spLocks noGrp="1"/>
          </p:cNvSpPr>
          <p:nvPr/>
        </p:nvSpPr>
        <p:spPr>
          <a:xfrm>
            <a:off x="2476498" y="3768864"/>
            <a:ext cx="723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dirty="0">
                <a:latin typeface="Arial Black"/>
                <a:ea typeface="Arial Black"/>
                <a:cs typeface="Arial Black"/>
              </a:rPr>
              <a:t>Shaoyuan Wu</a:t>
            </a:r>
            <a:r>
              <a:rPr lang="en-US" sz="2000" dirty="0">
                <a:latin typeface="Arial Black"/>
                <a:ea typeface="Arial Black"/>
                <a:cs typeface="Arial Black"/>
              </a:rPr>
              <a:t> </a:t>
            </a:r>
            <a:r>
              <a:rPr sz="2000" dirty="0">
                <a:latin typeface="Arial Black"/>
                <a:ea typeface="Arial Black"/>
                <a:cs typeface="Arial Black"/>
              </a:rPr>
              <a:t> </a:t>
            </a:r>
            <a:r>
              <a:rPr lang="en-US" sz="2000" dirty="0">
                <a:latin typeface="Arial Black"/>
                <a:ea typeface="Arial Black"/>
                <a:cs typeface="Arial Black"/>
              </a:rPr>
              <a:t>•  </a:t>
            </a:r>
            <a:r>
              <a:rPr sz="2000" dirty="0" err="1">
                <a:latin typeface="Arial Black"/>
                <a:ea typeface="Arial Black"/>
                <a:cs typeface="Arial Black"/>
              </a:rPr>
              <a:t>Yinning</a:t>
            </a:r>
            <a:r>
              <a:rPr sz="2000" dirty="0">
                <a:latin typeface="Arial Black"/>
                <a:ea typeface="Arial Black"/>
                <a:cs typeface="Arial Black"/>
              </a:rPr>
              <a:t> Zhang</a:t>
            </a:r>
          </a:p>
          <a:p>
            <a:pPr algn="ctr">
              <a:buNone/>
            </a:pPr>
            <a:endParaRPr sz="2000" dirty="0">
              <a:latin typeface="Arial Black"/>
              <a:ea typeface="Arial Black"/>
              <a:cs typeface="Arial Black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BFFDD5-9488-EC00-4FE3-14174BE7F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8033" y="4417027"/>
            <a:ext cx="1235930" cy="125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79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0047D07-EE1E-10C2-EB9D-25DDC80BB1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20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eck-subtitle">
            <a:extLst>
              <a:ext uri="{FF2B5EF4-FFF2-40B4-BE49-F238E27FC236}">
                <a16:creationId xmlns:a16="http://schemas.microsoft.com/office/drawing/2014/main" id="{471BC6D7-05A1-CAC4-B158-F8844F2F6199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3921F10E-8C4D-CBFC-C6A0-666B51AE3B5F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pic>
        <p:nvPicPr>
          <p:cNvPr id="29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683" y="1187469"/>
            <a:ext cx="1990726" cy="199072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655E7E2-0356-FBD5-2723-C77B3442129D}"/>
              </a:ext>
            </a:extLst>
          </p:cNvPr>
          <p:cNvSpPr>
            <a:spLocks noGrp="1"/>
          </p:cNvSpPr>
          <p:nvPr/>
        </p:nvSpPr>
        <p:spPr>
          <a:xfrm>
            <a:off x="4581166" y="1119137"/>
            <a:ext cx="73673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sz="1600" b="1" dirty="0">
                <a:latin typeface="Arial Black"/>
                <a:ea typeface="Arial Black"/>
                <a:cs typeface="Arial Black"/>
              </a:rPr>
              <a:t>Shaoyuan Wu, </a:t>
            </a:r>
            <a:r>
              <a:rPr sz="1600" dirty="0">
                <a:latin typeface="Arial Black"/>
                <a:ea typeface="Arial Black"/>
                <a:cs typeface="Arial Black"/>
              </a:rPr>
              <a:t>Ph.D., M.S., LL.M., B.S.</a:t>
            </a:r>
          </a:p>
          <a:p>
            <a:pPr marL="285750" indent="-285750">
              <a:spcBef>
                <a:spcPts val="600"/>
              </a:spcBef>
              <a:buFontTx/>
              <a:buChar char="•"/>
            </a:pPr>
            <a:r>
              <a:rPr lang="en-US" sz="1400" dirty="0">
                <a:latin typeface="Arial"/>
                <a:ea typeface="Arial"/>
                <a:cs typeface="Arial"/>
              </a:rPr>
              <a:t>OMSCS Student, Georgia Institute of Technology</a:t>
            </a:r>
          </a:p>
          <a:p>
            <a:pPr marL="285750" indent="-285750">
              <a:spcBef>
                <a:spcPts val="600"/>
              </a:spcBef>
              <a:buChar char="•"/>
            </a:pPr>
            <a:r>
              <a:rPr sz="1400" dirty="0">
                <a:latin typeface="Arial"/>
                <a:ea typeface="Arial"/>
                <a:cs typeface="Arial"/>
              </a:rPr>
              <a:t>Director, Global AI Governance and Policy Research Center, EPINOVA LLC</a:t>
            </a:r>
          </a:p>
          <a:p>
            <a:pPr marL="285750" indent="-285750">
              <a:spcBef>
                <a:spcPts val="600"/>
              </a:spcBef>
              <a:buChar char="•"/>
            </a:pPr>
            <a:r>
              <a:rPr sz="1400" dirty="0">
                <a:latin typeface="Arial"/>
                <a:ea typeface="Arial"/>
                <a:cs typeface="Arial"/>
              </a:rPr>
              <a:t>Specially-invited Associate Professor, Sun Yat-sen University</a:t>
            </a:r>
          </a:p>
          <a:p>
            <a:pPr marL="285750" indent="-285750">
              <a:spcBef>
                <a:spcPts val="600"/>
              </a:spcBef>
              <a:buChar char="•"/>
            </a:pPr>
            <a:r>
              <a:rPr sz="1400" dirty="0">
                <a:latin typeface="Arial"/>
                <a:ea typeface="Arial"/>
                <a:cs typeface="Arial"/>
              </a:rPr>
              <a:t>Assistant Professor, National Institute for South China Sea Studies</a:t>
            </a:r>
          </a:p>
          <a:p>
            <a:pPr>
              <a:spcBef>
                <a:spcPts val="600"/>
              </a:spcBef>
              <a:buNone/>
            </a:pPr>
            <a:endParaRPr lang="en-US" sz="400" b="1" dirty="0">
              <a:latin typeface="Arial"/>
              <a:ea typeface="Arial"/>
              <a:cs typeface="Arial"/>
            </a:endParaRPr>
          </a:p>
          <a:p>
            <a:pPr>
              <a:spcBef>
                <a:spcPts val="600"/>
              </a:spcBef>
              <a:buNone/>
            </a:pPr>
            <a:r>
              <a:rPr lang="en-US" sz="1400" b="1" dirty="0">
                <a:latin typeface="Arial"/>
                <a:ea typeface="Arial"/>
                <a:cs typeface="Arial"/>
              </a:rPr>
              <a:t>Email: </a:t>
            </a:r>
            <a:r>
              <a:rPr sz="1400" b="1" dirty="0">
                <a:latin typeface="Arial"/>
                <a:ea typeface="Arial"/>
                <a:cs typeface="Arial"/>
                <a:hlinkClick r:id="rId4"/>
              </a:rPr>
              <a:t>sywu@epinova.org</a:t>
            </a:r>
            <a:r>
              <a:rPr lang="en-US" sz="1400" b="1" dirty="0">
                <a:latin typeface="Arial"/>
                <a:ea typeface="Arial"/>
                <a:cs typeface="Arial"/>
              </a:rPr>
              <a:t> </a:t>
            </a:r>
            <a:endParaRPr sz="1400" b="1" dirty="0">
              <a:latin typeface="Arial"/>
              <a:ea typeface="Arial"/>
              <a:cs typeface="Arial"/>
            </a:endParaRPr>
          </a:p>
          <a:p>
            <a:pPr>
              <a:spcBef>
                <a:spcPts val="600"/>
              </a:spcBef>
              <a:buNone/>
            </a:pPr>
            <a:r>
              <a:rPr sz="1400" b="1" dirty="0">
                <a:latin typeface="Arial"/>
                <a:ea typeface="Arial"/>
                <a:cs typeface="Arial"/>
              </a:rPr>
              <a:t>ORCID: 0009-0008-0660-8232</a:t>
            </a:r>
          </a:p>
        </p:txBody>
      </p:sp>
      <p:pic>
        <p:nvPicPr>
          <p:cNvPr id="31" name="图片 17"/>
          <p:cNvPicPr>
            <a:picLocks noChangeAspect="1"/>
          </p:cNvPicPr>
          <p:nvPr/>
        </p:nvPicPr>
        <p:blipFill>
          <a:blip r:embed="rId5"/>
          <a:srcRect l="7043" t="7066" r="15773"/>
          <a:stretch>
            <a:fillRect/>
          </a:stretch>
        </p:blipFill>
        <p:spPr>
          <a:xfrm>
            <a:off x="1780683" y="4193835"/>
            <a:ext cx="1990726" cy="177411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5BBAE1D-E0A8-E5C8-B385-9A2FFA4A0654}"/>
              </a:ext>
            </a:extLst>
          </p:cNvPr>
          <p:cNvSpPr>
            <a:spLocks noGrp="1"/>
          </p:cNvSpPr>
          <p:nvPr/>
        </p:nvSpPr>
        <p:spPr>
          <a:xfrm>
            <a:off x="4581166" y="4193835"/>
            <a:ext cx="5480374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sz="1600" b="1" dirty="0" err="1">
                <a:latin typeface="Arial Black"/>
                <a:ea typeface="Arial Black"/>
                <a:cs typeface="Arial Black"/>
              </a:rPr>
              <a:t>Yinning</a:t>
            </a:r>
            <a:r>
              <a:rPr sz="1600" b="1" dirty="0">
                <a:latin typeface="Arial Black"/>
                <a:ea typeface="Arial Black"/>
                <a:cs typeface="Arial Black"/>
              </a:rPr>
              <a:t> Zhang, M.Sc., M.Ed., M.E., B.S.Ed.</a:t>
            </a:r>
          </a:p>
          <a:p>
            <a:pPr marL="285750" indent="-285750">
              <a:spcBef>
                <a:spcPts val="600"/>
              </a:spcBef>
              <a:buChar char="•"/>
            </a:pPr>
            <a:r>
              <a:rPr sz="1400" dirty="0">
                <a:latin typeface="Arial"/>
                <a:ea typeface="Arial"/>
                <a:cs typeface="Arial"/>
              </a:rPr>
              <a:t>Ph.D. Student, Kennesaw State University</a:t>
            </a:r>
          </a:p>
          <a:p>
            <a:pPr marL="285750" indent="-285750">
              <a:spcBef>
                <a:spcPts val="600"/>
              </a:spcBef>
              <a:buChar char="•"/>
            </a:pPr>
            <a:r>
              <a:rPr sz="1400" dirty="0">
                <a:latin typeface="Arial"/>
                <a:ea typeface="Arial"/>
                <a:cs typeface="Arial"/>
              </a:rPr>
              <a:t>Adjunct Professor, University of West Georgia</a:t>
            </a:r>
          </a:p>
          <a:p>
            <a:pPr marL="285750" indent="-285750">
              <a:spcBef>
                <a:spcPts val="600"/>
              </a:spcBef>
              <a:buChar char="•"/>
            </a:pPr>
            <a:r>
              <a:rPr sz="1400" dirty="0">
                <a:latin typeface="Arial"/>
                <a:ea typeface="Arial"/>
                <a:cs typeface="Arial"/>
              </a:rPr>
              <a:t>Instructional Designer, </a:t>
            </a:r>
            <a:r>
              <a:rPr sz="1400" dirty="0" err="1">
                <a:latin typeface="Arial"/>
                <a:ea typeface="Arial"/>
                <a:cs typeface="Arial"/>
              </a:rPr>
              <a:t>eCampus</a:t>
            </a:r>
            <a:endParaRPr lang="en-US" sz="1400" dirty="0">
              <a:latin typeface="Arial"/>
              <a:ea typeface="Arial"/>
              <a:cs typeface="Arial"/>
            </a:endParaRPr>
          </a:p>
          <a:p>
            <a:pPr>
              <a:spcBef>
                <a:spcPts val="600"/>
              </a:spcBef>
            </a:pPr>
            <a:endParaRPr lang="en-US" sz="400" dirty="0">
              <a:latin typeface="Arial"/>
              <a:ea typeface="Arial"/>
              <a:cs typeface="Arial"/>
            </a:endParaRPr>
          </a:p>
          <a:p>
            <a:pPr>
              <a:spcBef>
                <a:spcPts val="600"/>
              </a:spcBef>
              <a:buNone/>
            </a:pPr>
            <a:r>
              <a:rPr lang="en-US" sz="1400" b="1" dirty="0">
                <a:latin typeface="Arial"/>
                <a:ea typeface="Arial"/>
                <a:cs typeface="Arial"/>
              </a:rPr>
              <a:t>Email: </a:t>
            </a:r>
            <a:r>
              <a:rPr sz="1400" b="1" dirty="0">
                <a:latin typeface="Arial"/>
                <a:ea typeface="Arial"/>
                <a:cs typeface="Arial"/>
                <a:hlinkClick r:id="rId6"/>
              </a:rPr>
              <a:t>yzhang56@students.kennesaw.edu</a:t>
            </a:r>
            <a:r>
              <a:rPr lang="en-US" sz="1400" b="1" dirty="0">
                <a:latin typeface="Arial"/>
                <a:ea typeface="Arial"/>
                <a:cs typeface="Arial"/>
              </a:rPr>
              <a:t> </a:t>
            </a:r>
            <a:endParaRPr sz="1400" b="1" dirty="0">
              <a:latin typeface="Arial"/>
              <a:ea typeface="Arial"/>
              <a:cs typeface="Arial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F38163-95BA-5223-7263-C5C78932CD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BB44DB-8479-9339-C8DC-441BDA7E90DD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519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subtitle">
            <a:extLst>
              <a:ext uri="{FF2B5EF4-FFF2-40B4-BE49-F238E27FC236}">
                <a16:creationId xmlns:a16="http://schemas.microsoft.com/office/drawing/2014/main" id="{640BE914-0201-21C4-6F3B-612F77CD3C82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116E2423-AD8B-FB7B-1821-6B5074CF63BA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7B48012-D544-7B50-BE15-6429F5CF82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70A4BA-8266-6D61-4544-C5FB34587D2C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DDF128-F855-B982-D12E-AB0C20487972}"/>
              </a:ext>
            </a:extLst>
          </p:cNvPr>
          <p:cNvSpPr>
            <a:spLocks noGrp="1"/>
          </p:cNvSpPr>
          <p:nvPr/>
        </p:nvSpPr>
        <p:spPr>
          <a:xfrm>
            <a:off x="1207676" y="1554566"/>
            <a:ext cx="298427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300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E2B0A0-D5AC-F3C0-A42D-78A91AC9E47D}"/>
              </a:ext>
            </a:extLst>
          </p:cNvPr>
          <p:cNvSpPr>
            <a:spLocks noGrp="1"/>
          </p:cNvSpPr>
          <p:nvPr/>
        </p:nvSpPr>
        <p:spPr>
          <a:xfrm>
            <a:off x="4443107" y="1647775"/>
            <a:ext cx="82619" cy="3830687"/>
          </a:xfrm>
          <a:prstGeom prst="rect">
            <a:avLst/>
          </a:prstGeom>
          <a:gradFill rotWithShape="1">
            <a:gsLst>
              <a:gs pos="0">
                <a:schemeClr val="dk1">
                  <a:tint val="67000"/>
                  <a:lumMod val="110000"/>
                  <a:satMod val="105000"/>
                </a:schemeClr>
              </a:gs>
              <a:gs pos="50000">
                <a:schemeClr val="dk1">
                  <a:tint val="73000"/>
                  <a:lumMod val="105000"/>
                  <a:satMod val="103000"/>
                </a:schemeClr>
              </a:gs>
              <a:gs pos="100000">
                <a:schemeClr val="dk1">
                  <a:tint val="81000"/>
                  <a:lumMod val="105000"/>
                  <a:satMod val="10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49BC875-E2E1-EEFD-257A-FCE55AC627DE}"/>
              </a:ext>
            </a:extLst>
          </p:cNvPr>
          <p:cNvSpPr>
            <a:spLocks noGrp="1"/>
          </p:cNvSpPr>
          <p:nvPr/>
        </p:nvSpPr>
        <p:spPr>
          <a:xfrm>
            <a:off x="5071273" y="2484144"/>
            <a:ext cx="135274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chemeClr val="bg2">
                    <a:lumMod val="25000"/>
                  </a:schemeClr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6C27C9-19E6-AB84-C2B4-85353FF6B8E1}"/>
              </a:ext>
            </a:extLst>
          </p:cNvPr>
          <p:cNvSpPr>
            <a:spLocks noGrp="1"/>
          </p:cNvSpPr>
          <p:nvPr/>
        </p:nvSpPr>
        <p:spPr>
          <a:xfrm>
            <a:off x="5933008" y="2498372"/>
            <a:ext cx="380463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600" b="1" dirty="0">
                <a:solidFill>
                  <a:schemeClr val="bg2">
                    <a:lumMod val="25000"/>
                  </a:schemeClr>
                </a:solidFill>
                <a:latin typeface="Arial Black"/>
                <a:ea typeface="Arial Black"/>
                <a:cs typeface="Arial Black"/>
              </a:rPr>
              <a:t>Research Question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18BBA6-B10A-E4DC-A1C8-9ED34A3BCE2A}"/>
              </a:ext>
            </a:extLst>
          </p:cNvPr>
          <p:cNvSpPr>
            <a:spLocks noGrp="1"/>
          </p:cNvSpPr>
          <p:nvPr/>
        </p:nvSpPr>
        <p:spPr>
          <a:xfrm>
            <a:off x="5071274" y="3351587"/>
            <a:ext cx="135274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chemeClr val="bg2">
                    <a:lumMod val="25000"/>
                  </a:schemeClr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DB3D94-98DB-DE15-EB39-BB70FAD3E002}"/>
              </a:ext>
            </a:extLst>
          </p:cNvPr>
          <p:cNvSpPr>
            <a:spLocks noGrp="1"/>
          </p:cNvSpPr>
          <p:nvPr/>
        </p:nvSpPr>
        <p:spPr>
          <a:xfrm>
            <a:off x="5933009" y="3365815"/>
            <a:ext cx="407940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20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rPr sz="2600" dirty="0">
                <a:solidFill>
                  <a:schemeClr val="bg2">
                    <a:lumMod val="25000"/>
                  </a:schemeClr>
                </a:solidFill>
                <a:latin typeface="Arial Black"/>
                <a:ea typeface="Arial Black"/>
                <a:cs typeface="Arial Black"/>
              </a:rPr>
              <a:t>System Architecture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81F652C-C505-28C0-035A-AA4DC50DEAAF}"/>
              </a:ext>
            </a:extLst>
          </p:cNvPr>
          <p:cNvSpPr>
            <a:spLocks noGrp="1"/>
          </p:cNvSpPr>
          <p:nvPr/>
        </p:nvSpPr>
        <p:spPr>
          <a:xfrm>
            <a:off x="5071274" y="4155702"/>
            <a:ext cx="135274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chemeClr val="bg2">
                    <a:lumMod val="25000"/>
                  </a:schemeClr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A623236-22FD-EC02-C8D7-8374E818CE5B}"/>
              </a:ext>
            </a:extLst>
          </p:cNvPr>
          <p:cNvSpPr>
            <a:spLocks noGrp="1"/>
          </p:cNvSpPr>
          <p:nvPr/>
        </p:nvSpPr>
        <p:spPr>
          <a:xfrm>
            <a:off x="5933009" y="4167231"/>
            <a:ext cx="451411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20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rPr sz="2600" dirty="0">
                <a:solidFill>
                  <a:schemeClr val="bg2">
                    <a:lumMod val="25000"/>
                  </a:schemeClr>
                </a:solidFill>
                <a:latin typeface="Arial Black"/>
                <a:ea typeface="Arial Black"/>
                <a:cs typeface="Arial Black"/>
              </a:rPr>
              <a:t>Experimental Evidence 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A6B1F4A-4D6B-1271-6A33-89685981FCEE}"/>
              </a:ext>
            </a:extLst>
          </p:cNvPr>
          <p:cNvSpPr>
            <a:spLocks noGrp="1"/>
          </p:cNvSpPr>
          <p:nvPr/>
        </p:nvSpPr>
        <p:spPr>
          <a:xfrm>
            <a:off x="5071272" y="5021987"/>
            <a:ext cx="15438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chemeClr val="bg2">
                    <a:lumMod val="25000"/>
                  </a:schemeClr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E26E9AB-8A43-0472-C439-36130DDE833F}"/>
              </a:ext>
            </a:extLst>
          </p:cNvPr>
          <p:cNvSpPr>
            <a:spLocks noGrp="1"/>
          </p:cNvSpPr>
          <p:nvPr/>
        </p:nvSpPr>
        <p:spPr>
          <a:xfrm>
            <a:off x="5933009" y="5040884"/>
            <a:ext cx="524028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20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rPr sz="2600" dirty="0">
                <a:solidFill>
                  <a:schemeClr val="bg2">
                    <a:lumMod val="25000"/>
                  </a:schemeClr>
                </a:solidFill>
                <a:latin typeface="Arial Black"/>
                <a:ea typeface="Arial Black"/>
                <a:cs typeface="Arial Black"/>
              </a:rPr>
              <a:t>Security Meaning &amp; Limits</a:t>
            </a:r>
          </a:p>
        </p:txBody>
      </p:sp>
    </p:spTree>
    <p:extLst>
      <p:ext uri="{BB962C8B-B14F-4D97-AF65-F5344CB8AC3E}">
        <p14:creationId xmlns:p14="http://schemas.microsoft.com/office/powerpoint/2010/main" val="305554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FB05-8F11-0668-DE27-B91C8DB27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subtitle">
            <a:extLst>
              <a:ext uri="{FF2B5EF4-FFF2-40B4-BE49-F238E27FC236}">
                <a16:creationId xmlns:a16="http://schemas.microsoft.com/office/drawing/2014/main" id="{CD55A82B-10FF-C795-2920-441B9DC1F932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B5FCAD-093F-F724-66B2-9C63167038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39FC9DC-197E-A7CB-0101-5D4AE3A667D3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7B7371-9848-76EF-AF6A-4E349689E149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1. Research Question</a:t>
            </a:r>
          </a:p>
        </p:txBody>
      </p:sp>
      <p:sp>
        <p:nvSpPr>
          <p:cNvPr id="20" name="rq-divider">
            <a:extLst>
              <a:ext uri="{FF2B5EF4-FFF2-40B4-BE49-F238E27FC236}">
                <a16:creationId xmlns:a16="http://schemas.microsoft.com/office/drawing/2014/main" id="{F46B9870-9ADF-1D15-FD22-850F84434982}"/>
              </a:ext>
            </a:extLst>
          </p:cNvPr>
          <p:cNvSpPr>
            <a:spLocks noGrp="1"/>
          </p:cNvSpPr>
          <p:nvPr/>
        </p:nvSpPr>
        <p:spPr>
          <a:xfrm>
            <a:off x="5539939" y="2092676"/>
            <a:ext cx="0" cy="3442938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</a:ln>
        </p:spPr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AFD4BF6D-9DCE-A6A2-9BEC-8EA70A8F3756}"/>
              </a:ext>
            </a:extLst>
          </p:cNvPr>
          <p:cNvSpPr>
            <a:spLocks noGrp="1"/>
          </p:cNvSpPr>
          <p:nvPr/>
        </p:nvSpPr>
        <p:spPr>
          <a:xfrm>
            <a:off x="1193030" y="2984015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146"/>
          </a:bodyPr>
          <a:lstStyle/>
          <a:p>
            <a:pPr algn="l">
              <a:buNone/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Prevent plaintext recovery</a:t>
            </a:r>
          </a:p>
        </p:txBody>
      </p:sp>
      <p:sp>
        <p:nvSpPr>
          <p:cNvPr id="28" name="post-compromise-panel">
            <a:extLst>
              <a:ext uri="{FF2B5EF4-FFF2-40B4-BE49-F238E27FC236}">
                <a16:creationId xmlns:a16="http://schemas.microsoft.com/office/drawing/2014/main" id="{0525A73F-468B-4129-D310-42367CB80F38}"/>
              </a:ext>
            </a:extLst>
          </p:cNvPr>
          <p:cNvSpPr>
            <a:spLocks noGrp="1"/>
          </p:cNvSpPr>
          <p:nvPr/>
        </p:nvSpPr>
        <p:spPr>
          <a:xfrm>
            <a:off x="6330913" y="1962132"/>
            <a:ext cx="5325736" cy="3767328"/>
          </a:xfrm>
          <a:prstGeom prst="rect">
            <a:avLst/>
          </a:prstGeom>
          <a:solidFill>
            <a:srgbClr val="E1E1DD"/>
          </a:solidFill>
          <a:ln w="0">
            <a:solidFill>
              <a:srgbClr val="E1E1DD"/>
            </a:solidFill>
            <a:prstDash val="solid"/>
          </a:ln>
        </p:spPr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EB0134AD-50D8-EF6B-F5F0-01529A44C96D}"/>
              </a:ext>
            </a:extLst>
          </p:cNvPr>
          <p:cNvSpPr>
            <a:spLocks noGrp="1"/>
          </p:cNvSpPr>
          <p:nvPr/>
        </p:nvSpPr>
        <p:spPr>
          <a:xfrm>
            <a:off x="6788546" y="2278484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406"/>
          </a:bodyPr>
          <a:lstStyle/>
          <a:p>
            <a:pPr algn="l">
              <a:buNone/>
              <a:defRPr sz="1725" b="1" i="0">
                <a:solidFill>
                  <a:srgbClr val="3F403D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286B2EBB-B7AE-0460-3FD5-6ACDF7868751}"/>
              </a:ext>
            </a:extLst>
          </p:cNvPr>
          <p:cNvSpPr>
            <a:spLocks noGrp="1"/>
          </p:cNvSpPr>
          <p:nvPr/>
        </p:nvSpPr>
        <p:spPr>
          <a:xfrm>
            <a:off x="6706137" y="3242456"/>
            <a:ext cx="452802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23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00" b="1" i="0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Outputs may already be visible</a:t>
            </a:r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7BF03116-9D56-E406-51D4-306502BB38E4}"/>
              </a:ext>
            </a:extLst>
          </p:cNvPr>
          <p:cNvSpPr>
            <a:spLocks noGrp="1"/>
          </p:cNvSpPr>
          <p:nvPr/>
        </p:nvSpPr>
        <p:spPr>
          <a:xfrm>
            <a:off x="6706137" y="4397173"/>
            <a:ext cx="4737153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>
              <a:buNone/>
              <a:defRPr sz="1650" b="0" i="0">
                <a:solidFill>
                  <a:srgbClr val="66676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7" name="flow-arrow">
            <a:extLst>
              <a:ext uri="{FF2B5EF4-FFF2-40B4-BE49-F238E27FC236}">
                <a16:creationId xmlns:a16="http://schemas.microsoft.com/office/drawing/2014/main" id="{4E3CE845-D007-DB98-8C43-FB43D6400045}"/>
              </a:ext>
            </a:extLst>
          </p:cNvPr>
          <p:cNvSpPr>
            <a:spLocks noGrp="1"/>
          </p:cNvSpPr>
          <p:nvPr/>
        </p:nvSpPr>
        <p:spPr>
          <a:xfrm>
            <a:off x="4662860" y="3404581"/>
            <a:ext cx="1692360" cy="898450"/>
          </a:xfrm>
          <a:prstGeom prst="rightArrow">
            <a:avLst/>
          </a:prstGeom>
          <a:solidFill>
            <a:srgbClr val="B8B8B3"/>
          </a:solidFill>
          <a:ln w="0">
            <a:solidFill>
              <a:srgbClr val="B8B8B3"/>
            </a:solidFill>
            <a:prstDash val="solid"/>
          </a:ln>
        </p:spPr>
        <p:txBody>
          <a:bodyPr/>
          <a:lstStyle/>
          <a:p>
            <a:pPr algn="ctr">
              <a:buNone/>
            </a:pPr>
            <a:r>
              <a:rPr sz="2000" b="1" dirty="0">
                <a:solidFill>
                  <a:srgbClr val="C00000"/>
                </a:solidFill>
              </a:rPr>
              <a:t>However</a:t>
            </a:r>
          </a:p>
        </p:txBody>
      </p:sp>
      <p:sp>
        <p:nvSpPr>
          <p:cNvPr id="39" name="文本框 11">
            <a:extLst>
              <a:ext uri="{FF2B5EF4-FFF2-40B4-BE49-F238E27FC236}">
                <a16:creationId xmlns:a16="http://schemas.microsoft.com/office/drawing/2014/main" id="{C35C144C-94CA-556A-3EA8-B565C07ADF97}"/>
              </a:ext>
            </a:extLst>
          </p:cNvPr>
          <p:cNvSpPr>
            <a:spLocks noGrp="1"/>
          </p:cNvSpPr>
          <p:nvPr/>
        </p:nvSpPr>
        <p:spPr>
          <a:xfrm>
            <a:off x="1543050" y="2278484"/>
            <a:ext cx="3715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chemeClr val="bg2">
                    <a:lumMod val="50000"/>
                  </a:schemeClr>
                </a:solidFill>
                <a:latin typeface="Arial Black"/>
                <a:ea typeface="Arial Black"/>
                <a:cs typeface="Arial Black"/>
              </a:rPr>
              <a:t>Traditional cryptography</a:t>
            </a:r>
          </a:p>
        </p:txBody>
      </p:sp>
      <p:sp>
        <p:nvSpPr>
          <p:cNvPr id="41" name="文本框 13">
            <a:extLst>
              <a:ext uri="{FF2B5EF4-FFF2-40B4-BE49-F238E27FC236}">
                <a16:creationId xmlns:a16="http://schemas.microsoft.com/office/drawing/2014/main" id="{6D4EC310-85A1-326C-D94E-CB43B9CB573D}"/>
              </a:ext>
            </a:extLst>
          </p:cNvPr>
          <p:cNvSpPr>
            <a:spLocks noGrp="1"/>
          </p:cNvSpPr>
          <p:nvPr/>
        </p:nvSpPr>
        <p:spPr>
          <a:xfrm>
            <a:off x="7229094" y="2250194"/>
            <a:ext cx="3419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chemeClr val="bg2">
                    <a:lumMod val="50000"/>
                  </a:schemeClr>
                </a:solidFill>
                <a:latin typeface="Arial Black"/>
                <a:ea typeface="Arial Black"/>
                <a:cs typeface="Arial Black"/>
              </a:rPr>
              <a:t>Post-compromise reality</a:t>
            </a:r>
          </a:p>
          <a:p>
            <a:endParaRPr b="1" dirty="0">
              <a:solidFill>
                <a:schemeClr val="bg2">
                  <a:lumMod val="50000"/>
                </a:schemeClr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43" name="文本框 15">
            <a:extLst>
              <a:ext uri="{FF2B5EF4-FFF2-40B4-BE49-F238E27FC236}">
                <a16:creationId xmlns:a16="http://schemas.microsoft.com/office/drawing/2014/main" id="{0026FD59-AF30-69C9-026A-2DBF47998ED8}"/>
              </a:ext>
            </a:extLst>
          </p:cNvPr>
          <p:cNvSpPr>
            <a:spLocks noGrp="1"/>
          </p:cNvSpPr>
          <p:nvPr/>
        </p:nvSpPr>
        <p:spPr>
          <a:xfrm>
            <a:off x="6591578" y="4247647"/>
            <a:ext cx="48368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Attackers may observe symbolic outputs, textual traces, or query responses without necessarily having a clean, authenticated plaintext.</a:t>
            </a:r>
          </a:p>
        </p:txBody>
      </p:sp>
    </p:spTree>
    <p:extLst>
      <p:ext uri="{BB962C8B-B14F-4D97-AF65-F5344CB8AC3E}">
        <p14:creationId xmlns:p14="http://schemas.microsoft.com/office/powerpoint/2010/main" val="3338392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D8108-102D-A2C2-EDFF-8A35C5814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low-arrow">
            <a:extLst>
              <a:ext uri="{FF2B5EF4-FFF2-40B4-BE49-F238E27FC236}">
                <a16:creationId xmlns:a16="http://schemas.microsoft.com/office/drawing/2014/main" id="{7D6EDF80-189A-2267-C601-0E87E59AF383}"/>
              </a:ext>
            </a:extLst>
          </p:cNvPr>
          <p:cNvSpPr>
            <a:spLocks noGrp="1"/>
          </p:cNvSpPr>
          <p:nvPr/>
        </p:nvSpPr>
        <p:spPr>
          <a:xfrm rot="5400000">
            <a:off x="5548367" y="1905077"/>
            <a:ext cx="1692360" cy="3991844"/>
          </a:xfrm>
          <a:prstGeom prst="rightArrow">
            <a:avLst/>
          </a:prstGeom>
          <a:solidFill>
            <a:srgbClr val="B8B8B3"/>
          </a:solidFill>
          <a:ln w="0">
            <a:solidFill>
              <a:srgbClr val="B8B8B3"/>
            </a:solidFill>
            <a:prstDash val="solid"/>
          </a:ln>
        </p:spPr>
        <p:txBody>
          <a:bodyPr/>
          <a:lstStyle/>
          <a:p>
            <a:pPr algn="ctr"/>
            <a:endParaRPr lang="en-US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deck-subtitle">
            <a:extLst>
              <a:ext uri="{FF2B5EF4-FFF2-40B4-BE49-F238E27FC236}">
                <a16:creationId xmlns:a16="http://schemas.microsoft.com/office/drawing/2014/main" id="{5E033BEF-4C98-B9F2-362C-556934E3B4CF}"/>
              </a:ext>
            </a:extLst>
          </p:cNvPr>
          <p:cNvSpPr>
            <a:spLocks noGrp="1"/>
          </p:cNvSpPr>
          <p:nvPr/>
        </p:nvSpPr>
        <p:spPr>
          <a:xfrm>
            <a:off x="1316087" y="3503924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ctr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MPE</a:t>
            </a:r>
            <a:endParaRPr b="1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F30ECF-F9F3-CAB9-1723-26F4C7F9E9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EA5EF4-7EE4-C1C4-E510-C96BC1BD5DCF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1E49CCA-F2BC-2F9E-0CA6-5EB3574CD652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1. Research Question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32C8D61-C8EA-E61E-886B-D25DF6C6FBBB}"/>
              </a:ext>
            </a:extLst>
          </p:cNvPr>
          <p:cNvSpPr>
            <a:spLocks noGrp="1"/>
          </p:cNvSpPr>
          <p:nvPr/>
        </p:nvSpPr>
        <p:spPr>
          <a:xfrm>
            <a:off x="6866696" y="2309744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5906"/>
          </a:bodyPr>
          <a:lstStyle/>
          <a:p>
            <a:pPr algn="l">
              <a:defRPr sz="1725" b="1" i="0">
                <a:solidFill>
                  <a:srgbClr val="3F403D"/>
                </a:solidFill>
                <a:latin typeface="Arial"/>
                <a:ea typeface="Arial"/>
                <a:cs typeface="Arial"/>
              </a:defRPr>
            </a:pPr>
            <a:endParaRPr sz="1600" b="1" i="0" dirty="0">
              <a:solidFill>
                <a:srgbClr val="3F40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639C32D-C1F3-2BCC-928B-6CDECF71ED3B}"/>
              </a:ext>
            </a:extLst>
          </p:cNvPr>
          <p:cNvSpPr txBox="1"/>
          <p:nvPr/>
        </p:nvSpPr>
        <p:spPr>
          <a:xfrm>
            <a:off x="1483971" y="1640672"/>
            <a:ext cx="100064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Can the attacker resolve the intended interpretation reliably enough to select a target, reconstruct a path, or prioritize an action?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q-band">
            <a:extLst>
              <a:ext uri="{FF2B5EF4-FFF2-40B4-BE49-F238E27FC236}">
                <a16:creationId xmlns:a16="http://schemas.microsoft.com/office/drawing/2014/main" id="{0FD56756-79C2-9D8F-385A-2C22E856E241}"/>
              </a:ext>
            </a:extLst>
          </p:cNvPr>
          <p:cNvSpPr>
            <a:spLocks noGrp="1"/>
          </p:cNvSpPr>
          <p:nvPr/>
        </p:nvSpPr>
        <p:spPr>
          <a:xfrm>
            <a:off x="1544687" y="5364854"/>
            <a:ext cx="9734550" cy="704850"/>
          </a:xfrm>
          <a:prstGeom prst="rect">
            <a:avLst/>
          </a:prstGeom>
          <a:solidFill>
            <a:srgbClr val="151515"/>
          </a:solidFill>
          <a:ln w="0">
            <a:solidFill>
              <a:srgbClr val="151515"/>
            </a:solidFill>
            <a:prstDash val="solid"/>
          </a:ln>
        </p:spPr>
        <p:txBody>
          <a:bodyPr wrap="square" lIns="133350" tIns="57150" rIns="133350" bIns="57150" anchor="ctr">
            <a:no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 ≠  RELIABLE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308936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subtitle">
            <a:extLst>
              <a:ext uri="{FF2B5EF4-FFF2-40B4-BE49-F238E27FC236}">
                <a16:creationId xmlns:a16="http://schemas.microsoft.com/office/drawing/2014/main" id="{2E8B0603-4D24-D699-E6AE-7B06A48A172F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00DC844F-FA76-6554-0747-4A6D2B585989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57915CD-380A-7033-A2EA-208608CA5D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32463F4-4D73-FA3D-2CD5-796A659E5B88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BC2B9E-79CD-31DD-7CF4-A3911D8BB2AD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2. System Architecture: </a:t>
            </a:r>
            <a:r>
              <a:rPr lang="en-US" sz="2200" dirty="0">
                <a:latin typeface="Arial Black" panose="020B0A04020102020204" pitchFamily="34" charset="0"/>
              </a:rPr>
              <a:t>Core </a:t>
            </a:r>
            <a:r>
              <a:rPr lang="en-US" sz="2200" dirty="0">
                <a:latin typeface="Arial Black"/>
                <a:ea typeface="Arial Black"/>
                <a:cs typeface="Arial Black"/>
              </a:rPr>
              <a:t>Mechanism</a:t>
            </a:r>
            <a:r>
              <a:rPr lang="en-US" sz="2200" dirty="0">
                <a:latin typeface="Arial Black" panose="020B0A04020102020204" pitchFamily="34" charset="0"/>
              </a:rPr>
              <a:t> </a:t>
            </a:r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 Black"/>
              <a:ea typeface="Arial Black"/>
              <a:cs typeface="Arial Black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ore-equation">
                <a:extLst>
                  <a:ext uri="{FF2B5EF4-FFF2-40B4-BE49-F238E27FC236}">
                    <a16:creationId xmlns:a16="http://schemas.microsoft.com/office/drawing/2014/main" id="{5CD1FEAC-F029-4AFD-99CA-2A60900123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1760" y="1411048"/>
                <a:ext cx="9906000" cy="762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algn="ctr">
                  <a:defRPr sz="3375" b="1">
                    <a:solidFill>
                      <a:srgbClr val="151515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𝑲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 →  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𝝉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ₖ  →  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𝑷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ₖ  →  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𝑾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ₖ  →  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𝑴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ₖ(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𝒒</m:t>
                      </m:r>
                      <m:r>
                        <a:rPr lang="en-US" sz="3200" b="1" i="1" dirty="0" smtClean="0">
                          <a:solidFill>
                            <a:srgbClr val="15151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25" name="core-equation">
                <a:extLst>
                  <a:ext uri="{FF2B5EF4-FFF2-40B4-BE49-F238E27FC236}">
                    <a16:creationId xmlns:a16="http://schemas.microsoft.com/office/drawing/2014/main" id="{5CD1FEAC-F029-4AFD-99CA-2A60900123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760" y="1411048"/>
                <a:ext cx="9906000" cy="76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ore-rule">
            <a:extLst>
              <a:ext uri="{FF2B5EF4-FFF2-40B4-BE49-F238E27FC236}">
                <a16:creationId xmlns:a16="http://schemas.microsoft.com/office/drawing/2014/main" id="{ABBD2B5A-A9DD-4132-9706-67B028489533}"/>
              </a:ext>
            </a:extLst>
          </p:cNvPr>
          <p:cNvSpPr>
            <a:spLocks noGrp="1"/>
          </p:cNvSpPr>
          <p:nvPr/>
        </p:nvSpPr>
        <p:spPr>
          <a:xfrm>
            <a:off x="1066799" y="2379031"/>
            <a:ext cx="10411326" cy="12651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onventional-body">
                <a:extLst>
                  <a:ext uri="{FF2B5EF4-FFF2-40B4-BE49-F238E27FC236}">
                    <a16:creationId xmlns:a16="http://schemas.microsoft.com/office/drawing/2014/main" id="{124A490E-DD79-45A6-BE30-3785450CB78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66799" y="3290866"/>
                <a:ext cx="4411851" cy="2106213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08000"/>
                  </a:lnSpc>
                  <a:buNone/>
                  <a:defRPr sz="1875">
                    <a:solidFill>
                      <a:srgbClr val="454545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45454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𝑲</m:t>
                      </m:r>
                      <m:r>
                        <a:rPr lang="en-US" sz="2400" b="1" i="1" dirty="0" smtClean="0">
                          <a:solidFill>
                            <a:srgbClr val="45454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 → </m:t>
                      </m:r>
                      <m:r>
                        <a:rPr lang="en-US" sz="2400" b="1" i="1" dirty="0" smtClean="0">
                          <a:solidFill>
                            <a:srgbClr val="454545"/>
                          </a:solidFill>
                          <a:latin typeface="Cambria Math" panose="02040503050406030204" pitchFamily="18" charset="0"/>
                          <a:ea typeface="Arial"/>
                          <a:cs typeface="Arial"/>
                        </a:rPr>
                        <m:t>𝑴</m:t>
                      </m:r>
                    </m:oMath>
                  </m:oMathPara>
                </a14:m>
              </a:p>
              <a:p>
                <a:pPr marL="342900" indent="-342900">
                  <a:lnSpc>
                    <a:spcPct val="108000"/>
                  </a:lnSpc>
                  <a:buFont typeface="Arial" panose="020B0604020202020204" pitchFamily="34" charset="0"/>
                  <a:buChar char="•"/>
                  <a:defRPr sz="1875">
                    <a:solidFill>
                      <a:srgbClr val="454545"/>
                    </a:solidFill>
                    <a:latin typeface="Arial"/>
                    <a:ea typeface="Arial"/>
                    <a:cs typeface="Arial"/>
                  </a:defRPr>
                </a:pPr>
                <a:endParaRPr lang="en-US" sz="1875" dirty="0"/>
              </a:p>
              <a:p>
                <a:pPr marL="342900" indent="-34290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875">
                    <a:solidFill>
                      <a:srgbClr val="454545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75" dirty="0">
                    <a:solidFill>
                      <a:schemeClr val="bg2">
                        <a:lumMod val="25000"/>
                      </a:schemeClr>
                    </a:solidFill>
                  </a:rPr>
                  <a:t>A correct key </a:t>
                </a:r>
                <a14:m>
                  <m:oMath xmlns:m="http://schemas.openxmlformats.org/officeDocument/2006/math">
                    <m:r>
                      <a:rPr lang="en-US" sz="1875" i="1">
                        <a:solidFill>
                          <a:schemeClr val="bg2">
                            <a:lumMod val="25000"/>
                          </a:schemeClr>
                        </a:solidFill>
                      </a:rPr>
                      <m:t>𝐾</m:t>
                    </m:r>
                    <m:r>
                      <a:rPr lang="en-US" sz="1875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75" dirty="0">
                    <a:solidFill>
                      <a:schemeClr val="bg2">
                        <a:lumMod val="25000"/>
                      </a:schemeClr>
                    </a:solidFill>
                  </a:rPr>
                  <a:t>recovers message </a:t>
                </a:r>
                <a14:m>
                  <m:oMath xmlns:m="http://schemas.openxmlformats.org/officeDocument/2006/math">
                    <m:r>
                      <a:rPr lang="en-US" sz="1875" i="1">
                        <a:solidFill>
                          <a:schemeClr val="bg2">
                            <a:lumMod val="25000"/>
                          </a:schemeClr>
                        </a:solidFill>
                      </a:rPr>
                      <m:t>𝑀</m:t>
                    </m:r>
                    <m:r>
                      <a:rPr lang="en-US" sz="1875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endParaRPr lang="en-US" sz="1875" b="0" dirty="0">
                  <a:solidFill>
                    <a:schemeClr val="bg2">
                      <a:lumMod val="25000"/>
                    </a:schemeClr>
                  </a:solidFill>
                </a:endParaRPr>
              </a:p>
              <a:p>
                <a:pPr marL="342900" indent="-34290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875">
                    <a:solidFill>
                      <a:srgbClr val="454545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1875" dirty="0">
                    <a:solidFill>
                      <a:schemeClr val="bg2">
                        <a:lumMod val="25000"/>
                      </a:schemeClr>
                    </a:solidFill>
                  </a:rPr>
                  <a:t>An incorrect key normally produces an error or unusable output.</a:t>
                </a:r>
                <a:endParaRPr lang="en-US" sz="1875" b="0" dirty="0">
                  <a:solidFill>
                    <a:schemeClr val="bg2">
                      <a:lumMod val="25000"/>
                    </a:schemeClr>
                  </a:solidFill>
                </a:endParaRPr>
              </a:p>
              <a:p>
                <a:pPr>
                  <a:lnSpc>
                    <a:spcPct val="108000"/>
                  </a:lnSpc>
                  <a:defRPr sz="1875">
                    <a:solidFill>
                      <a:srgbClr val="454545"/>
                    </a:solidFill>
                    <a:latin typeface="Arial"/>
                    <a:ea typeface="Arial"/>
                    <a:cs typeface="Arial"/>
                  </a:defRPr>
                </a:pPr>
                <a:endParaRPr sz="1875" dirty="0">
                  <a:solidFill>
                    <a:srgbClr val="454545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28" name="conventional-body">
                <a:extLst>
                  <a:ext uri="{FF2B5EF4-FFF2-40B4-BE49-F238E27FC236}">
                    <a16:creationId xmlns:a16="http://schemas.microsoft.com/office/drawing/2014/main" id="{124A490E-DD79-45A6-BE30-3785450CB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99" y="3290866"/>
                <a:ext cx="4411851" cy="2106213"/>
              </a:xfrm>
              <a:prstGeom prst="rect">
                <a:avLst/>
              </a:prstGeom>
              <a:blipFill>
                <a:blip r:embed="rId4"/>
                <a:stretch>
                  <a:fillRect l="-3039" r="-4144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mpe-body">
                <a:extLst>
                  <a:ext uri="{FF2B5EF4-FFF2-40B4-BE49-F238E27FC236}">
                    <a16:creationId xmlns:a16="http://schemas.microsoft.com/office/drawing/2014/main" id="{D1174D3F-B2E3-4944-B6B0-992F11D65E2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088249" y="3137823"/>
                <a:ext cx="5512231" cy="2656991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287338" lvl="0" indent="-287338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 key; </a:t>
                </a:r>
              </a:p>
              <a:p>
                <a:pPr marL="285750" lvl="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sz="2000" i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 a key-conditioned traversal policy; </a:t>
                </a:r>
              </a:p>
              <a:p>
                <a:pPr marL="285750" lvl="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path generated through the semantic graph; </a:t>
                </a:r>
              </a:p>
              <a:p>
                <a:pPr marL="285750" lvl="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coherent world induced by that path; </a:t>
                </a:r>
              </a:p>
              <a:p>
                <a:pPr marL="285750" lvl="0" indent="-28575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  <m:t>𝑀</m:t>
                        </m:r>
                      </m:e>
                      <m:sub>
                        <m: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bg2">
                                <a:lumMod val="25000"/>
                              </a:schemeClr>
                            </a:solidFill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the answer projected from that world in response to query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2">
                            <a:lumMod val="25000"/>
                          </a:schemeClr>
                        </a:solidFill>
                      </a:rPr>
                      <m:t>𝑞</m:t>
                    </m:r>
                  </m:oMath>
                </a14:m>
                <a:r>
                  <a:rPr lang="en-US" sz="2000" dirty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30" name="mpe-body">
                <a:extLst>
                  <a:ext uri="{FF2B5EF4-FFF2-40B4-BE49-F238E27FC236}">
                    <a16:creationId xmlns:a16="http://schemas.microsoft.com/office/drawing/2014/main" id="{D1174D3F-B2E3-4944-B6B0-992F11D65E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249" y="3137823"/>
                <a:ext cx="5512231" cy="2656991"/>
              </a:xfrm>
              <a:prstGeom prst="rect">
                <a:avLst/>
              </a:prstGeom>
              <a:blipFill>
                <a:blip r:embed="rId5"/>
                <a:stretch>
                  <a:fillRect l="-2655" t="-2752" r="-2765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ore-band">
            <a:extLst>
              <a:ext uri="{FF2B5EF4-FFF2-40B4-BE49-F238E27FC236}">
                <a16:creationId xmlns:a16="http://schemas.microsoft.com/office/drawing/2014/main" id="{64234451-F12F-42A4-A0D8-8CA3903BBE4D}"/>
              </a:ext>
            </a:extLst>
          </p:cNvPr>
          <p:cNvSpPr>
            <a:spLocks noGrp="1"/>
          </p:cNvSpPr>
          <p:nvPr/>
        </p:nvSpPr>
        <p:spPr>
          <a:xfrm>
            <a:off x="793676" y="5831550"/>
            <a:ext cx="10822168" cy="704850"/>
          </a:xfrm>
          <a:prstGeom prst="rect">
            <a:avLst/>
          </a:prstGeom>
          <a:solidFill>
            <a:srgbClr val="151515"/>
          </a:solidFill>
          <a:ln w="0">
            <a:solidFill>
              <a:srgbClr val="151515"/>
            </a:solidFill>
            <a:prstDash val="solid"/>
          </a:ln>
        </p:spPr>
        <p:txBody>
          <a:bodyPr wrap="square" lIns="133350" tIns="57150" rIns="133350" bIns="57150" anchor="ctr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/>
              <a:t>The key does not directly select or decode a stored plaintext. </a:t>
            </a:r>
          </a:p>
          <a:p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/>
              <a:t>It determines how the system moves through a structured semantic space.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D2F442-E9DB-114E-6FA1-A218280D8F09}"/>
              </a:ext>
            </a:extLst>
          </p:cNvPr>
          <p:cNvSpPr txBox="1"/>
          <p:nvPr/>
        </p:nvSpPr>
        <p:spPr>
          <a:xfrm>
            <a:off x="8509713" y="274704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MPE</a:t>
            </a:r>
          </a:p>
          <a:p>
            <a:endParaRPr 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ECF28E-A3FB-1005-067A-7E8E65CDF874}"/>
              </a:ext>
            </a:extLst>
          </p:cNvPr>
          <p:cNvSpPr txBox="1"/>
          <p:nvPr/>
        </p:nvSpPr>
        <p:spPr>
          <a:xfrm>
            <a:off x="1416956" y="2744129"/>
            <a:ext cx="3884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Conventional Encryption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509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hors">
            <a:extLst>
              <a:ext uri="{FF2B5EF4-FFF2-40B4-BE49-F238E27FC236}">
                <a16:creationId xmlns:a16="http://schemas.microsoft.com/office/drawing/2014/main" id="{042FA67F-93A0-7DB8-935B-6914AE81A0C7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306304-C5C7-A7C4-59FE-33F671FD17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927D8A-8C5F-108D-9E85-1B5E7AB0F83A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E5C717-147B-D576-DBF1-C5957E78932C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7989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2. System Architecture: </a:t>
            </a:r>
            <a:r>
              <a:rPr sz="2200" dirty="0">
                <a:latin typeface="Arial Black"/>
                <a:ea typeface="Arial Black"/>
                <a:cs typeface="Arial Black"/>
              </a:rPr>
              <a:t>One Context, Multiple Worlds</a:t>
            </a: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1766" y="1507204"/>
            <a:ext cx="4987483" cy="4474876"/>
          </a:xfrm>
          <a:prstGeom prst="rect">
            <a:avLst/>
          </a:prstGeom>
        </p:spPr>
      </p:pic>
      <p:sp>
        <p:nvSpPr>
          <p:cNvPr id="25" name="arch-divider">
            <a:extLst>
              <a:ext uri="{FF2B5EF4-FFF2-40B4-BE49-F238E27FC236}">
                <a16:creationId xmlns:a16="http://schemas.microsoft.com/office/drawing/2014/main" id="{59AE035B-5F7A-4AE2-886C-BE09DFFA63C0}"/>
              </a:ext>
            </a:extLst>
          </p:cNvPr>
          <p:cNvSpPr>
            <a:spLocks noGrp="1"/>
          </p:cNvSpPr>
          <p:nvPr/>
        </p:nvSpPr>
        <p:spPr>
          <a:xfrm>
            <a:off x="6327451" y="1337782"/>
            <a:ext cx="21955" cy="4998535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28" name="arch-1">
            <a:extLst>
              <a:ext uri="{FF2B5EF4-FFF2-40B4-BE49-F238E27FC236}">
                <a16:creationId xmlns:a16="http://schemas.microsoft.com/office/drawing/2014/main" id="{99205DD1-F154-4BDC-BFBA-D3EF678BD430}"/>
              </a:ext>
            </a:extLst>
          </p:cNvPr>
          <p:cNvSpPr>
            <a:spLocks noGrp="1"/>
          </p:cNvSpPr>
          <p:nvPr/>
        </p:nvSpPr>
        <p:spPr>
          <a:xfrm>
            <a:off x="7477867" y="2769962"/>
            <a:ext cx="3871288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endParaRPr sz="1600" b="1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arch-r1">
            <a:extLst>
              <a:ext uri="{FF2B5EF4-FFF2-40B4-BE49-F238E27FC236}">
                <a16:creationId xmlns:a16="http://schemas.microsoft.com/office/drawing/2014/main" id="{F279A7A8-1A9D-408B-99C3-A917EBA7AA14}"/>
              </a:ext>
            </a:extLst>
          </p:cNvPr>
          <p:cNvSpPr>
            <a:spLocks noGrp="1"/>
          </p:cNvSpPr>
          <p:nvPr/>
        </p:nvSpPr>
        <p:spPr>
          <a:xfrm>
            <a:off x="6906367" y="3665311"/>
            <a:ext cx="4326421" cy="1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32" name="arch-r2">
            <a:extLst>
              <a:ext uri="{FF2B5EF4-FFF2-40B4-BE49-F238E27FC236}">
                <a16:creationId xmlns:a16="http://schemas.microsoft.com/office/drawing/2014/main" id="{B3A4620B-42F0-416A-8AF4-AD7558231C8B}"/>
              </a:ext>
            </a:extLst>
          </p:cNvPr>
          <p:cNvSpPr>
            <a:spLocks noGrp="1"/>
          </p:cNvSpPr>
          <p:nvPr/>
        </p:nvSpPr>
        <p:spPr>
          <a:xfrm>
            <a:off x="6906367" y="4808312"/>
            <a:ext cx="4326421" cy="13392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34" name="arch-3">
            <a:extLst>
              <a:ext uri="{FF2B5EF4-FFF2-40B4-BE49-F238E27FC236}">
                <a16:creationId xmlns:a16="http://schemas.microsoft.com/office/drawing/2014/main" id="{986E8BA0-3EDB-4AD9-AE58-51AAE1D0EC59}"/>
              </a:ext>
            </a:extLst>
          </p:cNvPr>
          <p:cNvSpPr>
            <a:spLocks noGrp="1"/>
          </p:cNvSpPr>
          <p:nvPr/>
        </p:nvSpPr>
        <p:spPr>
          <a:xfrm>
            <a:off x="7477867" y="5017862"/>
            <a:ext cx="3871288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endParaRPr sz="1600" b="1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718064-47E9-5524-016D-B7A58178FC11}"/>
              </a:ext>
            </a:extLst>
          </p:cNvPr>
          <p:cNvSpPr txBox="1"/>
          <p:nvPr/>
        </p:nvSpPr>
        <p:spPr>
          <a:xfrm>
            <a:off x="995788" y="6182429"/>
            <a:ext cx="5457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Fig. 1. </a:t>
            </a:r>
            <a:r>
              <a:rPr lang="en-US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MPE system architecture under post-compromise access. </a:t>
            </a:r>
            <a:endParaRPr lang="en-US" sz="4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766EE1-02CC-759F-06E0-7DEFB9A63D19}"/>
              </a:ext>
            </a:extLst>
          </p:cNvPr>
          <p:cNvSpPr txBox="1"/>
          <p:nvPr/>
        </p:nvSpPr>
        <p:spPr>
          <a:xfrm>
            <a:off x="7025769" y="1923898"/>
            <a:ext cx="4304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37373"/>
                </a:solidFill>
                <a:latin typeface="Arial Black" panose="020B0A04020102020204" pitchFamily="34" charset="0"/>
                <a:ea typeface="Arial"/>
                <a:cs typeface="Arial"/>
              </a:rPr>
              <a:t>THREE DESIGN COMMITMENTS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28D281-D96A-08E0-9EF5-B6AE72CC3A47}"/>
              </a:ext>
            </a:extLst>
          </p:cNvPr>
          <p:cNvSpPr txBox="1"/>
          <p:nvPr/>
        </p:nvSpPr>
        <p:spPr>
          <a:xfrm>
            <a:off x="7359113" y="2724150"/>
            <a:ext cx="39711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key determines a traversal policy, not a plaintext.</a:t>
            </a:r>
          </a:p>
          <a:p>
            <a:endParaRPr 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E5072C-594D-4510-0F0A-8A3598908780}"/>
              </a:ext>
            </a:extLst>
          </p:cNvPr>
          <p:cNvSpPr txBox="1"/>
          <p:nvPr/>
        </p:nvSpPr>
        <p:spPr>
          <a:xfrm>
            <a:off x="7359113" y="3932012"/>
            <a:ext cx="404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shared graph and closure function enforce global coherence.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59CF3C-36C2-EE28-6A10-6BB61A7449AB}"/>
              </a:ext>
            </a:extLst>
          </p:cNvPr>
          <p:cNvSpPr txBox="1"/>
          <p:nvPr/>
        </p:nvSpPr>
        <p:spPr>
          <a:xfrm>
            <a:off x="7456177" y="5075012"/>
            <a:ext cx="42029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Only the legitimate receiver can validate the intended world.</a:t>
            </a:r>
          </a:p>
          <a:p>
            <a:endParaRPr 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E367C9-6DBC-8369-206A-E4FD5699B3E0}"/>
              </a:ext>
            </a:extLst>
          </p:cNvPr>
          <p:cNvSpPr txBox="1"/>
          <p:nvPr/>
        </p:nvSpPr>
        <p:spPr>
          <a:xfrm>
            <a:off x="6801671" y="2768845"/>
            <a:ext cx="70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1E26BB5-9D0C-F8BE-5C2C-991085CB327F}"/>
              </a:ext>
            </a:extLst>
          </p:cNvPr>
          <p:cNvSpPr txBox="1"/>
          <p:nvPr/>
        </p:nvSpPr>
        <p:spPr>
          <a:xfrm>
            <a:off x="6804669" y="3944690"/>
            <a:ext cx="703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02</a:t>
            </a:r>
          </a:p>
          <a:p>
            <a:endParaRPr lang="en-US" dirty="0">
              <a:solidFill>
                <a:schemeClr val="bg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007A96-83A5-BE48-615E-158792617630}"/>
              </a:ext>
            </a:extLst>
          </p:cNvPr>
          <p:cNvSpPr txBox="1"/>
          <p:nvPr/>
        </p:nvSpPr>
        <p:spPr>
          <a:xfrm>
            <a:off x="6868432" y="5101876"/>
            <a:ext cx="70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Black" panose="020B0A040201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99826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0ED10AF-46B5-72C6-286C-FC742F99FF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20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eck-subtitle">
            <a:extLst>
              <a:ext uri="{FF2B5EF4-FFF2-40B4-BE49-F238E27FC236}">
                <a16:creationId xmlns:a16="http://schemas.microsoft.com/office/drawing/2014/main" id="{43E4CE59-32D5-5A94-B9B8-F0F099A56736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042FA67F-93A0-7DB8-935B-6914AE81A0C7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306304-C5C7-A7C4-59FE-33F671FD17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927D8A-8C5F-108D-9E85-1B5E7AB0F83A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E5C717-147B-D576-DBF1-C5957E78932C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2.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System Architecture: </a:t>
            </a:r>
            <a:r>
              <a:rPr lang="en-US" sz="2200" dirty="0">
                <a:latin typeface="Arial Black"/>
                <a:ea typeface="Arial Black"/>
                <a:cs typeface="Arial Black"/>
              </a:rPr>
              <a:t>Threat Model &amp; Security Goal</a:t>
            </a:r>
            <a:endParaRPr sz="2200" dirty="0">
              <a:latin typeface="Arial Black"/>
              <a:ea typeface="Arial Black"/>
              <a:cs typeface="Arial Black"/>
            </a:endParaRPr>
          </a:p>
        </p:txBody>
      </p:sp>
      <p:sp>
        <p:nvSpPr>
          <p:cNvPr id="24" name="threat-left-label">
            <a:extLst>
              <a:ext uri="{FF2B5EF4-FFF2-40B4-BE49-F238E27FC236}">
                <a16:creationId xmlns:a16="http://schemas.microsoft.com/office/drawing/2014/main" id="{328A6D92-009F-41B2-8BCC-11A860BF6DB3}"/>
              </a:ext>
            </a:extLst>
          </p:cNvPr>
          <p:cNvSpPr>
            <a:spLocks noGrp="1"/>
          </p:cNvSpPr>
          <p:nvPr/>
        </p:nvSpPr>
        <p:spPr>
          <a:xfrm>
            <a:off x="1066800" y="13525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endParaRPr sz="1400" b="1" dirty="0">
              <a:solidFill>
                <a:srgbClr val="7373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hreat-left">
            <a:extLst>
              <a:ext uri="{FF2B5EF4-FFF2-40B4-BE49-F238E27FC236}">
                <a16:creationId xmlns:a16="http://schemas.microsoft.com/office/drawing/2014/main" id="{34D61B11-6CD3-4121-B27B-A04BF510783A}"/>
              </a:ext>
            </a:extLst>
          </p:cNvPr>
          <p:cNvSpPr>
            <a:spLocks noGrp="1"/>
          </p:cNvSpPr>
          <p:nvPr/>
        </p:nvSpPr>
        <p:spPr>
          <a:xfrm>
            <a:off x="1066799" y="1790700"/>
            <a:ext cx="4760185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8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25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endParaRPr sz="1725" dirty="0">
              <a:latin typeface="Arial"/>
              <a:ea typeface="Arial"/>
              <a:cs typeface="Arial"/>
            </a:endParaRPr>
          </a:p>
        </p:txBody>
      </p:sp>
      <p:sp>
        <p:nvSpPr>
          <p:cNvPr id="26" name="threat-divider">
            <a:extLst>
              <a:ext uri="{FF2B5EF4-FFF2-40B4-BE49-F238E27FC236}">
                <a16:creationId xmlns:a16="http://schemas.microsoft.com/office/drawing/2014/main" id="{DD7EABD9-7495-46CC-A1DA-93BCD63E7A06}"/>
              </a:ext>
            </a:extLst>
          </p:cNvPr>
          <p:cNvSpPr>
            <a:spLocks noGrp="1"/>
          </p:cNvSpPr>
          <p:nvPr/>
        </p:nvSpPr>
        <p:spPr>
          <a:xfrm>
            <a:off x="6582540" y="1465326"/>
            <a:ext cx="11723" cy="2540488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29" name="security-goal-label">
            <a:extLst>
              <a:ext uri="{FF2B5EF4-FFF2-40B4-BE49-F238E27FC236}">
                <a16:creationId xmlns:a16="http://schemas.microsoft.com/office/drawing/2014/main" id="{1E2DE270-356D-403E-A8A9-8C3AEEFC64C1}"/>
              </a:ext>
            </a:extLst>
          </p:cNvPr>
          <p:cNvSpPr>
            <a:spLocks noGrp="1"/>
          </p:cNvSpPr>
          <p:nvPr/>
        </p:nvSpPr>
        <p:spPr>
          <a:xfrm>
            <a:off x="1028700" y="4384919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endParaRPr sz="1600" b="1" dirty="0">
              <a:solidFill>
                <a:srgbClr val="7373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security-goal">
            <a:extLst>
              <a:ext uri="{FF2B5EF4-FFF2-40B4-BE49-F238E27FC236}">
                <a16:creationId xmlns:a16="http://schemas.microsoft.com/office/drawing/2014/main" id="{D4FDC695-6E2E-4165-AA72-68D063B9E2BA}"/>
              </a:ext>
            </a:extLst>
          </p:cNvPr>
          <p:cNvSpPr>
            <a:spLocks noGrp="1"/>
          </p:cNvSpPr>
          <p:nvPr/>
        </p:nvSpPr>
        <p:spPr>
          <a:xfrm>
            <a:off x="866274" y="4895850"/>
            <a:ext cx="10459452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endParaRPr lang="en-US" b="1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hreat-band">
            <a:extLst>
              <a:ext uri="{FF2B5EF4-FFF2-40B4-BE49-F238E27FC236}">
                <a16:creationId xmlns:a16="http://schemas.microsoft.com/office/drawing/2014/main" id="{578741E5-557E-4080-A562-36B4DFCFAEC5}"/>
              </a:ext>
            </a:extLst>
          </p:cNvPr>
          <p:cNvSpPr>
            <a:spLocks noGrp="1"/>
          </p:cNvSpPr>
          <p:nvPr/>
        </p:nvSpPr>
        <p:spPr>
          <a:xfrm>
            <a:off x="994263" y="5898267"/>
            <a:ext cx="10459452" cy="604615"/>
          </a:xfrm>
          <a:prstGeom prst="rect">
            <a:avLst/>
          </a:prstGeom>
          <a:solidFill>
            <a:srgbClr val="151515"/>
          </a:solidFill>
          <a:ln w="0">
            <a:solidFill>
              <a:srgbClr val="151515"/>
            </a:solidFill>
            <a:prstDash val="solid"/>
          </a:ln>
        </p:spPr>
        <p:txBody>
          <a:bodyPr wrap="square" lIns="133350" tIns="57150" rIns="133350" bIns="5715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Observation should not uniquely determine the intended world.</a:t>
            </a:r>
          </a:p>
        </p:txBody>
      </p:sp>
      <p:sp>
        <p:nvSpPr>
          <p:cNvPr id="5" name="threat-divider">
            <a:extLst>
              <a:ext uri="{FF2B5EF4-FFF2-40B4-BE49-F238E27FC236}">
                <a16:creationId xmlns:a16="http://schemas.microsoft.com/office/drawing/2014/main" id="{017761A6-9313-7EFC-D61E-641E0118636F}"/>
              </a:ext>
            </a:extLst>
          </p:cNvPr>
          <p:cNvSpPr>
            <a:spLocks noGrp="1"/>
          </p:cNvSpPr>
          <p:nvPr/>
        </p:nvSpPr>
        <p:spPr>
          <a:xfrm flipV="1">
            <a:off x="1028700" y="4247387"/>
            <a:ext cx="10411327" cy="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A4B5AF-2DAF-8557-13E8-592EF24BFECB}"/>
              </a:ext>
            </a:extLst>
          </p:cNvPr>
          <p:cNvSpPr txBox="1"/>
          <p:nvPr/>
        </p:nvSpPr>
        <p:spPr>
          <a:xfrm>
            <a:off x="1084180" y="1462905"/>
            <a:ext cx="4412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37373"/>
                </a:solidFill>
                <a:latin typeface="Arial Black" panose="020B0A04020102020204" pitchFamily="34" charset="0"/>
                <a:ea typeface="Arial"/>
                <a:cs typeface="Arial"/>
              </a:rPr>
              <a:t>ADVERSARY CAN</a:t>
            </a:r>
          </a:p>
          <a:p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F13C60-56E0-B12F-916D-ECA8C2F03F84}"/>
              </a:ext>
            </a:extLst>
          </p:cNvPr>
          <p:cNvSpPr txBox="1"/>
          <p:nvPr/>
        </p:nvSpPr>
        <p:spPr>
          <a:xfrm>
            <a:off x="6989943" y="1462905"/>
            <a:ext cx="3535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37373"/>
                </a:solidFill>
                <a:latin typeface="Arial Black" panose="020B0A04020102020204" pitchFamily="34" charset="0"/>
                <a:ea typeface="Arial"/>
                <a:cs typeface="Arial"/>
              </a:rPr>
              <a:t>ADVERSARY CANNOT</a:t>
            </a:r>
          </a:p>
          <a:p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7A4B4B-D783-00A0-9B4A-8ABE8EB50AC9}"/>
              </a:ext>
            </a:extLst>
          </p:cNvPr>
          <p:cNvSpPr txBox="1"/>
          <p:nvPr/>
        </p:nvSpPr>
        <p:spPr>
          <a:xfrm>
            <a:off x="1028700" y="4532426"/>
            <a:ext cx="2261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SECURITY GOAL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1076C8-94B5-9409-7E53-6BDE53C4A925}"/>
              </a:ext>
            </a:extLst>
          </p:cNvPr>
          <p:cNvSpPr txBox="1"/>
          <p:nvPr/>
        </p:nvSpPr>
        <p:spPr>
          <a:xfrm>
            <a:off x="786063" y="5098018"/>
            <a:ext cx="10740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intended world remains one of multiple observation-consistent hypotheses: |𝒲 (O)| &gt; 1.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BC850A-89EC-9928-E68E-05549A12E0D5}"/>
              </a:ext>
            </a:extLst>
          </p:cNvPr>
          <p:cNvSpPr txBox="1"/>
          <p:nvPr/>
        </p:nvSpPr>
        <p:spPr>
          <a:xfrm>
            <a:off x="1045700" y="2067089"/>
            <a:ext cx="5447420" cy="2260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Observe candidate worlds and projected outputs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Issue repeated or related queries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 structural consistency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Rank targets and reconstruct paths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56F95-2ACB-0F92-8508-D7ED14BCBF34}"/>
              </a:ext>
            </a:extLst>
          </p:cNvPr>
          <p:cNvSpPr txBox="1"/>
          <p:nvPr/>
        </p:nvSpPr>
        <p:spPr>
          <a:xfrm>
            <a:off x="6789096" y="2036010"/>
            <a:ext cx="4408293" cy="179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Access receiver-side authentication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Query Auth as an oracle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Observe a validation tag or result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826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FA62C464-82EC-507B-EE0F-AF52CFEA0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8924BA-3261-00C2-70A5-B243572AD7AA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26C920-4D70-8638-010E-5ADC88F3B893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3.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Experimental Evidence</a:t>
            </a:r>
            <a:r>
              <a:rPr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: </a:t>
            </a:r>
            <a:r>
              <a:rPr lang="en-US" sz="2200" dirty="0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Evaluation Design</a:t>
            </a:r>
            <a:endParaRPr sz="2200" dirty="0">
              <a:solidFill>
                <a:srgbClr val="000000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25" name="eval-world">
            <a:extLst>
              <a:ext uri="{FF2B5EF4-FFF2-40B4-BE49-F238E27FC236}">
                <a16:creationId xmlns:a16="http://schemas.microsoft.com/office/drawing/2014/main" id="{778B4919-E2EF-46EE-9409-50F69E9CADB6}"/>
              </a:ext>
            </a:extLst>
          </p:cNvPr>
          <p:cNvSpPr>
            <a:spLocks noGrp="1"/>
          </p:cNvSpPr>
          <p:nvPr/>
        </p:nvSpPr>
        <p:spPr>
          <a:xfrm>
            <a:off x="990599" y="1845698"/>
            <a:ext cx="2831113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725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endParaRPr sz="1725" dirty="0">
              <a:latin typeface="Arial"/>
              <a:ea typeface="Arial"/>
              <a:cs typeface="Arial"/>
            </a:endParaRPr>
          </a:p>
        </p:txBody>
      </p:sp>
      <p:sp>
        <p:nvSpPr>
          <p:cNvPr id="26" name="eval-v1">
            <a:extLst>
              <a:ext uri="{FF2B5EF4-FFF2-40B4-BE49-F238E27FC236}">
                <a16:creationId xmlns:a16="http://schemas.microsoft.com/office/drawing/2014/main" id="{C547B1A0-7283-4E2F-B99E-E200F97FD0EF}"/>
              </a:ext>
            </a:extLst>
          </p:cNvPr>
          <p:cNvSpPr>
            <a:spLocks noGrp="1"/>
          </p:cNvSpPr>
          <p:nvPr/>
        </p:nvSpPr>
        <p:spPr>
          <a:xfrm flipH="1">
            <a:off x="4434017" y="1464973"/>
            <a:ext cx="1" cy="390818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28" name="eval-attackers">
            <a:extLst>
              <a:ext uri="{FF2B5EF4-FFF2-40B4-BE49-F238E27FC236}">
                <a16:creationId xmlns:a16="http://schemas.microsoft.com/office/drawing/2014/main" id="{418280ED-A371-46EB-94FD-4C4BCEB0C21C}"/>
              </a:ext>
            </a:extLst>
          </p:cNvPr>
          <p:cNvSpPr>
            <a:spLocks noGrp="1"/>
          </p:cNvSpPr>
          <p:nvPr/>
        </p:nvSpPr>
        <p:spPr>
          <a:xfrm>
            <a:off x="4286250" y="1845698"/>
            <a:ext cx="27622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  <a:defRPr sz="180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endParaRPr dirty="0"/>
          </a:p>
        </p:txBody>
      </p:sp>
      <p:sp>
        <p:nvSpPr>
          <p:cNvPr id="29" name="eval-v2">
            <a:extLst>
              <a:ext uri="{FF2B5EF4-FFF2-40B4-BE49-F238E27FC236}">
                <a16:creationId xmlns:a16="http://schemas.microsoft.com/office/drawing/2014/main" id="{3418A8C0-7C2D-4645-9806-F54887E65ED2}"/>
              </a:ext>
            </a:extLst>
          </p:cNvPr>
          <p:cNvSpPr>
            <a:spLocks noGrp="1"/>
          </p:cNvSpPr>
          <p:nvPr/>
        </p:nvSpPr>
        <p:spPr>
          <a:xfrm flipH="1">
            <a:off x="7448845" y="1426597"/>
            <a:ext cx="1" cy="3908181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eval-baselines">
                <a:extLst>
                  <a:ext uri="{FF2B5EF4-FFF2-40B4-BE49-F238E27FC236}">
                    <a16:creationId xmlns:a16="http://schemas.microsoft.com/office/drawing/2014/main" id="{5A04F923-9DE4-43A5-A51C-A626C471079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718005" y="2096553"/>
                <a:ext cx="3945787" cy="32766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285750" indent="-285750" algn="l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725">
                    <a:solidFill>
                      <a:srgbClr val="454545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Local perturbation</a:t>
                </a:r>
              </a:p>
              <a:p>
                <a:pPr marL="285750" indent="-285750" algn="l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725">
                    <a:solidFill>
                      <a:srgbClr val="454545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dirty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rPr>
                  <a:t>Plausibility-Optimized Baseline</a:t>
                </a:r>
              </a:p>
              <a:p>
                <a:pPr marL="285750" lvl="0" indent="-28575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Target Selection Error Rate (TSER) </a:t>
                </a:r>
              </a:p>
              <a:p>
                <a:pPr marL="285750" lvl="0" indent="-28575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Path Reconstruction Error (PRE) </a:t>
                </a:r>
              </a:p>
              <a:p>
                <a:pPr marL="285750" lvl="0" indent="-28575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Attack Success Rate (ASR) </a:t>
                </a:r>
              </a:p>
              <a:p>
                <a:pPr marL="285750" lvl="0" indent="-28575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Decision Ranking Distortion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lvl="0" indent="-28575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True-World Rank</a:t>
                </a:r>
              </a:p>
            </p:txBody>
          </p:sp>
        </mc:Choice>
        <mc:Fallback>
          <p:sp>
            <p:nvSpPr>
              <p:cNvPr id="31" name="eval-baselines">
                <a:extLst>
                  <a:ext uri="{FF2B5EF4-FFF2-40B4-BE49-F238E27FC236}">
                    <a16:creationId xmlns:a16="http://schemas.microsoft.com/office/drawing/2014/main" id="{5A04F923-9DE4-43A5-A51C-A626C4710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8005" y="2096553"/>
                <a:ext cx="3945787" cy="3276600"/>
              </a:xfrm>
              <a:prstGeom prst="rect">
                <a:avLst/>
              </a:prstGeom>
              <a:blipFill>
                <a:blip r:embed="rId3"/>
                <a:stretch>
                  <a:fillRect l="-3246" t="-1676" r="-340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eval-band">
            <a:extLst>
              <a:ext uri="{FF2B5EF4-FFF2-40B4-BE49-F238E27FC236}">
                <a16:creationId xmlns:a16="http://schemas.microsoft.com/office/drawing/2014/main" id="{91C7DDF4-434E-4EE0-9E6B-A7A3864B17EB}"/>
              </a:ext>
            </a:extLst>
          </p:cNvPr>
          <p:cNvSpPr>
            <a:spLocks noGrp="1"/>
          </p:cNvSpPr>
          <p:nvPr/>
        </p:nvSpPr>
        <p:spPr>
          <a:xfrm>
            <a:off x="959286" y="5693785"/>
            <a:ext cx="10704504" cy="844641"/>
          </a:xfrm>
          <a:prstGeom prst="rect">
            <a:avLst/>
          </a:prstGeom>
          <a:solidFill>
            <a:srgbClr val="151515"/>
          </a:solidFill>
          <a:ln w="0">
            <a:solidFill>
              <a:srgbClr val="151515"/>
            </a:solidFill>
            <a:prstDash val="solid"/>
          </a:ln>
        </p:spPr>
        <p:txBody>
          <a:bodyPr wrap="square" lIns="133350" tIns="57150" rIns="133350" bIns="57150" anchor="ctr">
            <a:noAutofit/>
          </a:bodyPr>
          <a:lstStyle/>
          <a:p>
            <a:pPr algn="ctr">
              <a:spcBef>
                <a:spcPts val="600"/>
              </a:spcBef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Each Trial: 1 intended world + D coherent decoy worlds</a:t>
            </a:r>
          </a:p>
          <a:p>
            <a:pPr algn="ctr">
              <a:spcBef>
                <a:spcPts val="600"/>
              </a:spcBef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Configurations (Trials × Decoys): 100 × 10 → 300 × 20 → 1,000 × 30 → 1,000 × 40</a:t>
            </a:r>
            <a:endParaRPr sz="15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7E4D59-861A-C67E-2ED2-FB9EEFC62E80}"/>
              </a:ext>
            </a:extLst>
          </p:cNvPr>
          <p:cNvSpPr txBox="1"/>
          <p:nvPr/>
        </p:nvSpPr>
        <p:spPr>
          <a:xfrm>
            <a:off x="4695559" y="2096553"/>
            <a:ext cx="2677256" cy="1636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Heuristic ranking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Adaptive querying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Access to the Authentication Oracle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87E634-4828-3262-F1D2-8E095632CF2E}"/>
              </a:ext>
            </a:extLst>
          </p:cNvPr>
          <p:cNvSpPr txBox="1"/>
          <p:nvPr/>
        </p:nvSpPr>
        <p:spPr>
          <a:xfrm>
            <a:off x="959286" y="2144436"/>
            <a:ext cx="3168875" cy="3199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Host or Network Segment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Privilege Level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Attack Action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Timing and Impact</a:t>
            </a:r>
          </a:p>
          <a:p>
            <a:pPr marL="285750" indent="-2857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A6237B-D2A5-BBDE-5C61-BA8091B3485F}"/>
              </a:ext>
            </a:extLst>
          </p:cNvPr>
          <p:cNvSpPr txBox="1"/>
          <p:nvPr/>
        </p:nvSpPr>
        <p:spPr>
          <a:xfrm>
            <a:off x="918023" y="1520896"/>
            <a:ext cx="3202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WORLD REPRESENTATION</a:t>
            </a:r>
          </a:p>
          <a:p>
            <a:endParaRPr 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49354D-DB92-4813-F50A-5F427D16B52C}"/>
              </a:ext>
            </a:extLst>
          </p:cNvPr>
          <p:cNvSpPr txBox="1"/>
          <p:nvPr/>
        </p:nvSpPr>
        <p:spPr>
          <a:xfrm>
            <a:off x="4773636" y="1498105"/>
            <a:ext cx="2100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ATTACKERS</a:t>
            </a:r>
          </a:p>
          <a:p>
            <a:endParaRPr 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C837FA-15B5-9BB2-2ED2-DE78F8ED5885}"/>
              </a:ext>
            </a:extLst>
          </p:cNvPr>
          <p:cNvSpPr txBox="1"/>
          <p:nvPr/>
        </p:nvSpPr>
        <p:spPr>
          <a:xfrm>
            <a:off x="7629735" y="1498105"/>
            <a:ext cx="3502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BASELINES &amp; METRICS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613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subtitle">
            <a:extLst>
              <a:ext uri="{FF2B5EF4-FFF2-40B4-BE49-F238E27FC236}">
                <a16:creationId xmlns:a16="http://schemas.microsoft.com/office/drawing/2014/main" id="{725CA935-03FD-0B5E-8E2C-DC4AE6F84E78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1CA2D2BB-764B-78D2-F72E-0846327EEB7D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62C464-82EC-507B-EE0F-AF52CFEA0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8924BA-3261-00C2-70A5-B243572AD7AA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26C920-4D70-8638-010E-5ADC88F3B893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3.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Experimental Evidence: </a:t>
            </a:r>
            <a:r>
              <a:rPr lang="en-US" sz="2200" dirty="0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Scaling Results</a:t>
            </a:r>
            <a:endParaRPr sz="2200" b="1" dirty="0">
              <a:solidFill>
                <a:srgbClr val="000000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25" name="scaling-divider">
            <a:extLst>
              <a:ext uri="{FF2B5EF4-FFF2-40B4-BE49-F238E27FC236}">
                <a16:creationId xmlns:a16="http://schemas.microsoft.com/office/drawing/2014/main" id="{C79A7750-7607-4E0E-B13D-3A00B9A0EBE1}"/>
              </a:ext>
            </a:extLst>
          </p:cNvPr>
          <p:cNvSpPr>
            <a:spLocks noGrp="1"/>
          </p:cNvSpPr>
          <p:nvPr/>
        </p:nvSpPr>
        <p:spPr>
          <a:xfrm>
            <a:off x="7696200" y="1333500"/>
            <a:ext cx="0" cy="41910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26" name="tser-value">
            <a:extLst>
              <a:ext uri="{FF2B5EF4-FFF2-40B4-BE49-F238E27FC236}">
                <a16:creationId xmlns:a16="http://schemas.microsoft.com/office/drawing/2014/main" id="{283D37C9-5A2C-4F86-BE2E-8A878AACC9B7}"/>
              </a:ext>
            </a:extLst>
          </p:cNvPr>
          <p:cNvSpPr>
            <a:spLocks noGrp="1"/>
          </p:cNvSpPr>
          <p:nvPr/>
        </p:nvSpPr>
        <p:spPr>
          <a:xfrm>
            <a:off x="8153400" y="140970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0.660 → 0.805</a:t>
            </a:r>
          </a:p>
        </p:txBody>
      </p:sp>
      <p:sp>
        <p:nvSpPr>
          <p:cNvPr id="27" name="tser-label">
            <a:extLst>
              <a:ext uri="{FF2B5EF4-FFF2-40B4-BE49-F238E27FC236}">
                <a16:creationId xmlns:a16="http://schemas.microsoft.com/office/drawing/2014/main" id="{2F649EC7-B806-43A5-8177-3DEF58939A47}"/>
              </a:ext>
            </a:extLst>
          </p:cNvPr>
          <p:cNvSpPr>
            <a:spLocks noGrp="1"/>
          </p:cNvSpPr>
          <p:nvPr/>
        </p:nvSpPr>
        <p:spPr>
          <a:xfrm>
            <a:off x="8153400" y="19621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Target-selection error increases</a:t>
            </a:r>
          </a:p>
        </p:txBody>
      </p:sp>
      <p:sp>
        <p:nvSpPr>
          <p:cNvPr id="28" name="asr-value">
            <a:extLst>
              <a:ext uri="{FF2B5EF4-FFF2-40B4-BE49-F238E27FC236}">
                <a16:creationId xmlns:a16="http://schemas.microsoft.com/office/drawing/2014/main" id="{2161E986-106B-4057-986D-C82F9A9979E9}"/>
              </a:ext>
            </a:extLst>
          </p:cNvPr>
          <p:cNvSpPr>
            <a:spLocks noGrp="1"/>
          </p:cNvSpPr>
          <p:nvPr/>
        </p:nvSpPr>
        <p:spPr>
          <a:xfrm>
            <a:off x="8153400" y="24574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 dirty="0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0.160 → 0.074</a:t>
            </a:r>
          </a:p>
        </p:txBody>
      </p:sp>
      <p:sp>
        <p:nvSpPr>
          <p:cNvPr id="29" name="asr-label">
            <a:extLst>
              <a:ext uri="{FF2B5EF4-FFF2-40B4-BE49-F238E27FC236}">
                <a16:creationId xmlns:a16="http://schemas.microsoft.com/office/drawing/2014/main" id="{160F41DF-3027-4C01-BB60-DF69339C6476}"/>
              </a:ext>
            </a:extLst>
          </p:cNvPr>
          <p:cNvSpPr>
            <a:spLocks noGrp="1"/>
          </p:cNvSpPr>
          <p:nvPr/>
        </p:nvSpPr>
        <p:spPr>
          <a:xfrm>
            <a:off x="8153400" y="30099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37373"/>
                </a:solidFill>
                <a:latin typeface="Arial"/>
                <a:ea typeface="Arial"/>
                <a:cs typeface="Arial"/>
              </a:rPr>
              <a:t>Joint attack success decreases</a:t>
            </a:r>
          </a:p>
        </p:txBody>
      </p:sp>
      <p:sp>
        <p:nvSpPr>
          <p:cNvPr id="30" name="rank-value">
            <a:extLst>
              <a:ext uri="{FF2B5EF4-FFF2-40B4-BE49-F238E27FC236}">
                <a16:creationId xmlns:a16="http://schemas.microsoft.com/office/drawing/2014/main" id="{C220E886-F89C-41BC-BA9C-A07AEA4B7613}"/>
              </a:ext>
            </a:extLst>
          </p:cNvPr>
          <p:cNvSpPr>
            <a:spLocks noGrp="1"/>
          </p:cNvSpPr>
          <p:nvPr/>
        </p:nvSpPr>
        <p:spPr>
          <a:xfrm>
            <a:off x="8153400" y="350520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 dirty="0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5.72 → 21.65</a:t>
            </a:r>
          </a:p>
        </p:txBody>
      </p:sp>
      <p:sp>
        <p:nvSpPr>
          <p:cNvPr id="31" name="rank-label">
            <a:extLst>
              <a:ext uri="{FF2B5EF4-FFF2-40B4-BE49-F238E27FC236}">
                <a16:creationId xmlns:a16="http://schemas.microsoft.com/office/drawing/2014/main" id="{E566F412-C32A-4AB5-85DF-897BC499EB09}"/>
              </a:ext>
            </a:extLst>
          </p:cNvPr>
          <p:cNvSpPr>
            <a:spLocks noGrp="1"/>
          </p:cNvSpPr>
          <p:nvPr/>
        </p:nvSpPr>
        <p:spPr>
          <a:xfrm>
            <a:off x="8153400" y="405765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37373"/>
                </a:solidFill>
                <a:latin typeface="Arial"/>
                <a:ea typeface="Arial"/>
                <a:cs typeface="Arial"/>
              </a:rPr>
              <a:t>Intended world is buried deeper</a:t>
            </a:r>
          </a:p>
        </p:txBody>
      </p:sp>
      <p:sp>
        <p:nvSpPr>
          <p:cNvPr id="32" name="delta-s-value">
            <a:extLst>
              <a:ext uri="{FF2B5EF4-FFF2-40B4-BE49-F238E27FC236}">
                <a16:creationId xmlns:a16="http://schemas.microsoft.com/office/drawing/2014/main" id="{BC04A76A-1BD6-4788-B003-2E95438DDCFA}"/>
              </a:ext>
            </a:extLst>
          </p:cNvPr>
          <p:cNvSpPr>
            <a:spLocks noGrp="1"/>
          </p:cNvSpPr>
          <p:nvPr/>
        </p:nvSpPr>
        <p:spPr>
          <a:xfrm>
            <a:off x="8153400" y="45529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113.8 → 144.4</a:t>
            </a:r>
          </a:p>
        </p:txBody>
      </p:sp>
      <p:sp>
        <p:nvSpPr>
          <p:cNvPr id="33" name="delta-s-label">
            <a:extLst>
              <a:ext uri="{FF2B5EF4-FFF2-40B4-BE49-F238E27FC236}">
                <a16:creationId xmlns:a16="http://schemas.microsoft.com/office/drawing/2014/main" id="{0F4A5794-C1A2-4439-8CED-0FD2772F2C5A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Ranking distortion increases</a:t>
            </a:r>
          </a:p>
        </p:txBody>
      </p:sp>
      <p:pic>
        <p:nvPicPr>
          <p:cNvPr id="5" name="图形 24">
            <a:extLst>
              <a:ext uri="{FF2B5EF4-FFF2-40B4-BE49-F238E27FC236}">
                <a16:creationId xmlns:a16="http://schemas.microsoft.com/office/drawing/2014/main" id="{55085BDD-0E2F-2088-63D2-F65EA1B760A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8" t="2104" r="1049" b="2326"/>
          <a:stretch>
            <a:fillRect/>
          </a:stretch>
        </p:blipFill>
        <p:spPr bwMode="auto">
          <a:xfrm>
            <a:off x="923247" y="1455429"/>
            <a:ext cx="6315749" cy="4191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F7D1B65-571E-9ACC-DEBC-450EB6C74519}"/>
              </a:ext>
            </a:extLst>
          </p:cNvPr>
          <p:cNvSpPr txBox="1"/>
          <p:nvPr/>
        </p:nvSpPr>
        <p:spPr>
          <a:xfrm>
            <a:off x="786062" y="5877169"/>
            <a:ext cx="11015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performance metrics across scaling and stress-test configurations. (a) Target Selection Error Rate (TSER). (b) Joint target-and-path Attack Success Rate (ASR). (c) Decision Ranking Distortion (ΔS). (d) Average Rank of Intended World.</a:t>
            </a:r>
          </a:p>
        </p:txBody>
      </p:sp>
    </p:spTree>
    <p:extLst>
      <p:ext uri="{BB962C8B-B14F-4D97-AF65-F5344CB8AC3E}">
        <p14:creationId xmlns:p14="http://schemas.microsoft.com/office/powerpoint/2010/main" val="1842613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subtitle">
            <a:extLst>
              <a:ext uri="{FF2B5EF4-FFF2-40B4-BE49-F238E27FC236}">
                <a16:creationId xmlns:a16="http://schemas.microsoft.com/office/drawing/2014/main" id="{725CA935-03FD-0B5E-8E2C-DC4AE6F84E78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1CA2D2BB-764B-78D2-F72E-0846327EEB7D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62C464-82EC-507B-EE0F-AF52CFEA0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8924BA-3261-00C2-70A5-B243572AD7AA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26C920-4D70-8638-010E-5ADC88F3B893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3. 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Experimental Evidence: </a:t>
            </a:r>
            <a:r>
              <a:rPr lang="en-US" sz="2200" dirty="0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Ablation &amp; Baselines</a:t>
            </a:r>
            <a:endParaRPr sz="2200" dirty="0">
              <a:solidFill>
                <a:srgbClr val="000000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25" name="ablation-rule">
            <a:extLst>
              <a:ext uri="{FF2B5EF4-FFF2-40B4-BE49-F238E27FC236}">
                <a16:creationId xmlns:a16="http://schemas.microsoft.com/office/drawing/2014/main" id="{276AF4A2-837C-4343-8008-87695BD202D9}"/>
              </a:ext>
            </a:extLst>
          </p:cNvPr>
          <p:cNvSpPr>
            <a:spLocks noGrp="1"/>
          </p:cNvSpPr>
          <p:nvPr/>
        </p:nvSpPr>
        <p:spPr>
          <a:xfrm>
            <a:off x="1264138" y="5514293"/>
            <a:ext cx="10001250" cy="0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</a:ln>
        </p:spPr>
      </p:sp>
      <p:sp>
        <p:nvSpPr>
          <p:cNvPr id="26" name="full-worlds-value">
            <a:extLst>
              <a:ext uri="{FF2B5EF4-FFF2-40B4-BE49-F238E27FC236}">
                <a16:creationId xmlns:a16="http://schemas.microsoft.com/office/drawing/2014/main" id="{299960A4-A2FB-476F-9E1F-CCB9AD25A3C0}"/>
              </a:ext>
            </a:extLst>
          </p:cNvPr>
          <p:cNvSpPr>
            <a:spLocks noGrp="1"/>
          </p:cNvSpPr>
          <p:nvPr/>
        </p:nvSpPr>
        <p:spPr>
          <a:xfrm>
            <a:off x="1378438" y="5571443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 dirty="0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41</a:t>
            </a:r>
          </a:p>
        </p:txBody>
      </p:sp>
      <p:sp>
        <p:nvSpPr>
          <p:cNvPr id="27" name="full-worlds-label">
            <a:extLst>
              <a:ext uri="{FF2B5EF4-FFF2-40B4-BE49-F238E27FC236}">
                <a16:creationId xmlns:a16="http://schemas.microsoft.com/office/drawing/2014/main" id="{814A1EE9-E3DA-4377-8700-2DA69BAC97E9}"/>
              </a:ext>
            </a:extLst>
          </p:cNvPr>
          <p:cNvSpPr>
            <a:spLocks noGrp="1"/>
          </p:cNvSpPr>
          <p:nvPr/>
        </p:nvSpPr>
        <p:spPr>
          <a:xfrm>
            <a:off x="1378438" y="6123893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00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coherent worlds — full MPE</a:t>
            </a:r>
          </a:p>
        </p:txBody>
      </p:sp>
      <p:sp>
        <p:nvSpPr>
          <p:cNvPr id="28" name="no-coherence-value">
            <a:extLst>
              <a:ext uri="{FF2B5EF4-FFF2-40B4-BE49-F238E27FC236}">
                <a16:creationId xmlns:a16="http://schemas.microsoft.com/office/drawing/2014/main" id="{72DB9CFC-CC36-4C88-AF22-431AC9471E20}"/>
              </a:ext>
            </a:extLst>
          </p:cNvPr>
          <p:cNvSpPr>
            <a:spLocks noGrp="1"/>
          </p:cNvSpPr>
          <p:nvPr/>
        </p:nvSpPr>
        <p:spPr>
          <a:xfrm>
            <a:off x="4540738" y="5571443"/>
            <a:ext cx="247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25.14</a:t>
            </a:r>
          </a:p>
        </p:txBody>
      </p:sp>
      <p:sp>
        <p:nvSpPr>
          <p:cNvPr id="29" name="no-coherence-label">
            <a:extLst>
              <a:ext uri="{FF2B5EF4-FFF2-40B4-BE49-F238E27FC236}">
                <a16:creationId xmlns:a16="http://schemas.microsoft.com/office/drawing/2014/main" id="{7FFE953B-4BCE-475B-B4CA-7FA25055BBB6}"/>
              </a:ext>
            </a:extLst>
          </p:cNvPr>
          <p:cNvSpPr>
            <a:spLocks noGrp="1"/>
          </p:cNvSpPr>
          <p:nvPr/>
        </p:nvSpPr>
        <p:spPr>
          <a:xfrm>
            <a:off x="4540738" y="6123893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37373"/>
                </a:solidFill>
                <a:latin typeface="Arial"/>
                <a:ea typeface="Arial"/>
                <a:cs typeface="Arial"/>
              </a:rPr>
              <a:t>without global coherence</a:t>
            </a:r>
          </a:p>
        </p:txBody>
      </p:sp>
      <p:sp>
        <p:nvSpPr>
          <p:cNvPr id="30" name="local-worlds-value">
            <a:extLst>
              <a:ext uri="{FF2B5EF4-FFF2-40B4-BE49-F238E27FC236}">
                <a16:creationId xmlns:a16="http://schemas.microsoft.com/office/drawing/2014/main" id="{665DAF54-23AD-4355-A556-E4B70D575813}"/>
              </a:ext>
            </a:extLst>
          </p:cNvPr>
          <p:cNvSpPr>
            <a:spLocks noGrp="1"/>
          </p:cNvSpPr>
          <p:nvPr/>
        </p:nvSpPr>
        <p:spPr>
          <a:xfrm>
            <a:off x="7798288" y="5571443"/>
            <a:ext cx="285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 dirty="0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5.31</a:t>
            </a:r>
          </a:p>
        </p:txBody>
      </p:sp>
      <p:sp>
        <p:nvSpPr>
          <p:cNvPr id="31" name="local-worlds-label">
            <a:extLst>
              <a:ext uri="{FF2B5EF4-FFF2-40B4-BE49-F238E27FC236}">
                <a16:creationId xmlns:a16="http://schemas.microsoft.com/office/drawing/2014/main" id="{7E907BE1-3193-4FB5-8C2B-81A70E0ADBE4}"/>
              </a:ext>
            </a:extLst>
          </p:cNvPr>
          <p:cNvSpPr>
            <a:spLocks noGrp="1"/>
          </p:cNvSpPr>
          <p:nvPr/>
        </p:nvSpPr>
        <p:spPr>
          <a:xfrm>
            <a:off x="7798288" y="6123893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37373"/>
                </a:solidFill>
                <a:latin typeface="Arial"/>
                <a:ea typeface="Arial"/>
                <a:cs typeface="Arial"/>
              </a:rPr>
              <a:t>local perturbation baseline</a:t>
            </a:r>
          </a:p>
        </p:txBody>
      </p:sp>
      <p:sp>
        <p:nvSpPr>
          <p:cNvPr id="32" name="source-644">
            <a:extLst>
              <a:ext uri="{FF2B5EF4-FFF2-40B4-BE49-F238E27FC236}">
                <a16:creationId xmlns:a16="http://schemas.microsoft.com/office/drawing/2014/main" id="{4C48E0EE-AD4E-400E-B455-9B2360780679}"/>
              </a:ext>
            </a:extLst>
          </p:cNvPr>
          <p:cNvSpPr>
            <a:spLocks noGrp="1"/>
          </p:cNvSpPr>
          <p:nvPr/>
        </p:nvSpPr>
        <p:spPr>
          <a:xfrm>
            <a:off x="9798538" y="6428693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i="1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endParaRPr sz="900" i="1" dirty="0">
              <a:solidFill>
                <a:srgbClr val="7373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D2546E-38BF-B60B-0B7F-89C39B7DF7AC}"/>
              </a:ext>
            </a:extLst>
          </p:cNvPr>
          <p:cNvSpPr txBox="1"/>
          <p:nvPr/>
        </p:nvSpPr>
        <p:spPr>
          <a:xfrm>
            <a:off x="1460744" y="5127370"/>
            <a:ext cx="94878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3.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and baseline comparison under the high-density setting. (a) Target Selection Error Rate (TSER). (b) Decision Ranking Distortion (ΔS).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7BB2B6A5-5148-1021-80E7-7B88AC560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9723" y="1326737"/>
            <a:ext cx="8856066" cy="363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13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subtitle">
            <a:extLst>
              <a:ext uri="{FF2B5EF4-FFF2-40B4-BE49-F238E27FC236}">
                <a16:creationId xmlns:a16="http://schemas.microsoft.com/office/drawing/2014/main" id="{725CA935-03FD-0B5E-8E2C-DC4AE6F84E78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1CA2D2BB-764B-78D2-F72E-0846327EEB7D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62C464-82EC-507B-EE0F-AF52CFEA0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8924BA-3261-00C2-70A5-B243572AD7AA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26C920-4D70-8638-010E-5ADC88F3B893}"/>
              </a:ext>
            </a:extLst>
          </p:cNvPr>
          <p:cNvSpPr>
            <a:spLocks noGrp="1"/>
          </p:cNvSpPr>
          <p:nvPr/>
        </p:nvSpPr>
        <p:spPr>
          <a:xfrm>
            <a:off x="786062" y="462184"/>
            <a:ext cx="110770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3. Experimental Evidence: </a:t>
            </a:r>
            <a:r>
              <a:rPr lang="en-US" sz="2200" dirty="0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Adaptive-Query Results</a:t>
            </a:r>
            <a:endParaRPr sz="2200" dirty="0">
              <a:solidFill>
                <a:srgbClr val="000000"/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25" name="query-divider">
            <a:extLst>
              <a:ext uri="{FF2B5EF4-FFF2-40B4-BE49-F238E27FC236}">
                <a16:creationId xmlns:a16="http://schemas.microsoft.com/office/drawing/2014/main" id="{C830E72C-1564-4107-B311-45D8F4A21F5D}"/>
              </a:ext>
            </a:extLst>
          </p:cNvPr>
          <p:cNvSpPr>
            <a:spLocks noGrp="1"/>
          </p:cNvSpPr>
          <p:nvPr/>
        </p:nvSpPr>
        <p:spPr>
          <a:xfrm>
            <a:off x="8300195" y="1611458"/>
            <a:ext cx="0" cy="3286125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26" name="query-tser-value">
            <a:extLst>
              <a:ext uri="{FF2B5EF4-FFF2-40B4-BE49-F238E27FC236}">
                <a16:creationId xmlns:a16="http://schemas.microsoft.com/office/drawing/2014/main" id="{A0ECC875-E3F7-45D2-81A7-475A9A48CB22}"/>
              </a:ext>
            </a:extLst>
          </p:cNvPr>
          <p:cNvSpPr>
            <a:spLocks noGrp="1"/>
          </p:cNvSpPr>
          <p:nvPr/>
        </p:nvSpPr>
        <p:spPr>
          <a:xfrm>
            <a:off x="8436854" y="2211964"/>
            <a:ext cx="286371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0.810 vs 0.352</a:t>
            </a:r>
          </a:p>
        </p:txBody>
      </p:sp>
      <p:sp>
        <p:nvSpPr>
          <p:cNvPr id="27" name="query-tser-label">
            <a:extLst>
              <a:ext uri="{FF2B5EF4-FFF2-40B4-BE49-F238E27FC236}">
                <a16:creationId xmlns:a16="http://schemas.microsoft.com/office/drawing/2014/main" id="{FAA1E968-F5A0-471E-8AC3-ACA378BC31ED}"/>
              </a:ext>
            </a:extLst>
          </p:cNvPr>
          <p:cNvSpPr>
            <a:spLocks noGrp="1"/>
          </p:cNvSpPr>
          <p:nvPr/>
        </p:nvSpPr>
        <p:spPr>
          <a:xfrm>
            <a:off x="8436854" y="2764414"/>
            <a:ext cx="286371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37373"/>
                </a:solidFill>
                <a:latin typeface="Arial"/>
                <a:ea typeface="Arial"/>
                <a:cs typeface="Arial"/>
              </a:rPr>
              <a:t>TSER: MPE vs plausibility baseline</a:t>
            </a:r>
          </a:p>
        </p:txBody>
      </p:sp>
      <p:sp>
        <p:nvSpPr>
          <p:cNvPr id="28" name="query-ds-value">
            <a:extLst>
              <a:ext uri="{FF2B5EF4-FFF2-40B4-BE49-F238E27FC236}">
                <a16:creationId xmlns:a16="http://schemas.microsoft.com/office/drawing/2014/main" id="{1C29EC19-E5BE-493E-86F9-201AC8E13BDD}"/>
              </a:ext>
            </a:extLst>
          </p:cNvPr>
          <p:cNvSpPr>
            <a:spLocks noGrp="1"/>
          </p:cNvSpPr>
          <p:nvPr/>
        </p:nvSpPr>
        <p:spPr>
          <a:xfrm>
            <a:off x="8436854" y="3583564"/>
            <a:ext cx="286371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/>
          <a:p>
            <a:pPr algn="l">
              <a:def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850" b="1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158.6 vs 113.0</a:t>
            </a:r>
          </a:p>
        </p:txBody>
      </p:sp>
      <p:sp>
        <p:nvSpPr>
          <p:cNvPr id="29" name="query-ds-label">
            <a:extLst>
              <a:ext uri="{FF2B5EF4-FFF2-40B4-BE49-F238E27FC236}">
                <a16:creationId xmlns:a16="http://schemas.microsoft.com/office/drawing/2014/main" id="{33DC2B47-D3E2-4F00-9A90-FC7A7594BA8A}"/>
              </a:ext>
            </a:extLst>
          </p:cNvPr>
          <p:cNvSpPr>
            <a:spLocks noGrp="1"/>
          </p:cNvSpPr>
          <p:nvPr/>
        </p:nvSpPr>
        <p:spPr>
          <a:xfrm>
            <a:off x="8436854" y="4136014"/>
            <a:ext cx="286371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737373"/>
                </a:solidFill>
                <a:latin typeface="Arial"/>
                <a:ea typeface="Arial"/>
                <a:cs typeface="Arial"/>
              </a:rPr>
              <a:t>ΔS: MPE vs plausibility baseline</a:t>
            </a:r>
          </a:p>
        </p:txBody>
      </p:sp>
      <p:sp>
        <p:nvSpPr>
          <p:cNvPr id="30" name="query-band">
            <a:extLst>
              <a:ext uri="{FF2B5EF4-FFF2-40B4-BE49-F238E27FC236}">
                <a16:creationId xmlns:a16="http://schemas.microsoft.com/office/drawing/2014/main" id="{E65F9338-77DF-42C4-8FDA-E39132F46565}"/>
              </a:ext>
            </a:extLst>
          </p:cNvPr>
          <p:cNvSpPr>
            <a:spLocks noGrp="1"/>
          </p:cNvSpPr>
          <p:nvPr/>
        </p:nvSpPr>
        <p:spPr>
          <a:xfrm>
            <a:off x="941220" y="5762625"/>
            <a:ext cx="10634760" cy="628650"/>
          </a:xfrm>
          <a:prstGeom prst="rect">
            <a:avLst/>
          </a:prstGeom>
          <a:solidFill>
            <a:srgbClr val="151515"/>
          </a:solidFill>
          <a:ln w="0">
            <a:solidFill>
              <a:srgbClr val="151515"/>
            </a:solidFill>
            <a:prstDash val="solid"/>
          </a:ln>
        </p:spPr>
        <p:txBody>
          <a:bodyPr wrap="square" lIns="133350" tIns="57150" rIns="133350" bIns="5715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related answers are projected from the same coherent world.</a:t>
            </a:r>
          </a:p>
        </p:txBody>
      </p:sp>
      <p:pic>
        <p:nvPicPr>
          <p:cNvPr id="2" name="图形 5">
            <a:extLst>
              <a:ext uri="{FF2B5EF4-FFF2-40B4-BE49-F238E27FC236}">
                <a16:creationId xmlns:a16="http://schemas.microsoft.com/office/drawing/2014/main" id="{7C83F90C-8CF4-D033-1E0B-98A8585796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220" y="1567013"/>
            <a:ext cx="7022108" cy="30840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DCDB9B6-60BD-ED67-7E26-70CDFC4F328B}"/>
              </a:ext>
            </a:extLst>
          </p:cNvPr>
          <p:cNvSpPr txBox="1"/>
          <p:nvPr/>
        </p:nvSpPr>
        <p:spPr>
          <a:xfrm>
            <a:off x="941220" y="4897583"/>
            <a:ext cx="723900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4.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optimized baselines.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Target Selection Error Rate (TSER). (b) Decision Ranking Distortion (ΔS).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613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subtitle">
            <a:extLst>
              <a:ext uri="{FF2B5EF4-FFF2-40B4-BE49-F238E27FC236}">
                <a16:creationId xmlns:a16="http://schemas.microsoft.com/office/drawing/2014/main" id="{E1A579D8-AA26-636E-4727-B4B1F6C0CE56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27ABB239-E5C1-0B37-2CC2-4E1A69F23818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33EEB0-11BD-AC0F-C79D-B1D23D060C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76F8A3-EC4D-D9F5-754E-5A5E8C1A9AB6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F15752-9B9A-B95A-FD9D-2BDDFD45F7AE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4. Security Meaning &amp; Limits</a:t>
            </a:r>
          </a:p>
        </p:txBody>
      </p:sp>
      <p:sp>
        <p:nvSpPr>
          <p:cNvPr id="24" name="meaning-shift">
            <a:extLst>
              <a:ext uri="{FF2B5EF4-FFF2-40B4-BE49-F238E27FC236}">
                <a16:creationId xmlns:a16="http://schemas.microsoft.com/office/drawing/2014/main" id="{E39ED957-955C-4AE2-BD4D-5205792FF3F2}"/>
              </a:ext>
            </a:extLst>
          </p:cNvPr>
          <p:cNvSpPr>
            <a:spLocks noGrp="1"/>
          </p:cNvSpPr>
          <p:nvPr/>
        </p:nvSpPr>
        <p:spPr>
          <a:xfrm>
            <a:off x="1181100" y="1446842"/>
            <a:ext cx="9829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>
                <a:solidFill>
                  <a:srgbClr val="151515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 dirty="0">
                <a:solidFill>
                  <a:srgbClr val="151515"/>
                </a:solidFill>
                <a:latin typeface="Arial Black"/>
                <a:ea typeface="Arial Black"/>
                <a:cs typeface="Arial Black"/>
              </a:rPr>
              <a:t>STATE RECOVERY   →   HYPOTHESIS SELECTION</a:t>
            </a:r>
          </a:p>
        </p:txBody>
      </p:sp>
      <p:sp>
        <p:nvSpPr>
          <p:cNvPr id="25" name="meaning-rule">
            <a:extLst>
              <a:ext uri="{FF2B5EF4-FFF2-40B4-BE49-F238E27FC236}">
                <a16:creationId xmlns:a16="http://schemas.microsoft.com/office/drawing/2014/main" id="{0C6CD278-EA66-4EF2-8709-6F8D7F61D57F}"/>
              </a:ext>
            </a:extLst>
          </p:cNvPr>
          <p:cNvSpPr>
            <a:spLocks noGrp="1"/>
          </p:cNvSpPr>
          <p:nvPr/>
        </p:nvSpPr>
        <p:spPr>
          <a:xfrm>
            <a:off x="1236421" y="2327519"/>
            <a:ext cx="9829800" cy="0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</a:ln>
        </p:spPr>
      </p:sp>
      <p:sp>
        <p:nvSpPr>
          <p:cNvPr id="26" name="supports-label">
            <a:extLst>
              <a:ext uri="{FF2B5EF4-FFF2-40B4-BE49-F238E27FC236}">
                <a16:creationId xmlns:a16="http://schemas.microsoft.com/office/drawing/2014/main" id="{D0D37BD5-A633-4AA4-99F5-786AE277D8FD}"/>
              </a:ext>
            </a:extLst>
          </p:cNvPr>
          <p:cNvSpPr>
            <a:spLocks noGrp="1"/>
          </p:cNvSpPr>
          <p:nvPr/>
        </p:nvSpPr>
        <p:spPr>
          <a:xfrm>
            <a:off x="1236421" y="2774907"/>
            <a:ext cx="395848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WHAT THE EVIDENCE SUPPORTS</a:t>
            </a:r>
          </a:p>
        </p:txBody>
      </p:sp>
      <p:sp>
        <p:nvSpPr>
          <p:cNvPr id="27" name="supports">
            <a:extLst>
              <a:ext uri="{FF2B5EF4-FFF2-40B4-BE49-F238E27FC236}">
                <a16:creationId xmlns:a16="http://schemas.microsoft.com/office/drawing/2014/main" id="{601E8B66-19B2-445F-B3D0-3235AC934A92}"/>
              </a:ext>
            </a:extLst>
          </p:cNvPr>
          <p:cNvSpPr>
            <a:spLocks noGrp="1"/>
          </p:cNvSpPr>
          <p:nvPr/>
        </p:nvSpPr>
        <p:spPr>
          <a:xfrm>
            <a:off x="1269303" y="3336595"/>
            <a:ext cx="4746953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8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World non-identifiability under the tested observations</a:t>
            </a:r>
          </a:p>
          <a:p>
            <a:pPr marL="285758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Persistent decision-ranking distortion</a:t>
            </a:r>
          </a:p>
          <a:p>
            <a:pPr marL="285758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Query-consistent ambiguity under repeated interaction</a:t>
            </a:r>
          </a:p>
        </p:txBody>
      </p:sp>
      <p:sp>
        <p:nvSpPr>
          <p:cNvPr id="28" name="meaning-divider">
            <a:extLst>
              <a:ext uri="{FF2B5EF4-FFF2-40B4-BE49-F238E27FC236}">
                <a16:creationId xmlns:a16="http://schemas.microsoft.com/office/drawing/2014/main" id="{68A542D8-5EA9-4D36-B4DC-5AA6E531CCD1}"/>
              </a:ext>
            </a:extLst>
          </p:cNvPr>
          <p:cNvSpPr>
            <a:spLocks noGrp="1"/>
          </p:cNvSpPr>
          <p:nvPr/>
        </p:nvSpPr>
        <p:spPr>
          <a:xfrm>
            <a:off x="5924550" y="2419350"/>
            <a:ext cx="0" cy="2552700"/>
          </a:xfrm>
          <a:prstGeom prst="line">
            <a:avLst/>
          </a:prstGeom>
          <a:noFill/>
          <a:ln w="9525">
            <a:solidFill>
              <a:srgbClr val="B8B8B8"/>
            </a:solidFill>
            <a:prstDash val="solid"/>
          </a:ln>
        </p:spPr>
      </p:sp>
      <p:sp>
        <p:nvSpPr>
          <p:cNvPr id="29" name="limits-label">
            <a:extLst>
              <a:ext uri="{FF2B5EF4-FFF2-40B4-BE49-F238E27FC236}">
                <a16:creationId xmlns:a16="http://schemas.microsoft.com/office/drawing/2014/main" id="{37ABB861-D673-4913-97FB-F0D5555BAE1D}"/>
              </a:ext>
            </a:extLst>
          </p:cNvPr>
          <p:cNvSpPr>
            <a:spLocks noGrp="1"/>
          </p:cNvSpPr>
          <p:nvPr/>
        </p:nvSpPr>
        <p:spPr>
          <a:xfrm>
            <a:off x="6437984" y="2741793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30" name="limits">
            <a:extLst>
              <a:ext uri="{FF2B5EF4-FFF2-40B4-BE49-F238E27FC236}">
                <a16:creationId xmlns:a16="http://schemas.microsoft.com/office/drawing/2014/main" id="{8C296358-69DF-43A3-B8DB-90B0B286FCBB}"/>
              </a:ext>
            </a:extLst>
          </p:cNvPr>
          <p:cNvSpPr>
            <a:spLocks noGrp="1"/>
          </p:cNvSpPr>
          <p:nvPr/>
        </p:nvSpPr>
        <p:spPr>
          <a:xfrm>
            <a:off x="6512918" y="3336021"/>
            <a:ext cx="4684471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285758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No reduction-based cryptographic guarantee</a:t>
            </a:r>
          </a:p>
          <a:p>
            <a:pPr marL="285758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Bounded semantic graph and cyber scenario</a:t>
            </a:r>
          </a:p>
          <a:p>
            <a:pPr marL="285758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650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Specific heuristic and querying attackers</a:t>
            </a:r>
          </a:p>
          <a:p>
            <a:pPr marL="285758" indent="-285750" algn="l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lang="en-US" sz="1650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Authentication outcomes and distinguishing validation signals must remain inaccessible</a:t>
            </a:r>
          </a:p>
        </p:txBody>
      </p:sp>
      <p:sp>
        <p:nvSpPr>
          <p:cNvPr id="31" name="limits-band">
            <a:extLst>
              <a:ext uri="{FF2B5EF4-FFF2-40B4-BE49-F238E27FC236}">
                <a16:creationId xmlns:a16="http://schemas.microsoft.com/office/drawing/2014/main" id="{E94FE10F-1140-4485-8E70-73FE0AD6231D}"/>
              </a:ext>
            </a:extLst>
          </p:cNvPr>
          <p:cNvSpPr>
            <a:spLocks noGrp="1"/>
          </p:cNvSpPr>
          <p:nvPr/>
        </p:nvSpPr>
        <p:spPr>
          <a:xfrm>
            <a:off x="945663" y="5738140"/>
            <a:ext cx="10411317" cy="590550"/>
          </a:xfrm>
          <a:prstGeom prst="rect">
            <a:avLst/>
          </a:prstGeom>
          <a:solidFill>
            <a:srgbClr val="151515"/>
          </a:solidFill>
          <a:ln w="0">
            <a:solidFill>
              <a:srgbClr val="151515"/>
            </a:solidFill>
            <a:prstDash val="solid"/>
          </a:ln>
        </p:spPr>
        <p:txBody>
          <a:bodyPr wrap="square" lIns="133350" tIns="57150" rIns="133350" bIns="5715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operational security condition</a:t>
            </a:r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</a:t>
            </a: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yet a conventional proof.</a:t>
            </a:r>
          </a:p>
        </p:txBody>
      </p:sp>
    </p:spTree>
    <p:extLst>
      <p:ext uri="{BB962C8B-B14F-4D97-AF65-F5344CB8AC3E}">
        <p14:creationId xmlns:p14="http://schemas.microsoft.com/office/powerpoint/2010/main" val="1205926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subtitle">
            <a:extLst>
              <a:ext uri="{FF2B5EF4-FFF2-40B4-BE49-F238E27FC236}">
                <a16:creationId xmlns:a16="http://schemas.microsoft.com/office/drawing/2014/main" id="{E1A579D8-AA26-636E-4727-B4B1F6C0CE56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27ABB239-E5C1-0B37-2CC2-4E1A69F23818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33EEB0-11BD-AC0F-C79D-B1D23D060C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76F8A3-EC4D-D9F5-754E-5A5E8C1A9AB6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F15752-9B9A-B95A-FD9D-2BDDFD45F7AE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Conclusion</a:t>
            </a:r>
            <a:endParaRPr sz="2600" dirty="0">
              <a:solidFill>
                <a:schemeClr val="tx1">
                  <a:lumMod val="65000"/>
                  <a:lumOff val="35000"/>
                </a:schemeClr>
              </a:solidFill>
              <a:latin typeface="Arial Black"/>
              <a:ea typeface="Arial Black"/>
              <a:cs typeface="Arial Black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3634DE-52E9-C8CB-1454-14801393FBE9}"/>
              </a:ext>
            </a:extLst>
          </p:cNvPr>
          <p:cNvSpPr txBox="1"/>
          <p:nvPr/>
        </p:nvSpPr>
        <p:spPr>
          <a:xfrm>
            <a:off x="1459418" y="1845959"/>
            <a:ext cx="10083905" cy="374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MPE reframes post-compromise security: when access can no longer be prevented, security shifts to controlling what an adversary can reliably infer.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14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Elevates ambiguity from message-level uncertainty to coherent alternative worlds.</a:t>
            </a:r>
          </a:p>
          <a:p>
            <a:pPr marL="742950" lvl="1" indent="-285750">
              <a:lnSpc>
                <a:spcPct val="114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Generates interpretations through key-conditioned, path-dependent traversal.</a:t>
            </a:r>
          </a:p>
          <a:p>
            <a:pPr marL="742950" lvl="1" indent="-285750">
              <a:lnSpc>
                <a:spcPct val="114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Enforces global coherence across related queries.</a:t>
            </a:r>
          </a:p>
          <a:p>
            <a:pPr marL="742950" lvl="1" indent="-285750">
              <a:lnSpc>
                <a:spcPct val="114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Uses ambiguity for epistemic control rather than mere deception.</a:t>
            </a:r>
          </a:p>
          <a:p>
            <a:pPr marL="285750" indent="-285750">
              <a:lnSpc>
                <a:spcPct val="114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Evidence boundary: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 the evaluated threat model, MPE degrades adversarial inference while authentication outcomes and exploitable side-channel signals remain unavailable.</a:t>
            </a:r>
          </a:p>
        </p:txBody>
      </p:sp>
    </p:spTree>
    <p:extLst>
      <p:ext uri="{BB962C8B-B14F-4D97-AF65-F5344CB8AC3E}">
        <p14:creationId xmlns:p14="http://schemas.microsoft.com/office/powerpoint/2010/main" val="1205926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E2B2B-2086-8E16-DB5E-5709EB637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E63D3C7-5F38-649F-BACF-ECD6AF247056}"/>
              </a:ext>
            </a:extLst>
          </p:cNvPr>
          <p:cNvSpPr>
            <a:spLocks noGrp="1"/>
          </p:cNvSpPr>
          <p:nvPr/>
        </p:nvSpPr>
        <p:spPr>
          <a:xfrm>
            <a:off x="0" y="5985"/>
            <a:ext cx="12192000" cy="3169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67A3CD-EFC2-75AD-9621-F70B2E11DA5E}"/>
              </a:ext>
            </a:extLst>
          </p:cNvPr>
          <p:cNvSpPr/>
          <p:nvPr/>
        </p:nvSpPr>
        <p:spPr>
          <a:xfrm>
            <a:off x="3691590" y="3969843"/>
            <a:ext cx="480881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000" dirty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Thank you!</a:t>
            </a:r>
            <a:endParaRPr lang="zh-CN" altLang="en-US" sz="6000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C5A3BD-CB4D-2813-9D28-2E3369DBBB3B}"/>
              </a:ext>
            </a:extLst>
          </p:cNvPr>
          <p:cNvSpPr txBox="1"/>
          <p:nvPr/>
        </p:nvSpPr>
        <p:spPr>
          <a:xfrm>
            <a:off x="774191" y="1337894"/>
            <a:ext cx="1064361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Arial"/>
                <a:cs typeface="Arial"/>
              </a:rPr>
              <a:t>MPE: </a:t>
            </a:r>
          </a:p>
          <a:p>
            <a:pPr algn="ctr">
              <a:spcBef>
                <a:spcPts val="1200"/>
              </a:spcBef>
            </a:pPr>
            <a:r>
              <a:rPr lang="en-US" altLang="zh-CN" sz="2400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Arial"/>
                <a:cs typeface="Arial"/>
              </a:rPr>
              <a:t>C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Arial Black" panose="020B0A04020102020204" pitchFamily="34" charset="0"/>
                <a:ea typeface="Arial"/>
                <a:cs typeface="Arial"/>
              </a:rPr>
              <a:t>ontrolling what post-compromise access can reliably reveal.</a:t>
            </a:r>
          </a:p>
          <a:p>
            <a:pPr algn="ctr"/>
            <a:endParaRPr lang="en-US" sz="2400" dirty="0">
              <a:solidFill>
                <a:schemeClr val="bg2">
                  <a:lumMod val="2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5DD988D-D329-E1C7-F74A-82788ABBE3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548" y="5649097"/>
            <a:ext cx="1208903" cy="120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934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9C7B7A2-4884-1029-94E1-7C54F70C5A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20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eck-subtitle">
            <a:extLst>
              <a:ext uri="{FF2B5EF4-FFF2-40B4-BE49-F238E27FC236}">
                <a16:creationId xmlns:a16="http://schemas.microsoft.com/office/drawing/2014/main" id="{725CA935-03FD-0B5E-8E2C-DC4AE6F84E78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1CA2D2BB-764B-78D2-F72E-0846327EEB7D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62C464-82EC-507B-EE0F-AF52CFEA0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8924BA-3261-00C2-70A5-B243572AD7AA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26C920-4D70-8638-010E-5ADC88F3B893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Appendix</a:t>
            </a:r>
            <a:r>
              <a:rPr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 A. Metric Definitions</a:t>
            </a:r>
          </a:p>
        </p:txBody>
      </p:sp>
      <p:graphicFrame>
        <p:nvGraphicFramePr>
          <p:cNvPr id="34" name="表格 33"/>
          <p:cNvGraphicFramePr/>
          <p:nvPr>
            <p:extLst>
              <p:ext uri="{D42A27DB-BD31-4B8C-83A1-F6EECF244321}">
                <p14:modId xmlns:p14="http://schemas.microsoft.com/office/powerpoint/2010/main" val="1009772774"/>
              </p:ext>
            </p:extLst>
          </p:nvPr>
        </p:nvGraphicFramePr>
        <p:xfrm>
          <a:off x="1768918" y="1697892"/>
          <a:ext cx="8860204" cy="3386016"/>
        </p:xfrm>
        <a:graphic>
          <a:graphicData uri="http://schemas.openxmlformats.org/drawingml/2006/table">
            <a:tbl>
              <a:tblPr/>
              <a:tblGrid>
                <a:gridCol w="1240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2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7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4336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direction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4336"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2880" algn="l"/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</a:t>
                      </a:r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[attacker selects the wrong target]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336"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2880" algn="l"/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</a:t>
                      </a:r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[attacker reconstructs the wrong path]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336"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2880" algn="l"/>
                      <a:r>
                        <a:rPr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</a:t>
                      </a:r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[target and path are both correct]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336"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2880" algn="l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Highest decoy score minus intended-world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336"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2880" algn="l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rank position of the intended world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metrics-note">
            <a:extLst>
              <a:ext uri="{FF2B5EF4-FFF2-40B4-BE49-F238E27FC236}">
                <a16:creationId xmlns:a16="http://schemas.microsoft.com/office/drawing/2014/main" id="{B583408C-C1C4-4C25-A8A5-C029250C13A9}"/>
              </a:ext>
            </a:extLst>
          </p:cNvPr>
          <p:cNvSpPr>
            <a:spLocks noGrp="1"/>
          </p:cNvSpPr>
          <p:nvPr/>
        </p:nvSpPr>
        <p:spPr>
          <a:xfrm>
            <a:off x="1329489" y="5701812"/>
            <a:ext cx="9867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737373"/>
                </a:solidFill>
                <a:latin typeface="Arial"/>
                <a:ea typeface="Arial"/>
                <a:cs typeface="Arial"/>
              </a:rPr>
              <a:t>Target Accuracy = 1 − TSER.  ASR should be interpreted cautiously because path reconstruction is difficult across all tested methods.</a:t>
            </a:r>
          </a:p>
        </p:txBody>
      </p:sp>
    </p:spTree>
    <p:extLst>
      <p:ext uri="{BB962C8B-B14F-4D97-AF65-F5344CB8AC3E}">
        <p14:creationId xmlns:p14="http://schemas.microsoft.com/office/powerpoint/2010/main" val="1842613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ck-subtitle">
            <a:extLst>
              <a:ext uri="{FF2B5EF4-FFF2-40B4-BE49-F238E27FC236}">
                <a16:creationId xmlns:a16="http://schemas.microsoft.com/office/drawing/2014/main" id="{725CA935-03FD-0B5E-8E2C-DC4AE6F84E78}"/>
              </a:ext>
            </a:extLst>
          </p:cNvPr>
          <p:cNvSpPr>
            <a:spLocks noGrp="1"/>
          </p:cNvSpPr>
          <p:nvPr/>
        </p:nvSpPr>
        <p:spPr>
          <a:xfrm>
            <a:off x="457200" y="2724150"/>
            <a:ext cx="1019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0" i="0">
                <a:solidFill>
                  <a:srgbClr val="B9BAB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1CA2D2BB-764B-78D2-F72E-0846327EEB7D}"/>
              </a:ext>
            </a:extLst>
          </p:cNvPr>
          <p:cNvSpPr>
            <a:spLocks noGrp="1"/>
          </p:cNvSpPr>
          <p:nvPr/>
        </p:nvSpPr>
        <p:spPr>
          <a:xfrm>
            <a:off x="457200" y="4286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950" b="1" i="0">
                <a:solidFill>
                  <a:srgbClr val="F5F5F2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62C464-82EC-507B-EE0F-AF52CFEA0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6041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8924BA-3261-00C2-70A5-B243572AD7AA}"/>
              </a:ext>
            </a:extLst>
          </p:cNvPr>
          <p:cNvSpPr>
            <a:spLocks noGrp="1"/>
          </p:cNvSpPr>
          <p:nvPr/>
        </p:nvSpPr>
        <p:spPr>
          <a:xfrm>
            <a:off x="328863" y="5986"/>
            <a:ext cx="128337" cy="685800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26C920-4D70-8638-010E-5ADC88F3B893}"/>
              </a:ext>
            </a:extLst>
          </p:cNvPr>
          <p:cNvSpPr>
            <a:spLocks noGrp="1"/>
          </p:cNvSpPr>
          <p:nvPr/>
        </p:nvSpPr>
        <p:spPr>
          <a:xfrm>
            <a:off x="786063" y="462184"/>
            <a:ext cx="104113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Appendix</a:t>
            </a:r>
            <a:r>
              <a:rPr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/>
                <a:ea typeface="Arial Black"/>
                <a:cs typeface="Arial Black"/>
              </a:rPr>
              <a:t> B. Full Scaling and Statistical Results</a:t>
            </a:r>
          </a:p>
        </p:txBody>
      </p:sp>
      <p:graphicFrame>
        <p:nvGraphicFramePr>
          <p:cNvPr id="39" name="表格 38"/>
          <p:cNvGraphicFramePr/>
          <p:nvPr>
            <p:extLst>
              <p:ext uri="{D42A27DB-BD31-4B8C-83A1-F6EECF244321}">
                <p14:modId xmlns:p14="http://schemas.microsoft.com/office/powerpoint/2010/main" val="734290779"/>
              </p:ext>
            </p:extLst>
          </p:nvPr>
        </p:nvGraphicFramePr>
        <p:xfrm>
          <a:off x="1035295" y="1727564"/>
          <a:ext cx="10121410" cy="1910985"/>
        </p:xfrm>
        <a:graphic>
          <a:graphicData uri="http://schemas.openxmlformats.org/drawingml/2006/table">
            <a:tbl>
              <a:tblPr/>
              <a:tblGrid>
                <a:gridCol w="1550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3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4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77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81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2197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 acc.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ΔS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Avg. rank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197"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197"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 /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197"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 /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197"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 /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stats-rule">
            <a:extLst>
              <a:ext uri="{FF2B5EF4-FFF2-40B4-BE49-F238E27FC236}">
                <a16:creationId xmlns:a16="http://schemas.microsoft.com/office/drawing/2014/main" id="{7A643074-9267-4ECC-A9ED-F72D53B4F388}"/>
              </a:ext>
            </a:extLst>
          </p:cNvPr>
          <p:cNvSpPr>
            <a:spLocks noGrp="1"/>
          </p:cNvSpPr>
          <p:nvPr/>
        </p:nvSpPr>
        <p:spPr>
          <a:xfrm>
            <a:off x="838200" y="4085004"/>
            <a:ext cx="10572750" cy="0"/>
          </a:xfrm>
          <a:prstGeom prst="line">
            <a:avLst/>
          </a:prstGeom>
          <a:noFill/>
          <a:ln w="19050">
            <a:solidFill>
              <a:srgbClr val="151515"/>
            </a:solidFill>
            <a:prstDash val="solid"/>
          </a:ln>
        </p:spPr>
      </p:sp>
      <p:sp>
        <p:nvSpPr>
          <p:cNvPr id="27" name="stats-h">
            <a:extLst>
              <a:ext uri="{FF2B5EF4-FFF2-40B4-BE49-F238E27FC236}">
                <a16:creationId xmlns:a16="http://schemas.microsoft.com/office/drawing/2014/main" id="{44CB5BB8-795E-4B9F-81E8-2AB8D4A3CA6F}"/>
              </a:ext>
            </a:extLst>
          </p:cNvPr>
          <p:cNvSpPr>
            <a:spLocks noGrp="1"/>
          </p:cNvSpPr>
          <p:nvPr/>
        </p:nvSpPr>
        <p:spPr>
          <a:xfrm>
            <a:off x="857250" y="4508006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37373"/>
                </a:solidFill>
                <a:latin typeface="Arial"/>
                <a:ea typeface="Arial"/>
                <a:cs typeface="Arial"/>
              </a:rPr>
              <a:t>HEURISTIC ATTACKER</a:t>
            </a:r>
          </a:p>
        </p:txBody>
      </p:sp>
      <p:sp>
        <p:nvSpPr>
          <p:cNvPr id="28" name="stats-h-body">
            <a:extLst>
              <a:ext uri="{FF2B5EF4-FFF2-40B4-BE49-F238E27FC236}">
                <a16:creationId xmlns:a16="http://schemas.microsoft.com/office/drawing/2014/main" id="{C90C2983-5565-404D-B2D1-9D4A6C797774}"/>
              </a:ext>
            </a:extLst>
          </p:cNvPr>
          <p:cNvSpPr>
            <a:spLocks noGrp="1"/>
          </p:cNvSpPr>
          <p:nvPr/>
        </p:nvSpPr>
        <p:spPr>
          <a:xfrm>
            <a:off x="857250" y="4869956"/>
            <a:ext cx="495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3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350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TSER: 0.805 vs 0.337  ·  z = 21.14  ·  p = 3.14×10⁻⁹⁹</a:t>
            </a:r>
          </a:p>
          <a:p>
            <a:pPr algn="l">
              <a:lnSpc>
                <a:spcPct val="115000"/>
              </a:lnSpc>
              <a:buNone/>
              <a:defRPr sz="13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350" dirty="0">
                <a:solidFill>
                  <a:srgbClr val="454545"/>
                </a:solidFill>
                <a:latin typeface="Arial"/>
                <a:ea typeface="Arial"/>
                <a:cs typeface="Arial"/>
              </a:rPr>
              <a:t>ΔS: 144.4 vs 104.5  ·  U-score = 13.05  ·  p = 6.25×10⁻³⁹</a:t>
            </a:r>
          </a:p>
        </p:txBody>
      </p:sp>
      <p:sp>
        <p:nvSpPr>
          <p:cNvPr id="29" name="stats-q">
            <a:extLst>
              <a:ext uri="{FF2B5EF4-FFF2-40B4-BE49-F238E27FC236}">
                <a16:creationId xmlns:a16="http://schemas.microsoft.com/office/drawing/2014/main" id="{0B80BF2A-0F7D-42FA-B5B7-528955F69F62}"/>
              </a:ext>
            </a:extLst>
          </p:cNvPr>
          <p:cNvSpPr>
            <a:spLocks noGrp="1"/>
          </p:cNvSpPr>
          <p:nvPr/>
        </p:nvSpPr>
        <p:spPr>
          <a:xfrm>
            <a:off x="6286500" y="4508006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73737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37373"/>
                </a:solidFill>
                <a:latin typeface="Arial"/>
                <a:ea typeface="Arial"/>
                <a:cs typeface="Arial"/>
              </a:rPr>
              <a:t>QUERYING ATTACKER</a:t>
            </a:r>
          </a:p>
        </p:txBody>
      </p:sp>
      <p:sp>
        <p:nvSpPr>
          <p:cNvPr id="30" name="stats-q-body">
            <a:extLst>
              <a:ext uri="{FF2B5EF4-FFF2-40B4-BE49-F238E27FC236}">
                <a16:creationId xmlns:a16="http://schemas.microsoft.com/office/drawing/2014/main" id="{056C93C7-BD38-4541-954E-C6CE7AA45F02}"/>
              </a:ext>
            </a:extLst>
          </p:cNvPr>
          <p:cNvSpPr>
            <a:spLocks noGrp="1"/>
          </p:cNvSpPr>
          <p:nvPr/>
        </p:nvSpPr>
        <p:spPr>
          <a:xfrm>
            <a:off x="6286500" y="4869956"/>
            <a:ext cx="51244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3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54545"/>
                </a:solidFill>
                <a:latin typeface="Arial"/>
                <a:ea typeface="Arial"/>
                <a:cs typeface="Arial"/>
              </a:rPr>
              <a:t>TSER: 0.810 vs 0.352  ·  z = 20.76  ·  p = 1.07×10⁻⁹⁵</a:t>
            </a:r>
          </a:p>
          <a:p>
            <a:pPr algn="l">
              <a:lnSpc>
                <a:spcPct val="115000"/>
              </a:lnSpc>
              <a:buNone/>
              <a:defRPr sz="135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54545"/>
                </a:solidFill>
                <a:latin typeface="Arial"/>
                <a:ea typeface="Arial"/>
                <a:cs typeface="Arial"/>
              </a:rPr>
              <a:t>ΔS: 158.6 vs 113.0  ·  U-score = 14.49  ·  p = 1.39×10⁻⁴⁷</a:t>
            </a:r>
          </a:p>
        </p:txBody>
      </p:sp>
      <p:sp>
        <p:nvSpPr>
          <p:cNvPr id="31" name="stats-band">
            <a:extLst>
              <a:ext uri="{FF2B5EF4-FFF2-40B4-BE49-F238E27FC236}">
                <a16:creationId xmlns:a16="http://schemas.microsoft.com/office/drawing/2014/main" id="{EDEC98CA-5434-448E-A92E-8FAD8A447151}"/>
              </a:ext>
            </a:extLst>
          </p:cNvPr>
          <p:cNvSpPr>
            <a:spLocks noGrp="1"/>
          </p:cNvSpPr>
          <p:nvPr/>
        </p:nvSpPr>
        <p:spPr>
          <a:xfrm>
            <a:off x="838200" y="5638800"/>
            <a:ext cx="10572750" cy="495300"/>
          </a:xfrm>
          <a:prstGeom prst="rect">
            <a:avLst/>
          </a:prstGeom>
          <a:solidFill>
            <a:srgbClr val="151515"/>
          </a:solidFill>
          <a:ln w="0">
            <a:solidFill>
              <a:srgbClr val="151515"/>
            </a:solidFill>
            <a:prstDash val="solid"/>
          </a:ln>
        </p:spPr>
        <p:txBody>
          <a:bodyPr wrap="square" lIns="133350" tIns="57150" rIns="133350" bIns="57150" anchor="ctr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reported comparative effects remain significant after Holm correction.</a:t>
            </a:r>
          </a:p>
        </p:txBody>
      </p:sp>
    </p:spTree>
    <p:extLst>
      <p:ext uri="{BB962C8B-B14F-4D97-AF65-F5344CB8AC3E}">
        <p14:creationId xmlns:p14="http://schemas.microsoft.com/office/powerpoint/2010/main" val="18426134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4272</TotalTime>
  <Words>2953</Words>
  <Application>Microsoft Office PowerPoint</Application>
  <DocSecurity>0</DocSecurity>
  <PresentationFormat>宽屏</PresentationFormat>
  <Paragraphs>350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Cambria Math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SY Wu</cp:lastModifiedBy>
  <cp:revision>27</cp:revision>
  <dcterms:created xsi:type="dcterms:W3CDTF">2026-07-31T21:50:30Z</dcterms:created>
  <dcterms:modified xsi:type="dcterms:W3CDTF">2026-08-04T01:38:33Z</dcterms:modified>
</cp:coreProperties>
</file>