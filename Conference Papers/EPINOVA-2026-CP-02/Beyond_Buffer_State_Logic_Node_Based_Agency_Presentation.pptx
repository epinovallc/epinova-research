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6" r:id="rId3"/>
    <p:sldId id="277" r:id="rId4"/>
    <p:sldId id="257" r:id="rId5"/>
    <p:sldId id="258" r:id="rId6"/>
    <p:sldId id="259" r:id="rId7"/>
    <p:sldId id="260" r:id="rId8"/>
    <p:sldId id="261" r:id="rId9"/>
    <p:sldId id="262" r:id="rId10"/>
    <p:sldId id="263" r:id="rId11"/>
    <p:sldId id="264" r:id="rId12"/>
    <p:sldId id="265" r:id="rId13"/>
    <p:sldId id="290" r:id="rId14"/>
    <p:sldId id="28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B0D"/>
    <a:srgbClr val="0B0D0F"/>
    <a:srgbClr val="070809"/>
    <a:srgbClr val="0B0C0E"/>
    <a:srgbClr val="0808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27896" autoAdjust="0"/>
  </p:normalViewPr>
  <p:slideViewPr>
    <p:cSldViewPr snapToGrid="0" snapToObjects="1">
      <p:cViewPr varScale="1">
        <p:scale>
          <a:sx n="35" d="100"/>
          <a:sy n="35" d="100"/>
        </p:scale>
        <p:origin x="1512" y="42"/>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68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Shaoyuan Wu, from the Global AI Governance and Policy Research Center at EPINOVA LLC.</a:t>
            </a:r>
          </a:p>
          <a:p>
            <a:endParaRPr lang="en-US" dirty="0"/>
          </a:p>
          <a:p>
            <a:r>
              <a:rPr lang="en-US" dirty="0"/>
              <a:t>Today I will present my paper, </a:t>
            </a:r>
            <a:r>
              <a:rPr lang="en-US" b="1" dirty="0"/>
              <a:t>“Beyond Buffer-State Logic: Node-Based Agency in the Caspian–Middle East Conflict Network.”</a:t>
            </a:r>
          </a:p>
          <a:p>
            <a:endParaRPr lang="en-US" dirty="0"/>
          </a:p>
          <a:p>
            <a:r>
              <a:rPr lang="en-US" dirty="0"/>
              <a:t>The paper examines how middle and small states may exercise agency through strategically consequential connections in contemporary networked conflict.</a:t>
            </a:r>
          </a:p>
          <a:p>
            <a:endParaRPr lang="en-US" dirty="0"/>
          </a:p>
          <a:p>
            <a:r>
              <a:rPr lang="en-US" altLang="zh-CN" dirty="0"/>
              <a:t>T</a:t>
            </a:r>
            <a:r>
              <a:rPr lang="en-US" dirty="0"/>
              <a:t>his argument </a:t>
            </a:r>
            <a:r>
              <a:rPr lang="en-US" altLang="zh-CN" dirty="0"/>
              <a:t>was developed</a:t>
            </a:r>
            <a:r>
              <a:rPr lang="en-US" dirty="0"/>
              <a:t> through three cases across the Caspian–Middle East conflict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12C7-521A-178A-0DFA-D39261749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98E4F-EA31-BC80-1A3D-ECC05F1DD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9D136-EDC0-DBC8-6AE3-46579321B6F3}"/>
              </a:ext>
            </a:extLst>
          </p:cNvPr>
          <p:cNvSpPr>
            <a:spLocks noGrp="1"/>
          </p:cNvSpPr>
          <p:nvPr>
            <p:ph type="body" idx="1"/>
          </p:nvPr>
        </p:nvSpPr>
        <p:spPr/>
        <p:txBody>
          <a:bodyPr/>
          <a:lstStyle/>
          <a:p>
            <a:r>
              <a:rPr lang="en-US" sz="1200" kern="1200" dirty="0">
                <a:effectLst/>
              </a:rPr>
              <a:t>Here is the short bio.</a:t>
            </a:r>
          </a:p>
        </p:txBody>
      </p:sp>
      <p:sp>
        <p:nvSpPr>
          <p:cNvPr id="4" name="Slide Number Placeholder 3">
            <a:extLst>
              <a:ext uri="{FF2B5EF4-FFF2-40B4-BE49-F238E27FC236}">
                <a16:creationId xmlns:a16="http://schemas.microsoft.com/office/drawing/2014/main" id="{0A4B9B27-3A9C-366B-C29C-5FFA2334AA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3229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4403D-031C-9B0B-765C-96A99C814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51B87-DFCE-BB7E-1A2A-F7256C562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0B951-EB65-3379-5698-18DCB139A5E7}"/>
              </a:ext>
            </a:extLst>
          </p:cNvPr>
          <p:cNvSpPr>
            <a:spLocks noGrp="1"/>
          </p:cNvSpPr>
          <p:nvPr>
            <p:ph type="body" idx="1"/>
          </p:nvPr>
        </p:nvSpPr>
        <p:spPr/>
        <p:txBody>
          <a:bodyPr/>
          <a:lstStyle/>
          <a:p>
            <a:r>
              <a:rPr lang="en-US" dirty="0"/>
              <a:t>The </a:t>
            </a:r>
            <a:r>
              <a:rPr lang="en-US" altLang="zh-CN" dirty="0"/>
              <a:t>presentation contents </a:t>
            </a:r>
            <a:r>
              <a:rPr lang="en-US" dirty="0"/>
              <a:t>five </a:t>
            </a:r>
            <a:r>
              <a:rPr lang="en-US" altLang="zh-CN" dirty="0"/>
              <a:t>part</a:t>
            </a:r>
            <a:r>
              <a:rPr lang="en-US" dirty="0"/>
              <a:t>s.</a:t>
            </a:r>
            <a:endParaRPr lang="en-US" sz="1200" kern="1200" dirty="0">
              <a:effectLst/>
            </a:endParaRPr>
          </a:p>
        </p:txBody>
      </p:sp>
      <p:sp>
        <p:nvSpPr>
          <p:cNvPr id="4" name="Slide Number Placeholder 3">
            <a:extLst>
              <a:ext uri="{FF2B5EF4-FFF2-40B4-BE49-F238E27FC236}">
                <a16:creationId xmlns:a16="http://schemas.microsoft.com/office/drawing/2014/main" id="{08351D7D-145B-047B-A7BF-12ADFD369B9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04085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Buffer-state approaches explain how territorial position between stronger powers constrains a state's options.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Geography remains important, but contemporary conflict also operates through functional connections: routes, bases, airspace, sensors, maintenance systems, and specialized knowledge.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produces two additional questions: which strategic connections can the state govern, and with what effect? And what evidence distinguishes attempted control, implementation, counterpart effect, bargaining benefit, and durable control?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analytical shift is from territorial position to a </a:t>
            </a:r>
            <a:r>
              <a:rPr lang="en-US" sz="1200" b="1" kern="1200" dirty="0">
                <a:solidFill>
                  <a:schemeClr val="tx1"/>
                </a:solidFill>
                <a:effectLst/>
                <a:latin typeface="+mn-lt"/>
                <a:ea typeface="+mn-ea"/>
                <a:cs typeface="+mn-cs"/>
              </a:rPr>
              <a:t>controller-function-counterpart</a:t>
            </a:r>
            <a:r>
              <a:rPr lang="en-US" sz="1200" kern="1200" dirty="0">
                <a:solidFill>
                  <a:schemeClr val="tx1"/>
                </a:solidFill>
                <a:effectLst/>
                <a:latin typeface="+mn-lt"/>
                <a:ea typeface="+mn-ea"/>
                <a:cs typeface="+mn-cs"/>
              </a:rPr>
              <a:t> relationship: who governs an interface, for which function and period, and whose use is changed?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The concept of </a:t>
            </a:r>
            <a:r>
              <a:rPr lang="en-US" sz="1200" b="1" kern="1200" dirty="0">
                <a:solidFill>
                  <a:schemeClr val="tx1"/>
                </a:solidFill>
                <a:effectLst/>
                <a:latin typeface="+mn-lt"/>
                <a:ea typeface="+mn-ea"/>
                <a:cs typeface="+mn-cs"/>
              </a:rPr>
              <a:t>implemented node-based agency</a:t>
            </a:r>
            <a:r>
              <a:rPr 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was defined </a:t>
            </a:r>
            <a:r>
              <a:rPr lang="en-US" sz="1200" kern="1200" dirty="0">
                <a:solidFill>
                  <a:schemeClr val="tx1"/>
                </a:solidFill>
                <a:effectLst/>
                <a:latin typeface="+mn-lt"/>
                <a:ea typeface="+mn-ea"/>
                <a:cs typeface="+mn-cs"/>
              </a:rPr>
              <a:t>as the purposeful use of a consequential node or interface, together with relevant control rights, that changes a counterpart's admissible or effective use.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Two distinctions are essential.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Centrality alone does not establish agency</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intention is not implementation</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important node may create structural opportunity, but implementation requires an observed change in admissible or effective use.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relevant boundary actions include granting, conditioning, prioritizing, restricting, or denying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framework separates stages that are often collapsed into a single claim of leverage.</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Structural potential</a:t>
            </a:r>
            <a:r>
              <a:rPr lang="en-US" sz="1200" kern="1200" dirty="0">
                <a:solidFill>
                  <a:schemeClr val="tx1"/>
                </a:solidFill>
                <a:effectLst/>
                <a:latin typeface="+mn-lt"/>
                <a:ea typeface="+mn-ea"/>
                <a:cs typeface="+mn-cs"/>
              </a:rPr>
              <a:t> is shaped by functional criticality, counterpart dependence, and substitutability.</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Actionable control</a:t>
            </a:r>
            <a:r>
              <a:rPr lang="en-US" sz="1200" kern="1200" dirty="0">
                <a:solidFill>
                  <a:schemeClr val="tx1"/>
                </a:solidFill>
                <a:effectLst/>
                <a:latin typeface="+mn-lt"/>
                <a:ea typeface="+mn-ea"/>
                <a:cs typeface="+mn-cs"/>
              </a:rPr>
              <a:t> depends on control rights and political discretion. Together, these conditions may enable a purposeful control attempt. The next threshold is implementation at the legal, administrative, technical, or physical interface.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Only a verified change in admissible or effective use establishes </a:t>
            </a:r>
            <a:r>
              <a:rPr lang="en-US" sz="1200" b="1" kern="1200" dirty="0">
                <a:solidFill>
                  <a:schemeClr val="tx1"/>
                </a:solidFill>
                <a:effectLst/>
                <a:latin typeface="+mn-lt"/>
                <a:ea typeface="+mn-ea"/>
                <a:cs typeface="+mn-cs"/>
              </a:rPr>
              <a:t>implemented node-based agency</a:t>
            </a:r>
            <a:r>
              <a:rPr lang="en-US" sz="1200" kern="1200" dirty="0">
                <a:solidFill>
                  <a:schemeClr val="tx1"/>
                </a:solidFill>
                <a:effectLst/>
                <a:latin typeface="+mn-lt"/>
                <a:ea typeface="+mn-ea"/>
                <a:cs typeface="+mn-cs"/>
              </a:rPr>
              <a:t>. Even then, leverage has not yet been demonstrated.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Counterpart responses are evidence to assess, but </a:t>
            </a:r>
            <a:r>
              <a:rPr lang="en-US" sz="1200" b="1" kern="1200" dirty="0">
                <a:solidFill>
                  <a:schemeClr val="tx1"/>
                </a:solidFill>
                <a:effectLst/>
                <a:latin typeface="+mn-lt"/>
                <a:ea typeface="+mn-ea"/>
                <a:cs typeface="+mn-cs"/>
              </a:rPr>
              <a:t>realized strategic leverage</a:t>
            </a:r>
            <a:r>
              <a:rPr lang="en-US" sz="1200" kern="1200" dirty="0">
                <a:solidFill>
                  <a:schemeClr val="tx1"/>
                </a:solidFill>
                <a:effectLst/>
                <a:latin typeface="+mn-lt"/>
                <a:ea typeface="+mn-ea"/>
                <a:cs typeface="+mn-cs"/>
              </a:rPr>
              <a:t> requires an attributable and substantive effect on costs, timing, posture, exposure, or available options. Resilience, network adaptation, and external intervention remain separate dimensions.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key distinction is therefore simple: </a:t>
            </a:r>
            <a:r>
              <a:rPr lang="en-US" sz="1200" b="1" kern="1200" dirty="0">
                <a:solidFill>
                  <a:schemeClr val="tx1"/>
                </a:solidFill>
                <a:effectLst/>
                <a:latin typeface="+mn-lt"/>
                <a:ea typeface="+mn-ea"/>
                <a:cs typeface="+mn-cs"/>
              </a:rPr>
              <a:t>potential, implementation, and leverage are not interchangeable</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comparison probes three consequential interfaces. The northern Caspian asks whether situational criticality translates into purposeful smaller-state control.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Gulf case asks whether host-state authorization alters a stronger actor's operational access. The Ukraine-Gulf case asks whether delivered expertise can generate leverage across provider-recipient relationships.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an evidence-constrained comparison for concept development, not a test of necessary or sufficient conditions. Evidence is assessed through 7 September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northern Caspian illustrates the difference between functional importance and demonstrated control.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southern access to Iran was constrained, Caspian routes preserved selected flows. Reported grain movements included approximately 22,600 metric tons loaded at Astrakhan, while relevant ports had combined annual capacity above three million tons.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separate scenario assessment produced a working range of ten to fifteen thousand tons per day, but these are scenario bounds rather than observed throughput.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evidentiary problem is control. Rights are dispersed across ports, customs, rail, scheduling, carriers, and sanctions regimes.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reported interruption in Kazakh barley shipments indicates disrupted usability, but not the responsible decision-maker, strategic intent, implementation mechanism, counterpart dependence, or resulting return.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verdict is therefore </a:t>
            </a:r>
            <a:r>
              <a:rPr lang="en-US" sz="1200" b="1" kern="1200" dirty="0">
                <a:solidFill>
                  <a:schemeClr val="tx1"/>
                </a:solidFill>
                <a:effectLst/>
                <a:latin typeface="+mn-lt"/>
                <a:ea typeface="+mn-ea"/>
                <a:cs typeface="+mn-cs"/>
              </a:rPr>
              <a:t>structural potential</a:t>
            </a:r>
            <a:r>
              <a:rPr lang="en-US" sz="1200" kern="1200" dirty="0">
                <a:solidFill>
                  <a:schemeClr val="tx1"/>
                </a:solidFill>
                <a:effectLst/>
                <a:latin typeface="+mn-lt"/>
                <a:ea typeface="+mn-ea"/>
                <a:cs typeface="+mn-cs"/>
              </a:rPr>
              <a:t> only. Purposeful smaller-state implementation and attributable counterpart effect remain unestablished.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Gulf case concerns the most specific reported access-policy change.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Reporting attributed to the Wall Street Journal indicated that Saudi Arabia and Kuwait had restricted U.S. use of bases and airspace and later lifted those restrictions.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White House official reportedly denied that any restriction or ban had existed, so implementation remains disputed.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case nevertheless demonstrates that infrastructure presence does not make operational access automatic; host-state authorization can be mission-specific.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Even if the reported change occurred, however, the evidence does not establish a downstream change in mission timing, force posture, cost, exposure, or bargaining outcome.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verdict is </a:t>
            </a:r>
            <a:r>
              <a:rPr lang="en-US" sz="1200" b="1" kern="1200" dirty="0">
                <a:solidFill>
                  <a:schemeClr val="tx1"/>
                </a:solidFill>
                <a:effectLst/>
                <a:latin typeface="+mn-lt"/>
                <a:ea typeface="+mn-ea"/>
                <a:cs typeface="+mn-cs"/>
              </a:rPr>
              <a:t>provisional implementation</a:t>
            </a:r>
            <a:r>
              <a:rPr lang="en-US" sz="1200" kern="1200" dirty="0">
                <a:solidFill>
                  <a:schemeClr val="tx1"/>
                </a:solidFill>
                <a:effectLst/>
                <a:latin typeface="+mn-lt"/>
                <a:ea typeface="+mn-ea"/>
                <a:cs typeface="+mn-cs"/>
              </a:rPr>
              <a:t>, with counterpart effect unestablished.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third case extends the framework beyond physical infrastructure. Ukraine's operational experience against Iranian-designed Shahed systems created a potentially valuable knowledge interface.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20 March 2026, Ukraine reported deploying 228 specialists to five Middle Eastern states, establishing purposeful provision and recipient selection.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Reported ten-year defense-cooperation agreements with Saudi Arabia and Qatar, together with defense cooperation with the UAE, indicate </a:t>
            </a:r>
            <a:r>
              <a:rPr lang="en-US" sz="1200" b="1" kern="1200" dirty="0">
                <a:solidFill>
                  <a:schemeClr val="tx1"/>
                </a:solidFill>
                <a:effectLst/>
                <a:latin typeface="+mn-lt"/>
                <a:ea typeface="+mn-ea"/>
                <a:cs typeface="+mn-cs"/>
              </a:rPr>
              <a:t>partial institutional follow-through</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recipient dependence is unmeasured, individualized access conditions are not established, direct reciprocity remains unverified, and durable leverage is not demonstrated.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case therefore shows that specialized knowledge can function as a consequential interface, but it does not establish a complete weaker-state leverage claim.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cross-case comparison produces differentiated results. All three cases exhibit </a:t>
            </a:r>
            <a:r>
              <a:rPr lang="en-US" sz="1200" b="1" kern="1200" dirty="0">
                <a:solidFill>
                  <a:schemeClr val="tx1"/>
                </a:solidFill>
                <a:effectLst/>
                <a:latin typeface="+mn-lt"/>
                <a:ea typeface="+mn-ea"/>
                <a:cs typeface="+mn-cs"/>
              </a:rPr>
              <a:t>structural potential</a:t>
            </a:r>
            <a:r>
              <a:rPr lang="en-US" sz="1200" kern="1200" dirty="0">
                <a:solidFill>
                  <a:schemeClr val="tx1"/>
                </a:solidFill>
                <a:effectLst/>
                <a:latin typeface="+mn-lt"/>
                <a:ea typeface="+mn-ea"/>
                <a:cs typeface="+mn-cs"/>
              </a:rPr>
              <a:t>. The northern Caspian does not cross the threshold into verified implementation.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Gulf claim is more specific but remains provisional because the underlying reporting is contested. The Ukraine case establishes purposeful delivery and partial implementation, but counterpart effect and durable leverage remain unverified; negotiated benefit is reported but not verified.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methodological conclusion is equally important: </a:t>
            </a:r>
            <a:r>
              <a:rPr lang="en-US" sz="1200" b="1" kern="1200" dirty="0">
                <a:solidFill>
                  <a:schemeClr val="tx1"/>
                </a:solidFill>
                <a:effectLst/>
                <a:latin typeface="+mn-lt"/>
                <a:ea typeface="+mn-ea"/>
                <a:cs typeface="+mn-cs"/>
              </a:rPr>
              <a:t>structural potential</a:t>
            </a:r>
            <a:r>
              <a:rPr lang="en-US" sz="1200" kern="1200" dirty="0">
                <a:solidFill>
                  <a:schemeClr val="tx1"/>
                </a:solidFill>
                <a:effectLst/>
                <a:latin typeface="+mn-lt"/>
                <a:ea typeface="+mn-ea"/>
                <a:cs typeface="+mn-cs"/>
              </a:rPr>
              <a:t>, implementation, counterpart effect, negotiated benefit, and durability must be established separately. External intervention may indicate exposure and adaptation, but it does not establish agency or resilience by itself.</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None of the cases supplies the full chain required for a strong claim of weaker-state strategic leverage. The comparison's value lies in </a:t>
            </a:r>
            <a:r>
              <a:rPr lang="en-US" sz="1200" b="1" kern="1200" dirty="0">
                <a:solidFill>
                  <a:schemeClr val="tx1"/>
                </a:solidFill>
                <a:effectLst/>
                <a:latin typeface="+mn-lt"/>
                <a:ea typeface="+mn-ea"/>
                <a:cs typeface="+mn-cs"/>
              </a:rPr>
              <a:t>identifying evidentiary gaps rather than closing them by inference</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middle and small states, strategic relevance requires more than an important location or asset.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They need the relevant control-rights bundle, implementation capacity, redundancy, and an assessment of substitutes from the counterpart's perspective. Maximizing irreplaceability may increase leverage, but it can also reduce resilience.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major powers, host-state access should be treated as conditional rather than automatic. Planning should incorporate political discretion, infrastructure capacity, retaliation exposure, and substitution costs.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researchers, control rights, purposeful action, implemented access or use change, counterpart effect, negotiated benefit, durability, external intervention, and adaptation should be coded separately. Stronger causal claims require paired successful and failed conversion cases.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9339-6836-8752-20AD-6F429AD56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02D94-6295-870E-947B-5156748BB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2E1A3-04F9-B839-0B9F-EDE91BEE9A30}"/>
              </a:ext>
            </a:extLst>
          </p:cNvPr>
          <p:cNvSpPr>
            <a:spLocks noGrp="1"/>
          </p:cNvSpPr>
          <p:nvPr>
            <p:ph type="body" idx="1"/>
          </p:nvPr>
        </p:nvSpPr>
        <p:spPr/>
        <p:txBody>
          <a:bodyPr/>
          <a:lstStyle/>
          <a:p>
            <a:r>
              <a:rPr lang="en-US" sz="1600" kern="1200" dirty="0">
                <a:solidFill>
                  <a:schemeClr val="tx1"/>
                </a:solidFill>
                <a:effectLst/>
                <a:latin typeface="+mn-lt"/>
                <a:ea typeface="+mn-ea"/>
                <a:cs typeface="+mn-cs"/>
              </a:rPr>
              <a:t>The conclusion is deliberately bounded. </a:t>
            </a:r>
            <a:r>
              <a:rPr lang="en-US" sz="1600" b="1" kern="1200" dirty="0">
                <a:solidFill>
                  <a:schemeClr val="tx1"/>
                </a:solidFill>
                <a:effectLst/>
                <a:latin typeface="+mn-lt"/>
                <a:ea typeface="+mn-ea"/>
                <a:cs typeface="+mn-cs"/>
              </a:rPr>
              <a:t>Node-based agency is a managed conversion problem</a:t>
            </a:r>
            <a:r>
              <a:rPr lang="en-US" sz="1600" kern="1200" dirty="0">
                <a:solidFill>
                  <a:schemeClr val="tx1"/>
                </a:solidFill>
                <a:effectLst/>
                <a:latin typeface="+mn-lt"/>
                <a:ea typeface="+mn-ea"/>
                <a:cs typeface="+mn-cs"/>
              </a:rPr>
              <a:t>.</a:t>
            </a: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Structural importance creates opportunity, not agency. Control rights and implementation convert opportunity into an observed change in use, while strategic leverage additionally requires an attributable and substantive counterpart effect.</a:t>
            </a: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The broader implication is that strategic position is not a fixed measure of agency. Agency is relational, functional, and temporally specific. A state may be weak in aggregate terms while exercising control over one consequential connection, or it may occupy an important position without being able to convert that position into agency.</a:t>
            </a:r>
          </a:p>
          <a:p>
            <a:endParaRPr lang="en-US" sz="1600" kern="1200" dirty="0">
              <a:solidFill>
                <a:schemeClr val="tx1"/>
              </a:solidFill>
              <a:effectLst/>
              <a:latin typeface="+mn-lt"/>
              <a:ea typeface="+mn-ea"/>
              <a:cs typeface="+mn-cs"/>
            </a:endParaRPr>
          </a:p>
          <a:p>
            <a:r>
              <a:rPr lang="en-US" sz="1600" b="1" kern="1200" dirty="0">
                <a:solidFill>
                  <a:schemeClr val="tx1"/>
                </a:solidFill>
                <a:effectLst/>
                <a:latin typeface="+mn-lt"/>
                <a:ea typeface="+mn-ea"/>
                <a:cs typeface="+mn-cs"/>
              </a:rPr>
              <a:t>Strategic position therefore does not automatically translate into agency</a:t>
            </a:r>
            <a:r>
              <a:rPr lang="en-US" sz="1600" kern="1200" dirty="0">
                <a:solidFill>
                  <a:schemeClr val="tx1"/>
                </a:solidFill>
                <a:effectLst/>
                <a:latin typeface="+mn-lt"/>
                <a:ea typeface="+mn-ea"/>
                <a:cs typeface="+mn-cs"/>
              </a:rPr>
              <a:t>, and </a:t>
            </a:r>
            <a:r>
              <a:rPr lang="en-US" sz="1600" b="1" kern="1200" dirty="0">
                <a:solidFill>
                  <a:schemeClr val="tx1"/>
                </a:solidFill>
                <a:effectLst/>
                <a:latin typeface="+mn-lt"/>
                <a:ea typeface="+mn-ea"/>
                <a:cs typeface="+mn-cs"/>
              </a:rPr>
              <a:t>leverage must be demonstrated rather than inferred</a:t>
            </a:r>
            <a:r>
              <a:rPr lang="en-US" sz="1600" kern="1200" dirty="0">
                <a:solidFill>
                  <a:schemeClr val="tx1"/>
                </a:solidFill>
                <a:effectLst/>
                <a:latin typeface="+mn-lt"/>
                <a:ea typeface="+mn-ea"/>
                <a:cs typeface="+mn-cs"/>
              </a:rPr>
              <a:t>. Thank you.</a:t>
            </a:r>
          </a:p>
        </p:txBody>
      </p:sp>
      <p:sp>
        <p:nvSpPr>
          <p:cNvPr id="4" name="Slide Number Placeholder 3">
            <a:extLst>
              <a:ext uri="{FF2B5EF4-FFF2-40B4-BE49-F238E27FC236}">
                <a16:creationId xmlns:a16="http://schemas.microsoft.com/office/drawing/2014/main" id="{B9FDA43B-2C39-4809-82D0-7CEB76041FC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28681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6DFA-8046-4B60-B54F-8F32B06C1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98389-2DAF-9C42-516C-0904261D8E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87CCA-9307-D29C-5E34-19570805DD83}"/>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Thank you</a:t>
            </a:r>
            <a:endParaRPr lang="en-US" sz="1200" kern="1200" dirty="0">
              <a:effectLst/>
            </a:endParaRPr>
          </a:p>
        </p:txBody>
      </p:sp>
      <p:sp>
        <p:nvSpPr>
          <p:cNvPr id="4" name="Slide Number Placeholder 3">
            <a:extLst>
              <a:ext uri="{FF2B5EF4-FFF2-40B4-BE49-F238E27FC236}">
                <a16:creationId xmlns:a16="http://schemas.microsoft.com/office/drawing/2014/main" id="{B3685448-4927-0420-2738-765BDB776F9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37015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6059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sywu@epinova.or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3"/>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60251934-A341-46A4-50CD-0D66007BF41A}"/>
              </a:ext>
            </a:extLst>
          </p:cNvPr>
          <p:cNvSpPr/>
          <p:nvPr/>
        </p:nvSpPr>
        <p:spPr>
          <a:xfrm>
            <a:off x="0" y="0"/>
            <a:ext cx="12192000" cy="6858000"/>
          </a:xfrm>
          <a:prstGeom prst="rect">
            <a:avLst/>
          </a:prstGeom>
          <a:solidFill>
            <a:srgbClr val="090B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0" descr="/mnt/data/wide_dark_minimalist_infographic_style_background_16x9_dark.png"/>
          <p:cNvPicPr>
            <a:picLocks noChangeAspect="1"/>
          </p:cNvPicPr>
          <p:nvPr/>
        </p:nvPicPr>
        <p:blipFill>
          <a:blip r:embed="rId3"/>
          <a:srcRect l="37320" r="-1"/>
          <a:stretch>
            <a:fillRect/>
          </a:stretch>
        </p:blipFill>
        <p:spPr>
          <a:xfrm>
            <a:off x="8656319" y="0"/>
            <a:ext cx="3506193" cy="6796216"/>
          </a:xfrm>
          <a:prstGeom prst="rect">
            <a:avLst/>
          </a:prstGeom>
        </p:spPr>
      </p:pic>
      <p:sp>
        <p:nvSpPr>
          <p:cNvPr id="4" name="Text 1"/>
          <p:cNvSpPr/>
          <p:nvPr/>
        </p:nvSpPr>
        <p:spPr>
          <a:xfrm>
            <a:off x="566927" y="841248"/>
            <a:ext cx="6377212" cy="2057400"/>
          </a:xfrm>
          <a:prstGeom prst="rect">
            <a:avLst/>
          </a:prstGeom>
          <a:noFill/>
          <a:ln/>
        </p:spPr>
        <p:txBody>
          <a:bodyPr wrap="square" lIns="254" tIns="254" rIns="254" bIns="254" rtlCol="0" anchor="ctr">
            <a:normAutofit/>
          </a:bodyPr>
          <a:lstStyle/>
          <a:p>
            <a:pPr marL="0" indent="0">
              <a:buNone/>
            </a:pPr>
            <a:r>
              <a:rPr lang="en-US" sz="4000" b="1" dirty="0">
                <a:solidFill>
                  <a:srgbClr val="F3F1E8"/>
                </a:solidFill>
                <a:latin typeface="Aptos Display" pitchFamily="34" charset="0"/>
                <a:ea typeface="Aptos Display" pitchFamily="34" charset="-122"/>
                <a:cs typeface="Aptos Display" pitchFamily="34" charset="-120"/>
              </a:rPr>
              <a:t>Beyond Buffer-State Logic</a:t>
            </a:r>
            <a:endParaRPr lang="en-US" sz="4000" dirty="0"/>
          </a:p>
        </p:txBody>
      </p:sp>
      <p:sp>
        <p:nvSpPr>
          <p:cNvPr id="5" name="Text 2"/>
          <p:cNvSpPr/>
          <p:nvPr/>
        </p:nvSpPr>
        <p:spPr>
          <a:xfrm>
            <a:off x="566926" y="2368296"/>
            <a:ext cx="8264653" cy="713232"/>
          </a:xfrm>
          <a:prstGeom prst="rect">
            <a:avLst/>
          </a:prstGeom>
          <a:noFill/>
          <a:ln/>
        </p:spPr>
        <p:txBody>
          <a:bodyPr wrap="square" lIns="254" tIns="254" rIns="254" bIns="254" rtlCol="0" anchor="ctr">
            <a:normAutofit/>
          </a:bodyPr>
          <a:lstStyle/>
          <a:p>
            <a:pPr marL="0" indent="0">
              <a:buNone/>
            </a:pPr>
            <a:r>
              <a:rPr lang="en-US" sz="2000" b="1" dirty="0">
                <a:solidFill>
                  <a:srgbClr val="C6CAD0"/>
                </a:solidFill>
                <a:latin typeface="Arial" panose="020B0604020202020204" pitchFamily="34" charset="0"/>
                <a:cs typeface="Arial" panose="020B0604020202020204" pitchFamily="34" charset="0"/>
              </a:rPr>
              <a:t>Node-Based Agency in the Caspian–Middle East Conflict Network</a:t>
            </a:r>
            <a:endParaRPr lang="en-US" sz="2000" b="1" dirty="0">
              <a:latin typeface="Arial" panose="020B0604020202020204" pitchFamily="34" charset="0"/>
              <a:cs typeface="Arial" panose="020B0604020202020204" pitchFamily="34" charset="0"/>
            </a:endParaRPr>
          </a:p>
        </p:txBody>
      </p:sp>
      <p:sp>
        <p:nvSpPr>
          <p:cNvPr id="6" name="Shape 3"/>
          <p:cNvSpPr/>
          <p:nvPr/>
        </p:nvSpPr>
        <p:spPr>
          <a:xfrm>
            <a:off x="566927" y="3203713"/>
            <a:ext cx="1799392" cy="0"/>
          </a:xfrm>
          <a:prstGeom prst="line">
            <a:avLst/>
          </a:prstGeom>
          <a:noFill/>
          <a:ln w="27940">
            <a:solidFill>
              <a:srgbClr val="C9A25D"/>
            </a:solidFill>
            <a:prstDash val="solid"/>
          </a:ln>
        </p:spPr>
      </p:sp>
      <p:sp>
        <p:nvSpPr>
          <p:cNvPr id="10" name="author">
            <a:extLst>
              <a:ext uri="{FF2B5EF4-FFF2-40B4-BE49-F238E27FC236}">
                <a16:creationId xmlns:a16="http://schemas.microsoft.com/office/drawing/2014/main" id="{62B315B4-7D89-D453-BD5D-0FEA75959F05}"/>
              </a:ext>
            </a:extLst>
          </p:cNvPr>
          <p:cNvSpPr>
            <a:spLocks noGrp="1"/>
          </p:cNvSpPr>
          <p:nvPr/>
        </p:nvSpPr>
        <p:spPr>
          <a:xfrm>
            <a:off x="566926" y="3715645"/>
            <a:ext cx="4762500" cy="342900"/>
          </a:xfrm>
          <a:prstGeom prst="rect">
            <a:avLst/>
          </a:prstGeom>
          <a:noFill/>
          <a:ln w="0">
            <a:noFill/>
            <a:prstDash val="solid"/>
          </a:ln>
        </p:spPr>
        <p:txBody>
          <a:bodyPr anchor="t"/>
          <a:lstStyle/>
          <a:p>
            <a:pPr>
              <a:defRPr sz="1950" b="1" i="0">
                <a:solidFill>
                  <a:srgbClr val="151A22"/>
                </a:solidFill>
                <a:latin typeface="Arial"/>
                <a:ea typeface="Arial"/>
                <a:cs typeface="Arial"/>
              </a:defRPr>
            </a:pPr>
            <a:r>
              <a:rPr b="1" i="0" dirty="0">
                <a:solidFill>
                  <a:schemeClr val="bg1"/>
                </a:solidFill>
                <a:latin typeface="Arial Black" panose="020B0A04020102020204" pitchFamily="34" charset="0"/>
                <a:ea typeface="Arial"/>
                <a:cs typeface="Arial"/>
              </a:rPr>
              <a:t>Shaoyuan Wu</a:t>
            </a:r>
          </a:p>
        </p:txBody>
      </p:sp>
      <p:sp>
        <p:nvSpPr>
          <p:cNvPr id="12" name="affiliation">
            <a:extLst>
              <a:ext uri="{FF2B5EF4-FFF2-40B4-BE49-F238E27FC236}">
                <a16:creationId xmlns:a16="http://schemas.microsoft.com/office/drawing/2014/main" id="{139A10BE-02A3-4CC4-3E90-D57F8CD77EBC}"/>
              </a:ext>
            </a:extLst>
          </p:cNvPr>
          <p:cNvSpPr>
            <a:spLocks noGrp="1"/>
          </p:cNvSpPr>
          <p:nvPr/>
        </p:nvSpPr>
        <p:spPr>
          <a:xfrm>
            <a:off x="566927" y="4279155"/>
            <a:ext cx="5780864" cy="342900"/>
          </a:xfrm>
          <a:prstGeom prst="rect">
            <a:avLst/>
          </a:prstGeom>
          <a:noFill/>
          <a:ln w="0">
            <a:noFill/>
            <a:prstDash val="solid"/>
          </a:ln>
        </p:spPr>
        <p:txBody>
          <a:bodyPr anchor="t"/>
          <a:lstStyle/>
          <a:p>
            <a:pPr>
              <a:defRPr sz="1425" b="0" i="0">
                <a:solidFill>
                  <a:srgbClr val="586473"/>
                </a:solidFill>
                <a:latin typeface="Arial"/>
                <a:ea typeface="Arial"/>
                <a:cs typeface="Arial"/>
              </a:defRPr>
            </a:pPr>
            <a:r>
              <a:rPr sz="1425" b="0" i="0" dirty="0">
                <a:solidFill>
                  <a:schemeClr val="bg1"/>
                </a:solidFill>
                <a:latin typeface="Arial"/>
                <a:ea typeface="Arial"/>
                <a:cs typeface="Arial"/>
              </a:rPr>
              <a:t>Global AI Governance and Policy Research Center · EPINOVA LLC</a:t>
            </a:r>
          </a:p>
        </p:txBody>
      </p:sp>
      <p:sp>
        <p:nvSpPr>
          <p:cNvPr id="14" name="conference-line">
            <a:extLst>
              <a:ext uri="{FF2B5EF4-FFF2-40B4-BE49-F238E27FC236}">
                <a16:creationId xmlns:a16="http://schemas.microsoft.com/office/drawing/2014/main" id="{E6E47C7B-ED0A-EC7D-FDB8-60958BEA3200}"/>
              </a:ext>
            </a:extLst>
          </p:cNvPr>
          <p:cNvSpPr>
            <a:spLocks noGrp="1"/>
          </p:cNvSpPr>
          <p:nvPr/>
        </p:nvSpPr>
        <p:spPr>
          <a:xfrm>
            <a:off x="566926" y="5256276"/>
            <a:ext cx="8382000" cy="266700"/>
          </a:xfrm>
          <a:prstGeom prst="rect">
            <a:avLst/>
          </a:prstGeom>
          <a:noFill/>
          <a:ln w="0">
            <a:noFill/>
            <a:prstDash val="solid"/>
          </a:ln>
        </p:spPr>
        <p:txBody>
          <a:bodyPr anchor="t"/>
          <a:lstStyle/>
          <a:p>
            <a:pPr>
              <a:defRPr sz="1200" b="1" i="0">
                <a:solidFill>
                  <a:srgbClr val="2F6F9F"/>
                </a:solidFill>
                <a:latin typeface="Arial"/>
                <a:ea typeface="Arial"/>
                <a:cs typeface="Arial"/>
              </a:defRPr>
            </a:pPr>
            <a:r>
              <a:rPr sz="1200" b="1" i="0" dirty="0">
                <a:solidFill>
                  <a:schemeClr val="tx1">
                    <a:lumMod val="65000"/>
                    <a:lumOff val="35000"/>
                  </a:schemeClr>
                </a:solidFill>
                <a:latin typeface="Arial"/>
                <a:ea typeface="Arial"/>
                <a:cs typeface="Arial"/>
              </a:rPr>
              <a:t>1ST RCASBC INTERNATIONAL CONFERENCE 2026 · SESSION 19</a:t>
            </a:r>
          </a:p>
        </p:txBody>
      </p:sp>
      <p:sp>
        <p:nvSpPr>
          <p:cNvPr id="16" name="date">
            <a:extLst>
              <a:ext uri="{FF2B5EF4-FFF2-40B4-BE49-F238E27FC236}">
                <a16:creationId xmlns:a16="http://schemas.microsoft.com/office/drawing/2014/main" id="{E2E5ADB3-2FC4-1E34-20F0-5A64037F0BF0}"/>
              </a:ext>
            </a:extLst>
          </p:cNvPr>
          <p:cNvSpPr>
            <a:spLocks noGrp="1"/>
          </p:cNvSpPr>
          <p:nvPr/>
        </p:nvSpPr>
        <p:spPr>
          <a:xfrm>
            <a:off x="566926" y="5714907"/>
            <a:ext cx="5905500" cy="209550"/>
          </a:xfrm>
          <a:prstGeom prst="rect">
            <a:avLst/>
          </a:prstGeom>
          <a:noFill/>
          <a:ln w="0">
            <a:noFill/>
            <a:prstDash val="solid"/>
          </a:ln>
        </p:spPr>
        <p:txBody>
          <a:bodyPr anchor="t"/>
          <a:lstStyle/>
          <a:p>
            <a:pPr>
              <a:defRPr sz="1200" b="0" i="0">
                <a:solidFill>
                  <a:srgbClr val="586473"/>
                </a:solidFill>
                <a:latin typeface="Arial"/>
                <a:ea typeface="Arial"/>
                <a:cs typeface="Arial"/>
              </a:defRPr>
            </a:pPr>
            <a:r>
              <a:rPr sz="1200" b="0" i="0" dirty="0">
                <a:solidFill>
                  <a:srgbClr val="586473"/>
                </a:solidFill>
                <a:latin typeface="Arial"/>
                <a:ea typeface="Arial"/>
                <a:cs typeface="Arial"/>
              </a:rPr>
              <a:t>13 September 2026</a:t>
            </a:r>
          </a:p>
        </p:txBody>
      </p:sp>
      <p:pic>
        <p:nvPicPr>
          <p:cNvPr id="23" name="图片 22">
            <a:extLst>
              <a:ext uri="{FF2B5EF4-FFF2-40B4-BE49-F238E27FC236}">
                <a16:creationId xmlns:a16="http://schemas.microsoft.com/office/drawing/2014/main" id="{D968F3DF-6008-F32A-3054-148BA5348FF0}"/>
              </a:ext>
            </a:extLst>
          </p:cNvPr>
          <p:cNvPicPr>
            <a:picLocks noChangeAspect="1"/>
          </p:cNvPicPr>
          <p:nvPr/>
        </p:nvPicPr>
        <p:blipFill>
          <a:blip r:embed="rId4"/>
          <a:stretch>
            <a:fillRect/>
          </a:stretch>
        </p:blipFill>
        <p:spPr>
          <a:xfrm>
            <a:off x="10940614" y="-7620"/>
            <a:ext cx="1250008" cy="1250008"/>
          </a:xfrm>
          <a:prstGeom prst="rect">
            <a:avLst/>
          </a:prstGeom>
        </p:spPr>
      </p:pic>
      <p:pic>
        <p:nvPicPr>
          <p:cNvPr id="25" name="图片 24">
            <a:extLst>
              <a:ext uri="{FF2B5EF4-FFF2-40B4-BE49-F238E27FC236}">
                <a16:creationId xmlns:a16="http://schemas.microsoft.com/office/drawing/2014/main" id="{435F6F31-E821-75A7-4DA1-80AE70219540}"/>
              </a:ext>
            </a:extLst>
          </p:cNvPr>
          <p:cNvPicPr>
            <a:picLocks noChangeAspect="1"/>
          </p:cNvPicPr>
          <p:nvPr/>
        </p:nvPicPr>
        <p:blipFill>
          <a:blip r:embed="rId5"/>
          <a:stretch>
            <a:fillRect/>
          </a:stretch>
        </p:blipFill>
        <p:spPr>
          <a:xfrm>
            <a:off x="10940614" y="1242388"/>
            <a:ext cx="1259006" cy="3880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A37F-1BED-6CF0-9693-08A1C33BF2C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211E7C7-6639-3CE9-4E35-5D1D2500F5AD}"/>
              </a:ext>
            </a:extLst>
          </p:cNvPr>
          <p:cNvSpPr/>
          <p:nvPr/>
        </p:nvSpPr>
        <p:spPr>
          <a:xfrm>
            <a:off x="0" y="0"/>
            <a:ext cx="12192000" cy="6858000"/>
          </a:xfrm>
          <a:prstGeom prst="rect">
            <a:avLst/>
          </a:prstGeom>
          <a:solidFill>
            <a:srgbClr val="090B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eck-subtitle">
            <a:extLst>
              <a:ext uri="{FF2B5EF4-FFF2-40B4-BE49-F238E27FC236}">
                <a16:creationId xmlns:a16="http://schemas.microsoft.com/office/drawing/2014/main" id="{EB833A2C-0857-F1A5-E081-3199DD410AE8}"/>
              </a:ext>
            </a:extLst>
          </p:cNvPr>
          <p:cNvSpPr>
            <a:spLocks noGrp="1"/>
          </p:cNvSpPr>
          <p:nvPr/>
        </p:nvSpPr>
        <p:spPr>
          <a:xfrm>
            <a:off x="457200" y="2724150"/>
            <a:ext cx="10191750" cy="666750"/>
          </a:xfrm>
          <a:prstGeom prst="rect">
            <a:avLst/>
          </a:prstGeom>
          <a:noFill/>
          <a:ln w="0">
            <a:noFill/>
            <a:prstDash val="solid"/>
          </a:ln>
        </p:spPr>
        <p:txBody>
          <a:bodyPr anchor="t">
            <a:normAutofit/>
          </a:bodyPr>
          <a:lstStyle/>
          <a:p>
            <a:pPr algn="l">
              <a:buNone/>
              <a:defRPr sz="2850" b="0" i="0">
                <a:solidFill>
                  <a:srgbClr val="B9BAB5"/>
                </a:solidFill>
                <a:latin typeface="Arial"/>
                <a:ea typeface="Arial"/>
                <a:cs typeface="Arial"/>
              </a:defRPr>
            </a:pPr>
            <a:endParaRPr/>
          </a:p>
        </p:txBody>
      </p:sp>
      <p:sp>
        <p:nvSpPr>
          <p:cNvPr id="6" name="authors">
            <a:extLst>
              <a:ext uri="{FF2B5EF4-FFF2-40B4-BE49-F238E27FC236}">
                <a16:creationId xmlns:a16="http://schemas.microsoft.com/office/drawing/2014/main" id="{F366528B-8194-6598-42AF-72B7952E260E}"/>
              </a:ext>
            </a:extLst>
          </p:cNvPr>
          <p:cNvSpPr>
            <a:spLocks noGrp="1"/>
          </p:cNvSpPr>
          <p:nvPr/>
        </p:nvSpPr>
        <p:spPr>
          <a:xfrm>
            <a:off x="457200" y="4286250"/>
            <a:ext cx="7239000" cy="400050"/>
          </a:xfrm>
          <a:prstGeom prst="rect">
            <a:avLst/>
          </a:prstGeom>
          <a:noFill/>
          <a:ln w="0">
            <a:noFill/>
            <a:prstDash val="solid"/>
          </a:ln>
        </p:spPr>
        <p:txBody>
          <a:bodyPr anchor="t">
            <a:normAutofit/>
          </a:bodyPr>
          <a:lstStyle/>
          <a:p>
            <a:pPr algn="l">
              <a:buNone/>
              <a:defRPr sz="1950" b="1" i="0">
                <a:solidFill>
                  <a:srgbClr val="F5F5F2"/>
                </a:solidFill>
                <a:latin typeface="Arial"/>
                <a:ea typeface="Arial"/>
                <a:cs typeface="Arial"/>
              </a:defRPr>
            </a:pPr>
            <a:endParaRPr/>
          </a:p>
        </p:txBody>
      </p:sp>
      <p:pic>
        <p:nvPicPr>
          <p:cNvPr id="29" name="图片 15">
            <a:extLst>
              <a:ext uri="{FF2B5EF4-FFF2-40B4-BE49-F238E27FC236}">
                <a16:creationId xmlns:a16="http://schemas.microsoft.com/office/drawing/2014/main" id="{EAC82918-9983-39C1-3387-AD741A0C83CB}"/>
              </a:ext>
            </a:extLst>
          </p:cNvPr>
          <p:cNvPicPr>
            <a:picLocks noChangeAspect="1"/>
          </p:cNvPicPr>
          <p:nvPr/>
        </p:nvPicPr>
        <p:blipFill>
          <a:blip r:embed="rId3"/>
          <a:stretch>
            <a:fillRect/>
          </a:stretch>
        </p:blipFill>
        <p:spPr>
          <a:xfrm>
            <a:off x="1327922" y="1782767"/>
            <a:ext cx="2611300" cy="2611300"/>
          </a:xfrm>
          <a:prstGeom prst="rect">
            <a:avLst/>
          </a:prstGeom>
        </p:spPr>
      </p:pic>
      <p:sp>
        <p:nvSpPr>
          <p:cNvPr id="17" name="文本框 16">
            <a:extLst>
              <a:ext uri="{FF2B5EF4-FFF2-40B4-BE49-F238E27FC236}">
                <a16:creationId xmlns:a16="http://schemas.microsoft.com/office/drawing/2014/main" id="{4CAD8285-980B-6D62-CBA3-F0AA28BBCE53}"/>
              </a:ext>
            </a:extLst>
          </p:cNvPr>
          <p:cNvSpPr>
            <a:spLocks noGrp="1"/>
          </p:cNvSpPr>
          <p:nvPr/>
        </p:nvSpPr>
        <p:spPr>
          <a:xfrm>
            <a:off x="4579555" y="1782767"/>
            <a:ext cx="6972112" cy="3216265"/>
          </a:xfrm>
          <a:prstGeom prst="rect">
            <a:avLst/>
          </a:prstGeom>
          <a:noFill/>
        </p:spPr>
        <p:txBody>
          <a:bodyPr wrap="square">
            <a:spAutoFit/>
          </a:bodyPr>
          <a:lstStyle/>
          <a:p>
            <a:pPr>
              <a:spcBef>
                <a:spcPts val="600"/>
              </a:spcBef>
              <a:spcAft>
                <a:spcPts val="600"/>
              </a:spcAft>
              <a:buNone/>
            </a:pPr>
            <a:r>
              <a:rPr sz="2400" b="1" dirty="0">
                <a:solidFill>
                  <a:schemeClr val="bg1"/>
                </a:solidFill>
                <a:latin typeface="Arial Black"/>
                <a:ea typeface="Arial Black"/>
                <a:cs typeface="Arial Black"/>
              </a:rPr>
              <a:t>Shaoyuan Wu, </a:t>
            </a:r>
            <a:r>
              <a:rPr sz="2400" dirty="0">
                <a:solidFill>
                  <a:schemeClr val="bg1"/>
                </a:solidFill>
                <a:latin typeface="Arial Black"/>
                <a:ea typeface="Arial Black"/>
                <a:cs typeface="Arial Black"/>
              </a:rPr>
              <a:t>Ph.D., M.S., LL.M., B.S.</a:t>
            </a:r>
          </a:p>
          <a:p>
            <a:pPr marL="285750" indent="-285750">
              <a:spcBef>
                <a:spcPts val="600"/>
              </a:spcBef>
              <a:buChar char="•"/>
            </a:pPr>
            <a:r>
              <a:rPr dirty="0">
                <a:solidFill>
                  <a:schemeClr val="bg1"/>
                </a:solidFill>
                <a:latin typeface="Arial"/>
                <a:ea typeface="Arial"/>
                <a:cs typeface="Arial"/>
              </a:rPr>
              <a:t>Director, Global AI Governance and Policy Research Center, EPINOVA LLC</a:t>
            </a:r>
          </a:p>
          <a:p>
            <a:pPr marL="285750" indent="-285750">
              <a:spcBef>
                <a:spcPts val="600"/>
              </a:spcBef>
              <a:buChar char="•"/>
            </a:pPr>
            <a:r>
              <a:rPr dirty="0">
                <a:solidFill>
                  <a:schemeClr val="bg1"/>
                </a:solidFill>
                <a:latin typeface="Arial"/>
                <a:ea typeface="Arial"/>
                <a:cs typeface="Arial"/>
              </a:rPr>
              <a:t>Specially-invited Associate Professor, Sun Yat-sen University</a:t>
            </a:r>
          </a:p>
          <a:p>
            <a:pPr marL="285750" indent="-285750">
              <a:spcBef>
                <a:spcPts val="600"/>
              </a:spcBef>
              <a:buChar char="•"/>
            </a:pPr>
            <a:r>
              <a:rPr dirty="0">
                <a:solidFill>
                  <a:schemeClr val="bg1"/>
                </a:solidFill>
                <a:latin typeface="Arial"/>
                <a:ea typeface="Arial"/>
                <a:cs typeface="Arial"/>
              </a:rPr>
              <a:t>Assistant Professor, National Institute for South China Sea Studies</a:t>
            </a:r>
          </a:p>
          <a:p>
            <a:pPr>
              <a:spcBef>
                <a:spcPts val="600"/>
              </a:spcBef>
              <a:buNone/>
            </a:pPr>
            <a:endParaRPr lang="en-US" b="1" dirty="0">
              <a:solidFill>
                <a:schemeClr val="bg1"/>
              </a:solidFill>
              <a:latin typeface="Arial"/>
              <a:ea typeface="Arial"/>
              <a:cs typeface="Arial"/>
            </a:endParaRPr>
          </a:p>
          <a:p>
            <a:pPr>
              <a:spcBef>
                <a:spcPts val="600"/>
              </a:spcBef>
              <a:buNone/>
            </a:pPr>
            <a:r>
              <a:rPr lang="en-US" b="1" dirty="0">
                <a:solidFill>
                  <a:schemeClr val="bg1"/>
                </a:solidFill>
                <a:latin typeface="Arial"/>
                <a:ea typeface="Arial"/>
                <a:cs typeface="Arial"/>
              </a:rPr>
              <a:t>Email: </a:t>
            </a:r>
            <a:r>
              <a:rPr dirty="0">
                <a:solidFill>
                  <a:schemeClr val="bg1"/>
                </a:solidFill>
                <a:latin typeface="Arial"/>
                <a:ea typeface="Arial"/>
                <a:cs typeface="Arial"/>
                <a:hlinkClick r:id="rId4">
                  <a:extLst>
                    <a:ext uri="{A12FA001-AC4F-418D-AE19-62706E023703}">
                      <ahyp:hlinkClr xmlns:ahyp="http://schemas.microsoft.com/office/drawing/2018/hyperlinkcolor" val="tx"/>
                    </a:ext>
                  </a:extLst>
                </a:hlinkClick>
              </a:rPr>
              <a:t>sywu@epinova.org</a:t>
            </a:r>
            <a:r>
              <a:rPr lang="en-US" dirty="0">
                <a:solidFill>
                  <a:schemeClr val="bg1"/>
                </a:solidFill>
                <a:latin typeface="Arial"/>
                <a:ea typeface="Arial"/>
                <a:cs typeface="Arial"/>
              </a:rPr>
              <a:t> </a:t>
            </a:r>
            <a:endParaRPr dirty="0">
              <a:solidFill>
                <a:schemeClr val="bg1"/>
              </a:solidFill>
              <a:latin typeface="Arial"/>
              <a:ea typeface="Arial"/>
              <a:cs typeface="Arial"/>
            </a:endParaRPr>
          </a:p>
          <a:p>
            <a:pPr>
              <a:spcBef>
                <a:spcPts val="600"/>
              </a:spcBef>
              <a:buNone/>
            </a:pPr>
            <a:r>
              <a:rPr b="1" dirty="0">
                <a:solidFill>
                  <a:schemeClr val="bg1"/>
                </a:solidFill>
                <a:latin typeface="Arial"/>
                <a:ea typeface="Arial"/>
                <a:cs typeface="Arial"/>
              </a:rPr>
              <a:t>ORCID:</a:t>
            </a:r>
            <a:r>
              <a:rPr dirty="0">
                <a:solidFill>
                  <a:schemeClr val="bg1"/>
                </a:solidFill>
                <a:latin typeface="Arial"/>
                <a:ea typeface="Arial"/>
                <a:cs typeface="Arial"/>
              </a:rPr>
              <a:t> 0009-0008-0660-8232</a:t>
            </a:r>
          </a:p>
        </p:txBody>
      </p:sp>
      <p:sp>
        <p:nvSpPr>
          <p:cNvPr id="21" name="矩形 20">
            <a:extLst>
              <a:ext uri="{FF2B5EF4-FFF2-40B4-BE49-F238E27FC236}">
                <a16:creationId xmlns:a16="http://schemas.microsoft.com/office/drawing/2014/main" id="{4BE5CD94-FD7A-0108-E51B-F3F46FD65301}"/>
              </a:ext>
            </a:extLst>
          </p:cNvPr>
          <p:cNvSpPr>
            <a:spLocks noGrp="1"/>
          </p:cNvSpPr>
          <p:nvPr/>
        </p:nvSpPr>
        <p:spPr>
          <a:xfrm>
            <a:off x="0" y="0"/>
            <a:ext cx="206041"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buNone/>
            </a:pPr>
            <a:endParaRPr/>
          </a:p>
        </p:txBody>
      </p:sp>
      <p:sp>
        <p:nvSpPr>
          <p:cNvPr id="23" name="矩形 22">
            <a:extLst>
              <a:ext uri="{FF2B5EF4-FFF2-40B4-BE49-F238E27FC236}">
                <a16:creationId xmlns:a16="http://schemas.microsoft.com/office/drawing/2014/main" id="{E4C1B1DF-1AB6-2375-9C9C-7F69F4C4F2D2}"/>
              </a:ext>
            </a:extLst>
          </p:cNvPr>
          <p:cNvSpPr>
            <a:spLocks noGrp="1"/>
          </p:cNvSpPr>
          <p:nvPr/>
        </p:nvSpPr>
        <p:spPr>
          <a:xfrm>
            <a:off x="328863" y="5986"/>
            <a:ext cx="128337" cy="6858000"/>
          </a:xfrm>
          <a:prstGeom prst="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None/>
            </a:pPr>
            <a:endParaRPr/>
          </a:p>
        </p:txBody>
      </p:sp>
    </p:spTree>
    <p:extLst>
      <p:ext uri="{BB962C8B-B14F-4D97-AF65-F5344CB8AC3E}">
        <p14:creationId xmlns:p14="http://schemas.microsoft.com/office/powerpoint/2010/main" val="90111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208C-AEC2-A424-0603-13217ADC82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5BC64CD-A7AA-8037-FCBC-6A0F5E0B41FD}"/>
              </a:ext>
            </a:extLst>
          </p:cNvPr>
          <p:cNvSpPr/>
          <p:nvPr/>
        </p:nvSpPr>
        <p:spPr>
          <a:xfrm>
            <a:off x="0" y="0"/>
            <a:ext cx="12192000" cy="6858000"/>
          </a:xfrm>
          <a:prstGeom prst="rect">
            <a:avLst/>
          </a:prstGeom>
          <a:solidFill>
            <a:srgbClr val="090B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uthors">
            <a:extLst>
              <a:ext uri="{FF2B5EF4-FFF2-40B4-BE49-F238E27FC236}">
                <a16:creationId xmlns:a16="http://schemas.microsoft.com/office/drawing/2014/main" id="{38F77FB8-EB50-4311-E52A-84DEF867B7FE}"/>
              </a:ext>
            </a:extLst>
          </p:cNvPr>
          <p:cNvSpPr>
            <a:spLocks noGrp="1"/>
          </p:cNvSpPr>
          <p:nvPr/>
        </p:nvSpPr>
        <p:spPr>
          <a:xfrm>
            <a:off x="457200" y="4286250"/>
            <a:ext cx="7239000" cy="400050"/>
          </a:xfrm>
          <a:prstGeom prst="rect">
            <a:avLst/>
          </a:prstGeom>
          <a:noFill/>
          <a:ln w="0">
            <a:noFill/>
            <a:prstDash val="solid"/>
          </a:ln>
        </p:spPr>
        <p:txBody>
          <a:bodyPr anchor="t">
            <a:normAutofit/>
          </a:bodyPr>
          <a:lstStyle/>
          <a:p>
            <a:pPr algn="l">
              <a:buNone/>
              <a:defRPr sz="1950" b="1" i="0">
                <a:solidFill>
                  <a:srgbClr val="F5F5F2"/>
                </a:solidFill>
                <a:latin typeface="Arial"/>
                <a:ea typeface="Arial"/>
                <a:cs typeface="Arial"/>
              </a:defRPr>
            </a:pPr>
            <a:endParaRPr/>
          </a:p>
        </p:txBody>
      </p:sp>
      <p:sp>
        <p:nvSpPr>
          <p:cNvPr id="21" name="矩形 20">
            <a:extLst>
              <a:ext uri="{FF2B5EF4-FFF2-40B4-BE49-F238E27FC236}">
                <a16:creationId xmlns:a16="http://schemas.microsoft.com/office/drawing/2014/main" id="{9B4E9613-5D98-FFB6-0891-F7C861A51086}"/>
              </a:ext>
            </a:extLst>
          </p:cNvPr>
          <p:cNvSpPr>
            <a:spLocks noGrp="1"/>
          </p:cNvSpPr>
          <p:nvPr/>
        </p:nvSpPr>
        <p:spPr>
          <a:xfrm>
            <a:off x="0" y="0"/>
            <a:ext cx="206041"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buNone/>
            </a:pPr>
            <a:endParaRPr/>
          </a:p>
        </p:txBody>
      </p:sp>
      <p:sp>
        <p:nvSpPr>
          <p:cNvPr id="23" name="矩形 22">
            <a:extLst>
              <a:ext uri="{FF2B5EF4-FFF2-40B4-BE49-F238E27FC236}">
                <a16:creationId xmlns:a16="http://schemas.microsoft.com/office/drawing/2014/main" id="{7975A75C-50F9-D7C2-3821-C1931D6EF4CE}"/>
              </a:ext>
            </a:extLst>
          </p:cNvPr>
          <p:cNvSpPr>
            <a:spLocks noGrp="1"/>
          </p:cNvSpPr>
          <p:nvPr/>
        </p:nvSpPr>
        <p:spPr>
          <a:xfrm>
            <a:off x="328863" y="5986"/>
            <a:ext cx="128337" cy="6858000"/>
          </a:xfrm>
          <a:prstGeom prst="rect">
            <a:avLst/>
          </a:prstGeom>
          <a:ln>
            <a:noFill/>
          </a:ln>
        </p:spPr>
        <p:style>
          <a:lnRef idx="1">
            <a:schemeClr val="dk1"/>
          </a:lnRef>
          <a:fillRef idx="2">
            <a:schemeClr val="dk1"/>
          </a:fillRef>
          <a:effectRef idx="1">
            <a:schemeClr val="dk1"/>
          </a:effectRef>
          <a:fontRef idx="minor">
            <a:schemeClr val="dk1"/>
          </a:fontRef>
        </p:style>
        <p:txBody>
          <a:bodyPr anchor="ctr"/>
          <a:lstStyle/>
          <a:p>
            <a:pPr algn="ctr">
              <a:buNone/>
            </a:pPr>
            <a:endParaRPr/>
          </a:p>
        </p:txBody>
      </p:sp>
      <p:sp>
        <p:nvSpPr>
          <p:cNvPr id="3" name="文本框 2">
            <a:extLst>
              <a:ext uri="{FF2B5EF4-FFF2-40B4-BE49-F238E27FC236}">
                <a16:creationId xmlns:a16="http://schemas.microsoft.com/office/drawing/2014/main" id="{20461E1A-7582-992E-2EBE-555CA64DFF46}"/>
              </a:ext>
            </a:extLst>
          </p:cNvPr>
          <p:cNvSpPr>
            <a:spLocks noGrp="1"/>
          </p:cNvSpPr>
          <p:nvPr/>
        </p:nvSpPr>
        <p:spPr>
          <a:xfrm>
            <a:off x="1281113" y="1587727"/>
            <a:ext cx="2984272" cy="553998"/>
          </a:xfrm>
          <a:prstGeom prst="rect">
            <a:avLst/>
          </a:prstGeom>
          <a:noFill/>
        </p:spPr>
        <p:txBody>
          <a:bodyPr wrap="square">
            <a:spAutoFit/>
          </a:bodyPr>
          <a:lstStyle/>
          <a:p>
            <a:pPr>
              <a:buNone/>
            </a:pPr>
            <a:r>
              <a:rPr sz="3000" dirty="0">
                <a:solidFill>
                  <a:schemeClr val="bg1"/>
                </a:solidFill>
                <a:effectLst>
                  <a:outerShdw blurRad="38100" dist="38100" dir="2700000" algn="tl">
                    <a:srgbClr val="000000">
                      <a:alpha val="43137"/>
                    </a:srgbClr>
                  </a:outerShdw>
                </a:effectLst>
                <a:latin typeface="Arial Black"/>
                <a:ea typeface="Arial Black"/>
                <a:cs typeface="Arial Black"/>
              </a:rPr>
              <a:t>CONTENTS</a:t>
            </a:r>
          </a:p>
        </p:txBody>
      </p:sp>
      <p:sp>
        <p:nvSpPr>
          <p:cNvPr id="7" name="矩形 6">
            <a:extLst>
              <a:ext uri="{FF2B5EF4-FFF2-40B4-BE49-F238E27FC236}">
                <a16:creationId xmlns:a16="http://schemas.microsoft.com/office/drawing/2014/main" id="{A37F07BB-AFF8-F5EE-CA82-AACDAF60C1B2}"/>
              </a:ext>
            </a:extLst>
          </p:cNvPr>
          <p:cNvSpPr>
            <a:spLocks noGrp="1"/>
          </p:cNvSpPr>
          <p:nvPr/>
        </p:nvSpPr>
        <p:spPr>
          <a:xfrm>
            <a:off x="4236928" y="1681948"/>
            <a:ext cx="45719" cy="4058011"/>
          </a:xfrm>
          <a:prstGeom prst="rect">
            <a:avLst/>
          </a:prstGeom>
          <a:gradFill rotWithShape="1">
            <a:gsLst>
              <a:gs pos="0">
                <a:schemeClr val="dk1">
                  <a:tint val="67000"/>
                  <a:lumMod val="110000"/>
                  <a:satMod val="105000"/>
                </a:schemeClr>
              </a:gs>
              <a:gs pos="50000">
                <a:schemeClr val="dk1">
                  <a:tint val="73000"/>
                  <a:lumMod val="105000"/>
                  <a:satMod val="103000"/>
                </a:schemeClr>
              </a:gs>
              <a:gs pos="100000">
                <a:schemeClr val="dk1">
                  <a:tint val="81000"/>
                  <a:lumMod val="105000"/>
                  <a:satMod val="109000"/>
                </a:schemeClr>
              </a:gs>
            </a:gsLst>
            <a:path path="circl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anchor="ctr"/>
          <a:lstStyle/>
          <a:p>
            <a:pPr algn="ctr">
              <a:buNone/>
            </a:pPr>
            <a:endParaRPr/>
          </a:p>
        </p:txBody>
      </p:sp>
      <p:sp>
        <p:nvSpPr>
          <p:cNvPr id="12" name="文本框 11">
            <a:extLst>
              <a:ext uri="{FF2B5EF4-FFF2-40B4-BE49-F238E27FC236}">
                <a16:creationId xmlns:a16="http://schemas.microsoft.com/office/drawing/2014/main" id="{DE786631-9EE2-44DE-B1BC-726B4B3E636E}"/>
              </a:ext>
            </a:extLst>
          </p:cNvPr>
          <p:cNvSpPr>
            <a:spLocks noGrp="1"/>
          </p:cNvSpPr>
          <p:nvPr/>
        </p:nvSpPr>
        <p:spPr>
          <a:xfrm>
            <a:off x="4635844" y="2237406"/>
            <a:ext cx="1352741" cy="492443"/>
          </a:xfrm>
          <a:prstGeom prst="rect">
            <a:avLst/>
          </a:prstGeom>
          <a:noFill/>
        </p:spPr>
        <p:txBody>
          <a:bodyPr wrap="square">
            <a:spAutoFit/>
          </a:bodyPr>
          <a:lstStyle/>
          <a:p>
            <a:r>
              <a:rPr sz="2600" b="1" dirty="0">
                <a:solidFill>
                  <a:schemeClr val="bg1"/>
                </a:solidFill>
                <a:latin typeface="Arial Black"/>
                <a:ea typeface="Arial Black"/>
                <a:cs typeface="Arial Black"/>
              </a:rPr>
              <a:t>01</a:t>
            </a:r>
          </a:p>
        </p:txBody>
      </p:sp>
      <p:sp>
        <p:nvSpPr>
          <p:cNvPr id="14" name="文本框 13">
            <a:extLst>
              <a:ext uri="{FF2B5EF4-FFF2-40B4-BE49-F238E27FC236}">
                <a16:creationId xmlns:a16="http://schemas.microsoft.com/office/drawing/2014/main" id="{EB3016A3-3DD5-5FB2-B281-1BBF351A42F4}"/>
              </a:ext>
            </a:extLst>
          </p:cNvPr>
          <p:cNvSpPr>
            <a:spLocks noGrp="1"/>
          </p:cNvSpPr>
          <p:nvPr/>
        </p:nvSpPr>
        <p:spPr>
          <a:xfrm>
            <a:off x="5497578" y="2251634"/>
            <a:ext cx="5640539" cy="492443"/>
          </a:xfrm>
          <a:prstGeom prst="rect">
            <a:avLst/>
          </a:prstGeom>
          <a:noFill/>
        </p:spPr>
        <p:txBody>
          <a:bodyPr wrap="square">
            <a:spAutoFit/>
          </a:bodyPr>
          <a:lstStyle/>
          <a:p>
            <a:pPr>
              <a:buNone/>
            </a:pPr>
            <a:r>
              <a:rPr lang="en-US" sz="2600" b="1" dirty="0">
                <a:solidFill>
                  <a:schemeClr val="bg1"/>
                </a:solidFill>
                <a:latin typeface="Arial Black"/>
                <a:ea typeface="Arial Black"/>
                <a:cs typeface="Arial Black"/>
              </a:rPr>
              <a:t>Definition and Analytical Unit</a:t>
            </a:r>
            <a:endParaRPr sz="2600" b="1" dirty="0">
              <a:solidFill>
                <a:schemeClr val="bg1"/>
              </a:solidFill>
              <a:latin typeface="Arial Black"/>
              <a:ea typeface="Arial Black"/>
              <a:cs typeface="Arial Black"/>
            </a:endParaRPr>
          </a:p>
        </p:txBody>
      </p:sp>
      <p:sp>
        <p:nvSpPr>
          <p:cNvPr id="22" name="文本框 21">
            <a:extLst>
              <a:ext uri="{FF2B5EF4-FFF2-40B4-BE49-F238E27FC236}">
                <a16:creationId xmlns:a16="http://schemas.microsoft.com/office/drawing/2014/main" id="{518A16DB-FF94-D3E2-F271-EC72306D6134}"/>
              </a:ext>
            </a:extLst>
          </p:cNvPr>
          <p:cNvSpPr>
            <a:spLocks noGrp="1"/>
          </p:cNvSpPr>
          <p:nvPr/>
        </p:nvSpPr>
        <p:spPr>
          <a:xfrm>
            <a:off x="4631651" y="3032612"/>
            <a:ext cx="1352741" cy="492443"/>
          </a:xfrm>
          <a:prstGeom prst="rect">
            <a:avLst/>
          </a:prstGeom>
          <a:noFill/>
        </p:spPr>
        <p:txBody>
          <a:bodyPr wrap="square">
            <a:spAutoFit/>
          </a:bodyPr>
          <a:lstStyle/>
          <a:p>
            <a:r>
              <a:rPr sz="2600" b="1" dirty="0">
                <a:solidFill>
                  <a:schemeClr val="bg1"/>
                </a:solidFill>
                <a:latin typeface="Arial Black"/>
                <a:ea typeface="Arial Black"/>
                <a:cs typeface="Arial Black"/>
              </a:rPr>
              <a:t>02</a:t>
            </a:r>
          </a:p>
        </p:txBody>
      </p:sp>
      <p:sp>
        <p:nvSpPr>
          <p:cNvPr id="25" name="文本框 24">
            <a:extLst>
              <a:ext uri="{FF2B5EF4-FFF2-40B4-BE49-F238E27FC236}">
                <a16:creationId xmlns:a16="http://schemas.microsoft.com/office/drawing/2014/main" id="{BB6D28C2-1B20-2E9D-FC4E-92CB41E3E424}"/>
              </a:ext>
            </a:extLst>
          </p:cNvPr>
          <p:cNvSpPr>
            <a:spLocks noGrp="1"/>
          </p:cNvSpPr>
          <p:nvPr/>
        </p:nvSpPr>
        <p:spPr>
          <a:xfrm>
            <a:off x="5493385" y="3046840"/>
            <a:ext cx="4782999" cy="492443"/>
          </a:xfrm>
          <a:prstGeom prst="rect">
            <a:avLst/>
          </a:prstGeom>
          <a:noFill/>
        </p:spPr>
        <p:txBody>
          <a:bodyPr wrap="square">
            <a:spAutoFit/>
          </a:bodyPr>
          <a:lstStyle>
            <a:lvl1pPr>
              <a:buNone/>
              <a:defRPr sz="2000" b="1">
                <a:latin typeface="微软雅黑"/>
                <a:ea typeface="微软雅黑"/>
                <a:cs typeface="微软雅黑"/>
              </a:defRPr>
            </a:lvl1pPr>
          </a:lstStyle>
          <a:p>
            <a:r>
              <a:rPr lang="en-US" sz="2600" dirty="0">
                <a:solidFill>
                  <a:schemeClr val="bg1"/>
                </a:solidFill>
                <a:latin typeface="Arial Black"/>
                <a:ea typeface="Arial Black"/>
                <a:cs typeface="Arial Black"/>
              </a:rPr>
              <a:t>Conceptual Framework</a:t>
            </a:r>
            <a:endParaRPr sz="2600" dirty="0">
              <a:solidFill>
                <a:schemeClr val="bg1"/>
              </a:solidFill>
              <a:latin typeface="Arial Black"/>
              <a:ea typeface="Arial Black"/>
              <a:cs typeface="Arial Black"/>
            </a:endParaRPr>
          </a:p>
        </p:txBody>
      </p:sp>
      <p:sp>
        <p:nvSpPr>
          <p:cNvPr id="28" name="文本框 27">
            <a:extLst>
              <a:ext uri="{FF2B5EF4-FFF2-40B4-BE49-F238E27FC236}">
                <a16:creationId xmlns:a16="http://schemas.microsoft.com/office/drawing/2014/main" id="{BC83A867-2ACC-A322-3AF7-F43B6A8193D9}"/>
              </a:ext>
            </a:extLst>
          </p:cNvPr>
          <p:cNvSpPr>
            <a:spLocks noGrp="1"/>
          </p:cNvSpPr>
          <p:nvPr/>
        </p:nvSpPr>
        <p:spPr>
          <a:xfrm>
            <a:off x="4631651" y="3802061"/>
            <a:ext cx="1352741" cy="492443"/>
          </a:xfrm>
          <a:prstGeom prst="rect">
            <a:avLst/>
          </a:prstGeom>
          <a:noFill/>
        </p:spPr>
        <p:txBody>
          <a:bodyPr wrap="square">
            <a:spAutoFit/>
          </a:bodyPr>
          <a:lstStyle/>
          <a:p>
            <a:r>
              <a:rPr sz="2600" b="1" dirty="0">
                <a:solidFill>
                  <a:schemeClr val="bg1"/>
                </a:solidFill>
                <a:latin typeface="Arial Black"/>
                <a:ea typeface="Arial Black"/>
                <a:cs typeface="Arial Black"/>
              </a:rPr>
              <a:t>03</a:t>
            </a:r>
          </a:p>
        </p:txBody>
      </p:sp>
      <p:sp>
        <p:nvSpPr>
          <p:cNvPr id="30" name="文本框 29">
            <a:extLst>
              <a:ext uri="{FF2B5EF4-FFF2-40B4-BE49-F238E27FC236}">
                <a16:creationId xmlns:a16="http://schemas.microsoft.com/office/drawing/2014/main" id="{4608DD3E-6FA5-1040-B23A-FD678C36C8D7}"/>
              </a:ext>
            </a:extLst>
          </p:cNvPr>
          <p:cNvSpPr>
            <a:spLocks noGrp="1"/>
          </p:cNvSpPr>
          <p:nvPr/>
        </p:nvSpPr>
        <p:spPr>
          <a:xfrm>
            <a:off x="5493386" y="3813590"/>
            <a:ext cx="4514116" cy="492443"/>
          </a:xfrm>
          <a:prstGeom prst="rect">
            <a:avLst/>
          </a:prstGeom>
          <a:noFill/>
        </p:spPr>
        <p:txBody>
          <a:bodyPr wrap="square">
            <a:spAutoFit/>
          </a:bodyPr>
          <a:lstStyle>
            <a:lvl1pPr>
              <a:buNone/>
              <a:defRPr sz="2000" b="1">
                <a:latin typeface="微软雅黑"/>
                <a:ea typeface="微软雅黑"/>
                <a:cs typeface="微软雅黑"/>
              </a:defRPr>
            </a:lvl1pPr>
          </a:lstStyle>
          <a:p>
            <a:r>
              <a:rPr lang="en-US" sz="2600" dirty="0">
                <a:solidFill>
                  <a:schemeClr val="bg1"/>
                </a:solidFill>
                <a:latin typeface="Arial Black"/>
                <a:ea typeface="Arial Black"/>
                <a:cs typeface="Arial Black"/>
              </a:rPr>
              <a:t>Three cases</a:t>
            </a:r>
            <a:r>
              <a:rPr sz="2600" dirty="0">
                <a:solidFill>
                  <a:schemeClr val="bg1"/>
                </a:solidFill>
                <a:latin typeface="Arial Black"/>
                <a:ea typeface="Arial Black"/>
                <a:cs typeface="Arial Black"/>
              </a:rPr>
              <a:t> </a:t>
            </a:r>
          </a:p>
        </p:txBody>
      </p:sp>
      <p:sp>
        <p:nvSpPr>
          <p:cNvPr id="33" name="文本框 32">
            <a:extLst>
              <a:ext uri="{FF2B5EF4-FFF2-40B4-BE49-F238E27FC236}">
                <a16:creationId xmlns:a16="http://schemas.microsoft.com/office/drawing/2014/main" id="{C737EE28-2C51-1C92-4F56-EB5CD584E38E}"/>
              </a:ext>
            </a:extLst>
          </p:cNvPr>
          <p:cNvSpPr>
            <a:spLocks noGrp="1"/>
          </p:cNvSpPr>
          <p:nvPr/>
        </p:nvSpPr>
        <p:spPr>
          <a:xfrm>
            <a:off x="4631651" y="4542724"/>
            <a:ext cx="1543871" cy="492443"/>
          </a:xfrm>
          <a:prstGeom prst="rect">
            <a:avLst/>
          </a:prstGeom>
          <a:noFill/>
        </p:spPr>
        <p:txBody>
          <a:bodyPr wrap="square">
            <a:spAutoFit/>
          </a:bodyPr>
          <a:lstStyle/>
          <a:p>
            <a:r>
              <a:rPr sz="2600" b="1" dirty="0">
                <a:solidFill>
                  <a:schemeClr val="bg1"/>
                </a:solidFill>
                <a:latin typeface="Arial Black"/>
                <a:ea typeface="Arial Black"/>
                <a:cs typeface="Arial Black"/>
              </a:rPr>
              <a:t>04</a:t>
            </a:r>
          </a:p>
        </p:txBody>
      </p:sp>
      <p:sp>
        <p:nvSpPr>
          <p:cNvPr id="35" name="文本框 34">
            <a:extLst>
              <a:ext uri="{FF2B5EF4-FFF2-40B4-BE49-F238E27FC236}">
                <a16:creationId xmlns:a16="http://schemas.microsoft.com/office/drawing/2014/main" id="{4EF4C560-8C32-9F56-4885-71479EC22EC3}"/>
              </a:ext>
            </a:extLst>
          </p:cNvPr>
          <p:cNvSpPr>
            <a:spLocks noGrp="1"/>
          </p:cNvSpPr>
          <p:nvPr/>
        </p:nvSpPr>
        <p:spPr>
          <a:xfrm>
            <a:off x="5493388" y="4561621"/>
            <a:ext cx="5240287" cy="492443"/>
          </a:xfrm>
          <a:prstGeom prst="rect">
            <a:avLst/>
          </a:prstGeom>
          <a:noFill/>
        </p:spPr>
        <p:txBody>
          <a:bodyPr wrap="square">
            <a:spAutoFit/>
          </a:bodyPr>
          <a:lstStyle>
            <a:lvl1pPr>
              <a:buNone/>
              <a:defRPr sz="2000" b="1">
                <a:latin typeface="微软雅黑"/>
                <a:ea typeface="微软雅黑"/>
                <a:cs typeface="微软雅黑"/>
              </a:defRPr>
            </a:lvl1pPr>
          </a:lstStyle>
          <a:p>
            <a:r>
              <a:rPr lang="en-US" sz="2600" dirty="0">
                <a:solidFill>
                  <a:schemeClr val="bg1"/>
                </a:solidFill>
                <a:latin typeface="Arial Black"/>
                <a:ea typeface="Arial Black"/>
                <a:cs typeface="Arial Black"/>
              </a:rPr>
              <a:t>Implications</a:t>
            </a:r>
          </a:p>
        </p:txBody>
      </p:sp>
      <p:sp>
        <p:nvSpPr>
          <p:cNvPr id="5" name="文本框 32">
            <a:extLst>
              <a:ext uri="{FF2B5EF4-FFF2-40B4-BE49-F238E27FC236}">
                <a16:creationId xmlns:a16="http://schemas.microsoft.com/office/drawing/2014/main" id="{DAE830D3-8BAC-B246-CBC2-B869E7834E8D}"/>
              </a:ext>
            </a:extLst>
          </p:cNvPr>
          <p:cNvSpPr>
            <a:spLocks noGrp="1"/>
          </p:cNvSpPr>
          <p:nvPr/>
        </p:nvSpPr>
        <p:spPr>
          <a:xfrm>
            <a:off x="4631651" y="5247516"/>
            <a:ext cx="1543871" cy="492443"/>
          </a:xfrm>
          <a:prstGeom prst="rect">
            <a:avLst/>
          </a:prstGeom>
          <a:noFill/>
        </p:spPr>
        <p:txBody>
          <a:bodyPr wrap="square">
            <a:spAutoFit/>
          </a:bodyPr>
          <a:lstStyle/>
          <a:p>
            <a:r>
              <a:rPr sz="2600" b="1" dirty="0">
                <a:solidFill>
                  <a:schemeClr val="bg1"/>
                </a:solidFill>
                <a:latin typeface="Arial Black"/>
                <a:ea typeface="Arial Black"/>
                <a:cs typeface="Arial Black"/>
              </a:rPr>
              <a:t>0</a:t>
            </a:r>
            <a:r>
              <a:rPr lang="en-US" sz="2600" b="1" dirty="0">
                <a:solidFill>
                  <a:schemeClr val="bg1"/>
                </a:solidFill>
                <a:latin typeface="Arial Black"/>
                <a:ea typeface="Arial Black"/>
                <a:cs typeface="Arial Black"/>
              </a:rPr>
              <a:t>5</a:t>
            </a:r>
            <a:endParaRPr sz="2600" b="1" dirty="0">
              <a:solidFill>
                <a:schemeClr val="bg1"/>
              </a:solidFill>
              <a:latin typeface="Arial Black"/>
              <a:ea typeface="Arial Black"/>
              <a:cs typeface="Arial Black"/>
            </a:endParaRPr>
          </a:p>
        </p:txBody>
      </p:sp>
      <p:sp>
        <p:nvSpPr>
          <p:cNvPr id="9" name="文本框 34">
            <a:extLst>
              <a:ext uri="{FF2B5EF4-FFF2-40B4-BE49-F238E27FC236}">
                <a16:creationId xmlns:a16="http://schemas.microsoft.com/office/drawing/2014/main" id="{A6059BA7-A721-720B-6774-E916AD68E15C}"/>
              </a:ext>
            </a:extLst>
          </p:cNvPr>
          <p:cNvSpPr>
            <a:spLocks noGrp="1"/>
          </p:cNvSpPr>
          <p:nvPr/>
        </p:nvSpPr>
        <p:spPr>
          <a:xfrm>
            <a:off x="5493388" y="5266413"/>
            <a:ext cx="5240287" cy="492443"/>
          </a:xfrm>
          <a:prstGeom prst="rect">
            <a:avLst/>
          </a:prstGeom>
          <a:noFill/>
        </p:spPr>
        <p:txBody>
          <a:bodyPr wrap="square">
            <a:spAutoFit/>
          </a:bodyPr>
          <a:lstStyle>
            <a:lvl1pPr>
              <a:buNone/>
              <a:defRPr sz="2000" b="1">
                <a:latin typeface="微软雅黑"/>
                <a:ea typeface="微软雅黑"/>
                <a:cs typeface="微软雅黑"/>
              </a:defRPr>
            </a:lvl1pPr>
          </a:lstStyle>
          <a:p>
            <a:r>
              <a:rPr lang="en-US" sz="2600" dirty="0">
                <a:solidFill>
                  <a:schemeClr val="bg1"/>
                </a:solidFill>
                <a:latin typeface="Arial Black"/>
                <a:ea typeface="Arial Black"/>
                <a:cs typeface="Arial Black"/>
              </a:rPr>
              <a:t>Conclusion</a:t>
            </a:r>
          </a:p>
        </p:txBody>
      </p:sp>
    </p:spTree>
    <p:extLst>
      <p:ext uri="{BB962C8B-B14F-4D97-AF65-F5344CB8AC3E}">
        <p14:creationId xmlns:p14="http://schemas.microsoft.com/office/powerpoint/2010/main" val="2101456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7955280" cy="502920"/>
          </a:xfrm>
          <a:prstGeom prst="rect">
            <a:avLst/>
          </a:prstGeom>
          <a:noFill/>
          <a:ln/>
        </p:spPr>
        <p:txBody>
          <a:bodyPr wrap="square" lIns="0" tIns="0" rIns="0" bIns="0" rtlCol="0" anchor="ctr"/>
          <a:lstStyle/>
          <a:p>
            <a:r>
              <a:rPr lang="en-US" sz="2800" b="1" dirty="0">
                <a:solidFill>
                  <a:srgbClr val="F3F1E8"/>
                </a:solidFill>
                <a:latin typeface="Aptos Display" pitchFamily="34" charset="0"/>
                <a:ea typeface="Aptos Display" pitchFamily="34" charset="-122"/>
                <a:cs typeface="Aptos Display" pitchFamily="34" charset="-120"/>
              </a:rPr>
              <a:t>1. Definition and Analytical Unit</a:t>
            </a:r>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6" name="Text 4"/>
          <p:cNvSpPr/>
          <p:nvPr/>
        </p:nvSpPr>
        <p:spPr>
          <a:xfrm>
            <a:off x="512064" y="1600200"/>
            <a:ext cx="4745736" cy="384040"/>
          </a:xfrm>
          <a:prstGeom prst="rect">
            <a:avLst/>
          </a:prstGeom>
          <a:noFill/>
          <a:ln/>
        </p:spPr>
        <p:txBody>
          <a:bodyPr wrap="square" lIns="0" tIns="0" rIns="0" bIns="0" rtlCol="0" anchor="ctr"/>
          <a:lstStyle/>
          <a:p>
            <a:pPr marL="0" indent="0">
              <a:buNone/>
            </a:pPr>
            <a:r>
              <a:rPr lang="en-US" sz="2000" b="1" dirty="0">
                <a:solidFill>
                  <a:srgbClr val="8C949E"/>
                </a:solidFill>
              </a:rPr>
              <a:t>Buffer-State </a:t>
            </a:r>
            <a:r>
              <a:rPr lang="en-US" altLang="zh-CN" sz="2000" b="1" dirty="0">
                <a:solidFill>
                  <a:srgbClr val="8C949E"/>
                </a:solidFill>
              </a:rPr>
              <a:t>Q</a:t>
            </a:r>
            <a:r>
              <a:rPr lang="en-US" sz="2000" b="1" dirty="0">
                <a:solidFill>
                  <a:srgbClr val="8C949E"/>
                </a:solidFill>
              </a:rPr>
              <a:t>uestion</a:t>
            </a:r>
            <a:endParaRPr lang="en-US" sz="2000" dirty="0"/>
          </a:p>
        </p:txBody>
      </p:sp>
      <p:sp>
        <p:nvSpPr>
          <p:cNvPr id="7" name="Text 5"/>
          <p:cNvSpPr/>
          <p:nvPr/>
        </p:nvSpPr>
        <p:spPr>
          <a:xfrm>
            <a:off x="496824" y="2084832"/>
            <a:ext cx="4760976" cy="822487"/>
          </a:xfrm>
          <a:prstGeom prst="roundRect">
            <a:avLst>
              <a:gd name="adj" fmla="val 8333"/>
            </a:avLst>
          </a:prstGeom>
          <a:solidFill>
            <a:srgbClr val="121821"/>
          </a:solidFill>
          <a:ln w="10160">
            <a:solidFill>
              <a:srgbClr val="394655"/>
            </a:solidFill>
          </a:ln>
        </p:spPr>
        <p:txBody>
          <a:bodyPr wrap="square" lIns="1524" tIns="1524" rIns="1524" bIns="1524" rtlCol="0" anchor="ctr"/>
          <a:lstStyle/>
          <a:p>
            <a:pPr marL="182880" indent="0" algn="l">
              <a:buNone/>
            </a:pPr>
            <a:r>
              <a:rPr lang="en-US" sz="1700" b="1" dirty="0">
                <a:solidFill>
                  <a:srgbClr val="F3F1E8"/>
                </a:solidFill>
              </a:rPr>
              <a:t>How does territorial position between stronger powers constrain a state’s options?</a:t>
            </a:r>
            <a:endParaRPr lang="en-US" sz="1700" dirty="0"/>
          </a:p>
        </p:txBody>
      </p:sp>
      <p:sp>
        <p:nvSpPr>
          <p:cNvPr id="8" name="Text 6"/>
          <p:cNvSpPr/>
          <p:nvPr/>
        </p:nvSpPr>
        <p:spPr>
          <a:xfrm>
            <a:off x="512064" y="3364519"/>
            <a:ext cx="4212668" cy="502920"/>
          </a:xfrm>
          <a:prstGeom prst="rect">
            <a:avLst/>
          </a:prstGeom>
          <a:noFill/>
          <a:ln/>
        </p:spPr>
        <p:txBody>
          <a:bodyPr wrap="square" lIns="0" tIns="0" rIns="0" bIns="0" rtlCol="0" anchor="ctr"/>
          <a:lstStyle/>
          <a:p>
            <a:pPr marL="0" indent="0">
              <a:buNone/>
            </a:pPr>
            <a:r>
              <a:rPr lang="en-US" sz="2000" b="1" dirty="0">
                <a:solidFill>
                  <a:srgbClr val="C9A25D"/>
                </a:solidFill>
              </a:rPr>
              <a:t>Node-Based </a:t>
            </a:r>
            <a:r>
              <a:rPr lang="en-US" altLang="zh-CN" sz="2000" b="1" dirty="0">
                <a:solidFill>
                  <a:srgbClr val="C9A25D"/>
                </a:solidFill>
              </a:rPr>
              <a:t>Q</a:t>
            </a:r>
            <a:r>
              <a:rPr lang="en-US" sz="2000" b="1" dirty="0">
                <a:solidFill>
                  <a:srgbClr val="C9A25D"/>
                </a:solidFill>
              </a:rPr>
              <a:t>uestion</a:t>
            </a:r>
            <a:r>
              <a:rPr lang="en-US" altLang="zh-CN" sz="2000" b="1" dirty="0">
                <a:solidFill>
                  <a:srgbClr val="C9A25D"/>
                </a:solidFill>
              </a:rPr>
              <a:t>s</a:t>
            </a:r>
            <a:endParaRPr lang="en-US" sz="2000" dirty="0"/>
          </a:p>
        </p:txBody>
      </p:sp>
      <p:sp>
        <p:nvSpPr>
          <p:cNvPr id="9" name="Text 7"/>
          <p:cNvSpPr/>
          <p:nvPr/>
        </p:nvSpPr>
        <p:spPr>
          <a:xfrm>
            <a:off x="496824" y="3929449"/>
            <a:ext cx="4760976" cy="2285822"/>
          </a:xfrm>
          <a:prstGeom prst="roundRect">
            <a:avLst>
              <a:gd name="adj" fmla="val 6316"/>
            </a:avLst>
          </a:prstGeom>
          <a:solidFill>
            <a:srgbClr val="17222D"/>
          </a:solidFill>
          <a:ln w="10160">
            <a:solidFill>
              <a:srgbClr val="C9A25D"/>
            </a:solidFill>
          </a:ln>
        </p:spPr>
        <p:txBody>
          <a:bodyPr wrap="square" lIns="1524" tIns="1524" rIns="1524" bIns="1524" rtlCol="0" anchor="ctr"/>
          <a:lstStyle/>
          <a:p>
            <a:pPr marL="182880" indent="0" algn="l">
              <a:buNone/>
            </a:pPr>
            <a:r>
              <a:rPr lang="en-US" sz="1900" b="1" dirty="0">
                <a:solidFill>
                  <a:srgbClr val="F3F1E8"/>
                </a:solidFill>
              </a:rPr>
              <a:t>Which strategic connections can the state govern, and with what effect?</a:t>
            </a:r>
          </a:p>
          <a:p>
            <a:pPr marL="182880" indent="0" algn="l">
              <a:buNone/>
            </a:pPr>
            <a:endParaRPr lang="en-US" sz="1900" b="1" dirty="0">
              <a:solidFill>
                <a:srgbClr val="F3F1E8"/>
              </a:solidFill>
            </a:endParaRPr>
          </a:p>
          <a:p>
            <a:pPr marL="182880" indent="0" algn="l">
              <a:buNone/>
            </a:pPr>
            <a:r>
              <a:rPr lang="en-US" sz="1900" b="1" dirty="0">
                <a:solidFill>
                  <a:srgbClr val="F3F1E8"/>
                </a:solidFill>
              </a:rPr>
              <a:t>What evidence distinguishes attempted control, implementation, counterpart effect, bargaining benefit, and durable control?</a:t>
            </a:r>
          </a:p>
        </p:txBody>
      </p:sp>
      <p:sp>
        <p:nvSpPr>
          <p:cNvPr id="10" name="Text 8"/>
          <p:cNvSpPr/>
          <p:nvPr/>
        </p:nvSpPr>
        <p:spPr>
          <a:xfrm>
            <a:off x="5659736" y="5177539"/>
            <a:ext cx="6016752" cy="731520"/>
          </a:xfrm>
          <a:prstGeom prst="rect">
            <a:avLst/>
          </a:prstGeom>
          <a:noFill/>
          <a:ln/>
        </p:spPr>
        <p:txBody>
          <a:bodyPr wrap="square" lIns="254" tIns="254" rIns="254" bIns="254" rtlCol="0" anchor="ctr">
            <a:normAutofit/>
          </a:bodyPr>
          <a:lstStyle/>
          <a:p>
            <a:pPr marL="0" indent="0">
              <a:buNone/>
            </a:pPr>
            <a:r>
              <a:rPr lang="en-US" sz="1700" dirty="0">
                <a:solidFill>
                  <a:srgbClr val="F3F1E8"/>
                </a:solidFill>
              </a:rPr>
              <a:t>The article shifts the unit of analysis from territorial position to a controller–function–counterpart relationship.</a:t>
            </a:r>
            <a:endParaRPr lang="en-US" sz="1700" dirty="0"/>
          </a:p>
        </p:txBody>
      </p:sp>
      <p:sp>
        <p:nvSpPr>
          <p:cNvPr id="11" name="Text 9"/>
          <p:cNvSpPr/>
          <p:nvPr/>
        </p:nvSpPr>
        <p:spPr>
          <a:xfrm>
            <a:off x="5659736" y="2005671"/>
            <a:ext cx="1143000" cy="502920"/>
          </a:xfrm>
          <a:prstGeom prst="roundRect">
            <a:avLst>
              <a:gd name="adj" fmla="val 12727"/>
            </a:avLst>
          </a:prstGeom>
          <a:solidFill>
            <a:srgbClr val="222B35"/>
          </a:solidFill>
          <a:ln w="14605">
            <a:solidFill>
              <a:srgbClr val="8C949E"/>
            </a:solidFill>
          </a:ln>
        </p:spPr>
        <p:txBody>
          <a:bodyPr wrap="square" lIns="1016" tIns="1016" rIns="1016" bIns="1016" rtlCol="0" anchor="ctr">
            <a:normAutofit/>
          </a:bodyPr>
          <a:lstStyle/>
          <a:p>
            <a:pPr marL="0" indent="0" algn="ctr">
              <a:buNone/>
            </a:pPr>
            <a:r>
              <a:rPr lang="en-US" sz="1600" b="1" dirty="0">
                <a:solidFill>
                  <a:srgbClr val="F3F1E8"/>
                </a:solidFill>
              </a:rPr>
              <a:t>Position</a:t>
            </a:r>
            <a:endParaRPr lang="en-US" sz="1600" dirty="0"/>
          </a:p>
        </p:txBody>
      </p:sp>
      <p:sp>
        <p:nvSpPr>
          <p:cNvPr id="12" name="Text 10"/>
          <p:cNvSpPr/>
          <p:nvPr/>
        </p:nvSpPr>
        <p:spPr>
          <a:xfrm>
            <a:off x="7241648" y="1993579"/>
            <a:ext cx="1143000" cy="502920"/>
          </a:xfrm>
          <a:prstGeom prst="roundRect">
            <a:avLst>
              <a:gd name="adj" fmla="val 12727"/>
            </a:avLst>
          </a:prstGeom>
          <a:solidFill>
            <a:srgbClr val="222B35"/>
          </a:solidFill>
          <a:ln w="14605">
            <a:solidFill>
              <a:srgbClr val="7EA4B8"/>
            </a:solidFill>
          </a:ln>
        </p:spPr>
        <p:txBody>
          <a:bodyPr wrap="square" lIns="1016" tIns="1016" rIns="1016" bIns="1016" rtlCol="0" anchor="ctr">
            <a:normAutofit/>
          </a:bodyPr>
          <a:lstStyle/>
          <a:p>
            <a:pPr marL="0" indent="0" algn="ctr">
              <a:buNone/>
            </a:pPr>
            <a:r>
              <a:rPr lang="en-US" sz="1600" b="1" dirty="0">
                <a:solidFill>
                  <a:srgbClr val="F3F1E8"/>
                </a:solidFill>
              </a:rPr>
              <a:t>Connection</a:t>
            </a:r>
            <a:endParaRPr lang="en-US" sz="1600" dirty="0"/>
          </a:p>
        </p:txBody>
      </p:sp>
      <p:sp>
        <p:nvSpPr>
          <p:cNvPr id="13" name="Text 11"/>
          <p:cNvSpPr/>
          <p:nvPr/>
        </p:nvSpPr>
        <p:spPr>
          <a:xfrm>
            <a:off x="8887568" y="1993579"/>
            <a:ext cx="1143000" cy="502920"/>
          </a:xfrm>
          <a:prstGeom prst="roundRect">
            <a:avLst>
              <a:gd name="adj" fmla="val 12727"/>
            </a:avLst>
          </a:prstGeom>
          <a:solidFill>
            <a:srgbClr val="222B35"/>
          </a:solidFill>
          <a:ln w="14605">
            <a:solidFill>
              <a:srgbClr val="7EA4B8"/>
            </a:solidFill>
          </a:ln>
        </p:spPr>
        <p:txBody>
          <a:bodyPr wrap="square" lIns="1016" tIns="1016" rIns="1016" bIns="1016" rtlCol="0" anchor="ctr">
            <a:normAutofit/>
          </a:bodyPr>
          <a:lstStyle/>
          <a:p>
            <a:pPr marL="0" indent="0" algn="ctr">
              <a:buNone/>
            </a:pPr>
            <a:r>
              <a:rPr lang="en-US" sz="1600" b="1" dirty="0">
                <a:solidFill>
                  <a:srgbClr val="F3F1E8"/>
                </a:solidFill>
              </a:rPr>
              <a:t>Control</a:t>
            </a:r>
            <a:endParaRPr lang="en-US" sz="1600" dirty="0"/>
          </a:p>
        </p:txBody>
      </p:sp>
      <p:sp>
        <p:nvSpPr>
          <p:cNvPr id="14" name="Text 12"/>
          <p:cNvSpPr/>
          <p:nvPr/>
        </p:nvSpPr>
        <p:spPr>
          <a:xfrm>
            <a:off x="10533488" y="1993579"/>
            <a:ext cx="1143000" cy="502920"/>
          </a:xfrm>
          <a:prstGeom prst="roundRect">
            <a:avLst>
              <a:gd name="adj" fmla="val 12727"/>
            </a:avLst>
          </a:prstGeom>
          <a:solidFill>
            <a:srgbClr val="222B35"/>
          </a:solidFill>
          <a:ln w="14605">
            <a:solidFill>
              <a:srgbClr val="C9A25D"/>
            </a:solidFill>
          </a:ln>
        </p:spPr>
        <p:txBody>
          <a:bodyPr wrap="square" lIns="1016" tIns="1016" rIns="1016" bIns="1016" rtlCol="0" anchor="ctr">
            <a:normAutofit/>
          </a:bodyPr>
          <a:lstStyle/>
          <a:p>
            <a:pPr marL="0" indent="0" algn="ctr">
              <a:buNone/>
            </a:pPr>
            <a:r>
              <a:rPr lang="en-US" sz="1600" b="1" dirty="0">
                <a:solidFill>
                  <a:srgbClr val="F3F1E8"/>
                </a:solidFill>
              </a:rPr>
              <a:t>Effect</a:t>
            </a:r>
            <a:endParaRPr lang="en-US" sz="1600" dirty="0"/>
          </a:p>
        </p:txBody>
      </p:sp>
      <p:sp>
        <p:nvSpPr>
          <p:cNvPr id="15" name="Shape 13"/>
          <p:cNvSpPr/>
          <p:nvPr/>
        </p:nvSpPr>
        <p:spPr>
          <a:xfrm>
            <a:off x="6848457" y="2240467"/>
            <a:ext cx="393192" cy="0"/>
          </a:xfrm>
          <a:prstGeom prst="line">
            <a:avLst/>
          </a:prstGeom>
          <a:noFill/>
          <a:ln w="15240">
            <a:solidFill>
              <a:srgbClr val="394655"/>
            </a:solidFill>
            <a:prstDash val="solid"/>
            <a:headEnd type="none"/>
            <a:tailEnd type="triangle"/>
          </a:ln>
        </p:spPr>
      </p:sp>
      <p:sp>
        <p:nvSpPr>
          <p:cNvPr id="16" name="Shape 14"/>
          <p:cNvSpPr/>
          <p:nvPr/>
        </p:nvSpPr>
        <p:spPr>
          <a:xfrm>
            <a:off x="8366360" y="2240467"/>
            <a:ext cx="475488" cy="0"/>
          </a:xfrm>
          <a:prstGeom prst="line">
            <a:avLst/>
          </a:prstGeom>
          <a:noFill/>
          <a:ln w="15240">
            <a:solidFill>
              <a:srgbClr val="394655"/>
            </a:solidFill>
            <a:prstDash val="solid"/>
            <a:headEnd type="none"/>
            <a:tailEnd type="triangle"/>
          </a:ln>
        </p:spPr>
      </p:sp>
      <p:sp>
        <p:nvSpPr>
          <p:cNvPr id="17" name="Shape 15"/>
          <p:cNvSpPr/>
          <p:nvPr/>
        </p:nvSpPr>
        <p:spPr>
          <a:xfrm>
            <a:off x="10012280" y="2240467"/>
            <a:ext cx="475488" cy="0"/>
          </a:xfrm>
          <a:prstGeom prst="line">
            <a:avLst/>
          </a:prstGeom>
          <a:noFill/>
          <a:ln w="15240">
            <a:solidFill>
              <a:srgbClr val="394655"/>
            </a:solidFill>
            <a:prstDash val="solid"/>
            <a:headEnd type="none"/>
            <a:tailEnd type="triangle"/>
          </a:ln>
        </p:spPr>
      </p:sp>
      <p:sp>
        <p:nvSpPr>
          <p:cNvPr id="18" name="Text 16"/>
          <p:cNvSpPr/>
          <p:nvPr/>
        </p:nvSpPr>
        <p:spPr>
          <a:xfrm>
            <a:off x="7241648" y="3095168"/>
            <a:ext cx="1143000" cy="1417320"/>
          </a:xfrm>
          <a:prstGeom prst="roundRect">
            <a:avLst>
              <a:gd name="adj" fmla="val 3871"/>
            </a:avLst>
          </a:prstGeom>
          <a:solidFill>
            <a:srgbClr val="0F141B"/>
          </a:solidFill>
          <a:ln w="10160">
            <a:solidFill>
              <a:srgbClr val="394655"/>
            </a:solidFill>
          </a:ln>
        </p:spPr>
        <p:txBody>
          <a:bodyPr wrap="square" lIns="1524" tIns="1524" rIns="1524" bIns="1524" rtlCol="0" anchor="ctr"/>
          <a:lstStyle/>
          <a:p>
            <a:pPr marL="0" indent="0" algn="ctr">
              <a:buNone/>
            </a:pPr>
            <a:r>
              <a:rPr lang="en-US" sz="1400" dirty="0">
                <a:solidFill>
                  <a:srgbClr val="F3F1E8"/>
                </a:solidFill>
              </a:rPr>
              <a:t>Routes</a:t>
            </a:r>
            <a:endParaRPr lang="en-US" sz="1400" dirty="0"/>
          </a:p>
          <a:p>
            <a:pPr marL="0" indent="0" algn="ctr">
              <a:buNone/>
            </a:pPr>
            <a:r>
              <a:rPr lang="en-US" sz="1400" dirty="0">
                <a:solidFill>
                  <a:srgbClr val="F3F1E8"/>
                </a:solidFill>
              </a:rPr>
              <a:t>Bases</a:t>
            </a:r>
            <a:endParaRPr lang="en-US" sz="1400" dirty="0"/>
          </a:p>
          <a:p>
            <a:pPr marL="0" indent="0" algn="ctr">
              <a:buNone/>
            </a:pPr>
            <a:r>
              <a:rPr lang="en-US" sz="1400" dirty="0">
                <a:solidFill>
                  <a:srgbClr val="F3F1E8"/>
                </a:solidFill>
              </a:rPr>
              <a:t>Airspace</a:t>
            </a:r>
            <a:endParaRPr lang="en-US" sz="1400" dirty="0"/>
          </a:p>
          <a:p>
            <a:pPr marL="0" indent="0" algn="ctr">
              <a:buNone/>
            </a:pPr>
            <a:r>
              <a:rPr lang="en-US" sz="1400" dirty="0">
                <a:solidFill>
                  <a:srgbClr val="F3F1E8"/>
                </a:solidFill>
              </a:rPr>
              <a:t>Sensors</a:t>
            </a:r>
            <a:endParaRPr lang="en-US" sz="1400" dirty="0"/>
          </a:p>
          <a:p>
            <a:pPr marL="0" indent="0" algn="ctr">
              <a:buNone/>
            </a:pPr>
            <a:r>
              <a:rPr lang="en-US" sz="1400" dirty="0">
                <a:solidFill>
                  <a:srgbClr val="F3F1E8"/>
                </a:solidFill>
              </a:rPr>
              <a:t>Maintenance</a:t>
            </a:r>
            <a:endParaRPr lang="en-US" sz="1400" dirty="0"/>
          </a:p>
          <a:p>
            <a:pPr marL="0" indent="0" algn="ctr">
              <a:buNone/>
            </a:pPr>
            <a:r>
              <a:rPr lang="en-US" sz="1400" dirty="0">
                <a:solidFill>
                  <a:srgbClr val="F3F1E8"/>
                </a:solidFill>
              </a:rPr>
              <a:t>Knowledge</a:t>
            </a:r>
            <a:endParaRPr lang="en-US" sz="1400" dirty="0"/>
          </a:p>
        </p:txBody>
      </p:sp>
      <p:sp>
        <p:nvSpPr>
          <p:cNvPr id="19" name="Text 17"/>
          <p:cNvSpPr/>
          <p:nvPr/>
        </p:nvSpPr>
        <p:spPr>
          <a:xfrm>
            <a:off x="8887569" y="3095168"/>
            <a:ext cx="1143000" cy="1417320"/>
          </a:xfrm>
          <a:prstGeom prst="roundRect">
            <a:avLst>
              <a:gd name="adj" fmla="val 4800"/>
            </a:avLst>
          </a:prstGeom>
          <a:solidFill>
            <a:srgbClr val="0F141B"/>
          </a:solidFill>
          <a:ln w="10160">
            <a:solidFill>
              <a:srgbClr val="394655"/>
            </a:solidFill>
          </a:ln>
        </p:spPr>
        <p:txBody>
          <a:bodyPr wrap="square" lIns="1524" tIns="1524" rIns="1524" bIns="1524" rtlCol="0" anchor="ctr"/>
          <a:lstStyle/>
          <a:p>
            <a:pPr marL="0" indent="0" algn="ctr">
              <a:buNone/>
            </a:pPr>
            <a:r>
              <a:rPr lang="en-US" sz="1400" dirty="0">
                <a:solidFill>
                  <a:srgbClr val="F3F1E8"/>
                </a:solidFill>
              </a:rPr>
              <a:t>Grant</a:t>
            </a:r>
            <a:endParaRPr lang="en-US" sz="1400" dirty="0"/>
          </a:p>
          <a:p>
            <a:pPr marL="0" indent="0" algn="ctr">
              <a:buNone/>
            </a:pPr>
            <a:r>
              <a:rPr lang="en-US" sz="1400" dirty="0">
                <a:solidFill>
                  <a:srgbClr val="F3F1E8"/>
                </a:solidFill>
              </a:rPr>
              <a:t>Condition</a:t>
            </a:r>
            <a:endParaRPr lang="en-US" sz="1400" dirty="0"/>
          </a:p>
          <a:p>
            <a:pPr marL="0" indent="0" algn="ctr">
              <a:buNone/>
            </a:pPr>
            <a:r>
              <a:rPr lang="en-US" sz="1400" dirty="0">
                <a:solidFill>
                  <a:srgbClr val="F3F1E8"/>
                </a:solidFill>
              </a:rPr>
              <a:t>Prioritize</a:t>
            </a:r>
            <a:endParaRPr lang="en-US" sz="1400" dirty="0"/>
          </a:p>
          <a:p>
            <a:pPr marL="0" indent="0" algn="ctr">
              <a:buNone/>
            </a:pPr>
            <a:r>
              <a:rPr lang="en-US" sz="1400" dirty="0">
                <a:solidFill>
                  <a:srgbClr val="F3F1E8"/>
                </a:solidFill>
              </a:rPr>
              <a:t>Restrict</a:t>
            </a:r>
            <a:endParaRPr lang="en-US" sz="1400" dirty="0"/>
          </a:p>
          <a:p>
            <a:pPr marL="0" indent="0" algn="ctr">
              <a:buNone/>
            </a:pPr>
            <a:r>
              <a:rPr lang="en-US" sz="1400" dirty="0">
                <a:solidFill>
                  <a:srgbClr val="F3F1E8"/>
                </a:solidFill>
              </a:rPr>
              <a:t>Deny</a:t>
            </a:r>
            <a:endParaRPr lang="en-US" sz="1400" dirty="0"/>
          </a:p>
        </p:txBody>
      </p:sp>
      <p:sp>
        <p:nvSpPr>
          <p:cNvPr id="20" name="Text 18"/>
          <p:cNvSpPr/>
          <p:nvPr/>
        </p:nvSpPr>
        <p:spPr>
          <a:xfrm>
            <a:off x="10533488" y="3119353"/>
            <a:ext cx="1143000" cy="1417320"/>
          </a:xfrm>
          <a:prstGeom prst="roundRect">
            <a:avLst>
              <a:gd name="adj" fmla="val 3871"/>
            </a:avLst>
          </a:prstGeom>
          <a:solidFill>
            <a:srgbClr val="0F141B"/>
          </a:solidFill>
          <a:ln w="10160">
            <a:solidFill>
              <a:srgbClr val="C9A25D"/>
            </a:solidFill>
          </a:ln>
        </p:spPr>
        <p:txBody>
          <a:bodyPr wrap="square" lIns="1524" tIns="1524" rIns="1524" bIns="1524" rtlCol="0" anchor="ctr"/>
          <a:lstStyle/>
          <a:p>
            <a:pPr marL="0" indent="0" algn="ctr">
              <a:buNone/>
            </a:pPr>
            <a:r>
              <a:rPr lang="en-US" sz="1400" dirty="0">
                <a:solidFill>
                  <a:srgbClr val="F3F1E8"/>
                </a:solidFill>
              </a:rPr>
              <a:t>Cost</a:t>
            </a:r>
            <a:endParaRPr lang="en-US" sz="1400" dirty="0"/>
          </a:p>
          <a:p>
            <a:pPr marL="0" indent="0" algn="ctr">
              <a:buNone/>
            </a:pPr>
            <a:r>
              <a:rPr lang="en-US" sz="1400" dirty="0">
                <a:solidFill>
                  <a:srgbClr val="F3F1E8"/>
                </a:solidFill>
              </a:rPr>
              <a:t>Timing</a:t>
            </a:r>
            <a:endParaRPr lang="en-US" sz="1400" dirty="0"/>
          </a:p>
          <a:p>
            <a:pPr marL="0" indent="0" algn="ctr">
              <a:buNone/>
            </a:pPr>
            <a:r>
              <a:rPr lang="en-US" sz="1400" dirty="0">
                <a:solidFill>
                  <a:srgbClr val="F3F1E8"/>
                </a:solidFill>
              </a:rPr>
              <a:t>Posture</a:t>
            </a:r>
            <a:endParaRPr lang="en-US" sz="1400" dirty="0"/>
          </a:p>
          <a:p>
            <a:pPr marL="0" indent="0" algn="ctr">
              <a:buNone/>
            </a:pPr>
            <a:r>
              <a:rPr lang="en-US" sz="1400" dirty="0">
                <a:solidFill>
                  <a:srgbClr val="F3F1E8"/>
                </a:solidFill>
              </a:rPr>
              <a:t>Exposure</a:t>
            </a:r>
            <a:endParaRPr lang="en-US" sz="1400" dirty="0"/>
          </a:p>
          <a:p>
            <a:pPr marL="0" indent="0" algn="ctr">
              <a:buNone/>
            </a:pPr>
            <a:r>
              <a:rPr lang="en-US" sz="1400" dirty="0">
                <a:solidFill>
                  <a:srgbClr val="F3F1E8"/>
                </a:solidFill>
              </a:rPr>
              <a:t>Options</a:t>
            </a:r>
            <a:endParaRPr lang="en-US" sz="1400" dirty="0"/>
          </a:p>
        </p:txBody>
      </p:sp>
      <p:sp>
        <p:nvSpPr>
          <p:cNvPr id="4" name="箭头: 下 3">
            <a:extLst>
              <a:ext uri="{FF2B5EF4-FFF2-40B4-BE49-F238E27FC236}">
                <a16:creationId xmlns:a16="http://schemas.microsoft.com/office/drawing/2014/main" id="{F1FD937F-A81F-04D5-5E71-B7888F83AB3C}"/>
              </a:ext>
            </a:extLst>
          </p:cNvPr>
          <p:cNvSpPr/>
          <p:nvPr/>
        </p:nvSpPr>
        <p:spPr>
          <a:xfrm>
            <a:off x="7686258" y="2496499"/>
            <a:ext cx="225287" cy="6158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箭头: 下 20">
            <a:extLst>
              <a:ext uri="{FF2B5EF4-FFF2-40B4-BE49-F238E27FC236}">
                <a16:creationId xmlns:a16="http://schemas.microsoft.com/office/drawing/2014/main" id="{BF0E4E38-BFEA-0C02-43B0-CB278026FB05}"/>
              </a:ext>
            </a:extLst>
          </p:cNvPr>
          <p:cNvSpPr/>
          <p:nvPr/>
        </p:nvSpPr>
        <p:spPr>
          <a:xfrm>
            <a:off x="9357689" y="2520684"/>
            <a:ext cx="225287" cy="6158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箭头: 下 22">
            <a:extLst>
              <a:ext uri="{FF2B5EF4-FFF2-40B4-BE49-F238E27FC236}">
                <a16:creationId xmlns:a16="http://schemas.microsoft.com/office/drawing/2014/main" id="{7CF51AEE-607A-CEE6-2505-E3EE8612C97B}"/>
              </a:ext>
            </a:extLst>
          </p:cNvPr>
          <p:cNvSpPr/>
          <p:nvPr/>
        </p:nvSpPr>
        <p:spPr>
          <a:xfrm>
            <a:off x="10992344" y="2508591"/>
            <a:ext cx="225287" cy="6158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7955280" cy="502920"/>
          </a:xfrm>
          <a:prstGeom prst="rect">
            <a:avLst/>
          </a:prstGeom>
          <a:noFill/>
          <a:ln/>
        </p:spPr>
        <p:txBody>
          <a:bodyPr wrap="square" lIns="0" tIns="0" rIns="0" bIns="0" rtlCol="0" anchor="ctr"/>
          <a:lstStyle/>
          <a:p>
            <a:r>
              <a:rPr lang="en-US" sz="2800" b="1" dirty="0">
                <a:solidFill>
                  <a:srgbClr val="F3F1E8"/>
                </a:solidFill>
                <a:latin typeface="Aptos Display" pitchFamily="34" charset="0"/>
                <a:ea typeface="Aptos Display" pitchFamily="34" charset="-122"/>
                <a:cs typeface="Aptos Display" pitchFamily="34" charset="-120"/>
              </a:rPr>
              <a:t>1. Definition and Analytical Unit</a:t>
            </a:r>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6" name="Text 4"/>
          <p:cNvSpPr/>
          <p:nvPr/>
        </p:nvSpPr>
        <p:spPr>
          <a:xfrm>
            <a:off x="685799" y="1545259"/>
            <a:ext cx="5118099" cy="502920"/>
          </a:xfrm>
          <a:prstGeom prst="roundRect">
            <a:avLst>
              <a:gd name="adj" fmla="val 12500"/>
            </a:avLst>
          </a:prstGeom>
          <a:solidFill>
            <a:srgbClr val="C9A25D"/>
          </a:solidFill>
          <a:ln w="10160">
            <a:solidFill>
              <a:srgbClr val="C9A25D"/>
            </a:solidFill>
          </a:ln>
        </p:spPr>
        <p:txBody>
          <a:bodyPr wrap="square" lIns="1524" tIns="1524" rIns="1524" bIns="1524" rtlCol="0" anchor="ctr"/>
          <a:lstStyle/>
          <a:p>
            <a:pPr marL="182880" indent="0" algn="ctr">
              <a:buNone/>
            </a:pPr>
            <a:r>
              <a:rPr lang="en-US" sz="2400" b="1" dirty="0">
                <a:solidFill>
                  <a:srgbClr val="000000"/>
                </a:solidFill>
              </a:rPr>
              <a:t>Implemented Node-Based Agency</a:t>
            </a:r>
            <a:endParaRPr lang="en-US" sz="2400" dirty="0"/>
          </a:p>
        </p:txBody>
      </p:sp>
      <p:sp>
        <p:nvSpPr>
          <p:cNvPr id="7" name="Text 5"/>
          <p:cNvSpPr/>
          <p:nvPr/>
        </p:nvSpPr>
        <p:spPr>
          <a:xfrm>
            <a:off x="694943" y="2351376"/>
            <a:ext cx="5118099" cy="1293015"/>
          </a:xfrm>
          <a:prstGeom prst="rect">
            <a:avLst/>
          </a:prstGeom>
          <a:noFill/>
          <a:ln/>
        </p:spPr>
        <p:txBody>
          <a:bodyPr wrap="square" lIns="254" tIns="254" rIns="254" bIns="254" rtlCol="0" anchor="ctr">
            <a:normAutofit lnSpcReduction="10000"/>
          </a:bodyPr>
          <a:lstStyle/>
          <a:p>
            <a:pPr marL="0" indent="0">
              <a:buNone/>
            </a:pPr>
            <a:r>
              <a:rPr lang="en-US" sz="2200" b="1" dirty="0">
                <a:solidFill>
                  <a:srgbClr val="F3F1E8"/>
                </a:solidFill>
              </a:rPr>
              <a:t>Purposeful use of a consequential node or interface, with relevant control rights, that changes a counterpart’s admissible or effective use.</a:t>
            </a:r>
            <a:endParaRPr lang="en-US" sz="2200" dirty="0"/>
          </a:p>
        </p:txBody>
      </p:sp>
      <p:sp>
        <p:nvSpPr>
          <p:cNvPr id="8" name="Text 6"/>
          <p:cNvSpPr/>
          <p:nvPr/>
        </p:nvSpPr>
        <p:spPr>
          <a:xfrm>
            <a:off x="699516" y="4011167"/>
            <a:ext cx="5285876" cy="999591"/>
          </a:xfrm>
          <a:prstGeom prst="rect">
            <a:avLst/>
          </a:prstGeom>
          <a:noFill/>
          <a:ln/>
        </p:spPr>
        <p:txBody>
          <a:bodyPr wrap="square" lIns="254" tIns="254" rIns="254" bIns="254" rtlCol="0" anchor="ctr">
            <a:normAutofit/>
          </a:bodyPr>
          <a:lstStyle/>
          <a:p>
            <a:pPr marL="0" indent="0">
              <a:buNone/>
            </a:pPr>
            <a:r>
              <a:rPr lang="en-US" b="1" dirty="0">
                <a:solidFill>
                  <a:srgbClr val="C6CAD0"/>
                </a:solidFill>
              </a:rPr>
              <a:t>Centrality alone does not establish agency. Implementation requires an observed change in admissible or effective use.</a:t>
            </a:r>
            <a:endParaRPr lang="en-US" b="1" dirty="0"/>
          </a:p>
        </p:txBody>
      </p:sp>
      <p:sp>
        <p:nvSpPr>
          <p:cNvPr id="9" name="Text 7"/>
          <p:cNvSpPr/>
          <p:nvPr/>
        </p:nvSpPr>
        <p:spPr>
          <a:xfrm>
            <a:off x="6492240" y="2294991"/>
            <a:ext cx="1508760" cy="566928"/>
          </a:xfrm>
          <a:prstGeom prst="roundRect">
            <a:avLst>
              <a:gd name="adj" fmla="val 11290"/>
            </a:avLst>
          </a:prstGeom>
          <a:solidFill>
            <a:srgbClr val="222B35"/>
          </a:solidFill>
          <a:ln w="14605">
            <a:solidFill>
              <a:srgbClr val="7EA4B8"/>
            </a:solidFill>
          </a:ln>
        </p:spPr>
        <p:txBody>
          <a:bodyPr wrap="square" lIns="1016" tIns="1016" rIns="1016" bIns="1016" rtlCol="0" anchor="ctr">
            <a:normAutofit/>
          </a:bodyPr>
          <a:lstStyle/>
          <a:p>
            <a:pPr marL="0" indent="0" algn="ctr">
              <a:buNone/>
            </a:pPr>
            <a:r>
              <a:rPr lang="en-US" sz="1600" b="1" dirty="0">
                <a:solidFill>
                  <a:srgbClr val="F3F1E8"/>
                </a:solidFill>
              </a:rPr>
              <a:t>Controller</a:t>
            </a:r>
            <a:endParaRPr lang="en-US" sz="1600" dirty="0"/>
          </a:p>
        </p:txBody>
      </p:sp>
      <p:sp>
        <p:nvSpPr>
          <p:cNvPr id="10" name="Text 8"/>
          <p:cNvSpPr/>
          <p:nvPr/>
        </p:nvSpPr>
        <p:spPr>
          <a:xfrm>
            <a:off x="8275320" y="2294991"/>
            <a:ext cx="1508760" cy="566928"/>
          </a:xfrm>
          <a:prstGeom prst="roundRect">
            <a:avLst>
              <a:gd name="adj" fmla="val 11290"/>
            </a:avLst>
          </a:prstGeom>
          <a:solidFill>
            <a:srgbClr val="222B35"/>
          </a:solidFill>
          <a:ln w="14605">
            <a:solidFill>
              <a:srgbClr val="C9A25D"/>
            </a:solidFill>
          </a:ln>
        </p:spPr>
        <p:txBody>
          <a:bodyPr wrap="square" lIns="1016" tIns="1016" rIns="1016" bIns="1016" rtlCol="0" anchor="ctr">
            <a:normAutofit/>
          </a:bodyPr>
          <a:lstStyle/>
          <a:p>
            <a:pPr marL="0" indent="0" algn="ctr">
              <a:buNone/>
            </a:pPr>
            <a:r>
              <a:rPr lang="en-US" sz="1600" b="1" dirty="0">
                <a:solidFill>
                  <a:srgbClr val="F3F1E8"/>
                </a:solidFill>
              </a:rPr>
              <a:t>Function</a:t>
            </a:r>
            <a:endParaRPr lang="en-US" sz="1600" dirty="0"/>
          </a:p>
        </p:txBody>
      </p:sp>
      <p:sp>
        <p:nvSpPr>
          <p:cNvPr id="11" name="Text 9"/>
          <p:cNvSpPr/>
          <p:nvPr/>
        </p:nvSpPr>
        <p:spPr>
          <a:xfrm>
            <a:off x="10058400" y="2294991"/>
            <a:ext cx="1600200" cy="566928"/>
          </a:xfrm>
          <a:prstGeom prst="roundRect">
            <a:avLst>
              <a:gd name="adj" fmla="val 11290"/>
            </a:avLst>
          </a:prstGeom>
          <a:solidFill>
            <a:srgbClr val="222B35"/>
          </a:solidFill>
          <a:ln w="14605">
            <a:solidFill>
              <a:srgbClr val="B66C68"/>
            </a:solidFill>
          </a:ln>
        </p:spPr>
        <p:txBody>
          <a:bodyPr wrap="square" lIns="1016" tIns="1016" rIns="1016" bIns="1016" rtlCol="0" anchor="ctr">
            <a:normAutofit/>
          </a:bodyPr>
          <a:lstStyle/>
          <a:p>
            <a:pPr marL="0" indent="0" algn="ctr">
              <a:buNone/>
            </a:pPr>
            <a:r>
              <a:rPr lang="en-US" sz="1600" b="1" dirty="0">
                <a:solidFill>
                  <a:srgbClr val="F3F1E8"/>
                </a:solidFill>
              </a:rPr>
              <a:t>Counterpart</a:t>
            </a:r>
            <a:endParaRPr lang="en-US" sz="1600" dirty="0"/>
          </a:p>
        </p:txBody>
      </p:sp>
      <p:sp>
        <p:nvSpPr>
          <p:cNvPr id="12" name="Shape 10"/>
          <p:cNvSpPr/>
          <p:nvPr/>
        </p:nvSpPr>
        <p:spPr>
          <a:xfrm>
            <a:off x="8001000" y="2578455"/>
            <a:ext cx="274320" cy="0"/>
          </a:xfrm>
          <a:prstGeom prst="line">
            <a:avLst/>
          </a:prstGeom>
          <a:noFill/>
          <a:ln w="15240">
            <a:solidFill>
              <a:srgbClr val="394655"/>
            </a:solidFill>
            <a:prstDash val="solid"/>
            <a:headEnd type="none"/>
            <a:tailEnd type="triangle"/>
          </a:ln>
        </p:spPr>
      </p:sp>
      <p:sp>
        <p:nvSpPr>
          <p:cNvPr id="13" name="Shape 11"/>
          <p:cNvSpPr/>
          <p:nvPr/>
        </p:nvSpPr>
        <p:spPr>
          <a:xfrm>
            <a:off x="9784080" y="2578455"/>
            <a:ext cx="274320" cy="0"/>
          </a:xfrm>
          <a:prstGeom prst="line">
            <a:avLst/>
          </a:prstGeom>
          <a:noFill/>
          <a:ln w="15240">
            <a:solidFill>
              <a:srgbClr val="394655"/>
            </a:solidFill>
            <a:prstDash val="solid"/>
            <a:headEnd type="none"/>
            <a:tailEnd type="triangle"/>
          </a:ln>
        </p:spPr>
      </p:sp>
      <p:sp>
        <p:nvSpPr>
          <p:cNvPr id="14" name="Text 12"/>
          <p:cNvSpPr/>
          <p:nvPr/>
        </p:nvSpPr>
        <p:spPr>
          <a:xfrm>
            <a:off x="6428232" y="3209390"/>
            <a:ext cx="1627632" cy="832103"/>
          </a:xfrm>
          <a:prstGeom prst="roundRect">
            <a:avLst>
              <a:gd name="adj" fmla="val 9677"/>
            </a:avLst>
          </a:prstGeom>
          <a:solidFill>
            <a:srgbClr val="10161D"/>
          </a:solidFill>
          <a:ln w="10160">
            <a:solidFill>
              <a:srgbClr val="7EA4B8"/>
            </a:solidFill>
          </a:ln>
        </p:spPr>
        <p:txBody>
          <a:bodyPr wrap="square" lIns="1524" tIns="1524" rIns="1524" bIns="1524" rtlCol="0" anchor="ctr"/>
          <a:lstStyle/>
          <a:p>
            <a:pPr marL="0" indent="0" algn="ctr">
              <a:buNone/>
            </a:pPr>
            <a:r>
              <a:rPr lang="en-US" sz="1400" dirty="0">
                <a:solidFill>
                  <a:srgbClr val="F3F1E8"/>
                </a:solidFill>
              </a:rPr>
              <a:t>Who governs the interface?</a:t>
            </a:r>
            <a:endParaRPr lang="en-US" sz="1400" dirty="0"/>
          </a:p>
        </p:txBody>
      </p:sp>
      <p:sp>
        <p:nvSpPr>
          <p:cNvPr id="15" name="Text 13"/>
          <p:cNvSpPr/>
          <p:nvPr/>
        </p:nvSpPr>
        <p:spPr>
          <a:xfrm>
            <a:off x="8138160" y="3209390"/>
            <a:ext cx="1755648" cy="832103"/>
          </a:xfrm>
          <a:prstGeom prst="roundRect">
            <a:avLst>
              <a:gd name="adj" fmla="val 9677"/>
            </a:avLst>
          </a:prstGeom>
          <a:solidFill>
            <a:srgbClr val="10161D"/>
          </a:solidFill>
          <a:ln w="10160">
            <a:solidFill>
              <a:srgbClr val="C9A25D"/>
            </a:solidFill>
          </a:ln>
        </p:spPr>
        <p:txBody>
          <a:bodyPr wrap="square" lIns="1524" tIns="1524" rIns="1524" bIns="1524" rtlCol="0" anchor="ctr"/>
          <a:lstStyle/>
          <a:p>
            <a:pPr marL="0" indent="0" algn="ctr">
              <a:buNone/>
            </a:pPr>
            <a:r>
              <a:rPr lang="en-US" sz="1400" dirty="0">
                <a:solidFill>
                  <a:srgbClr val="F3F1E8"/>
                </a:solidFill>
              </a:rPr>
              <a:t>Which function, in what period?</a:t>
            </a:r>
            <a:endParaRPr lang="en-US" sz="1400" dirty="0"/>
          </a:p>
        </p:txBody>
      </p:sp>
      <p:sp>
        <p:nvSpPr>
          <p:cNvPr id="16" name="Text 14"/>
          <p:cNvSpPr/>
          <p:nvPr/>
        </p:nvSpPr>
        <p:spPr>
          <a:xfrm>
            <a:off x="10049256" y="3236735"/>
            <a:ext cx="1737360" cy="804758"/>
          </a:xfrm>
          <a:prstGeom prst="roundRect">
            <a:avLst>
              <a:gd name="adj" fmla="val 9677"/>
            </a:avLst>
          </a:prstGeom>
          <a:solidFill>
            <a:srgbClr val="10161D"/>
          </a:solidFill>
          <a:ln w="10160">
            <a:solidFill>
              <a:srgbClr val="B66C68"/>
            </a:solidFill>
          </a:ln>
        </p:spPr>
        <p:txBody>
          <a:bodyPr wrap="square" lIns="1524" tIns="1524" rIns="1524" bIns="1524" rtlCol="0" anchor="ctr"/>
          <a:lstStyle/>
          <a:p>
            <a:pPr marL="0" indent="0" algn="ctr">
              <a:buNone/>
            </a:pPr>
            <a:r>
              <a:rPr lang="en-US" sz="1400" dirty="0">
                <a:solidFill>
                  <a:srgbClr val="F3F1E8"/>
                </a:solidFill>
              </a:rPr>
              <a:t>Whose use is changed?</a:t>
            </a:r>
            <a:endParaRPr lang="en-US" sz="1400" dirty="0"/>
          </a:p>
        </p:txBody>
      </p:sp>
      <p:sp>
        <p:nvSpPr>
          <p:cNvPr id="17" name="Shape 15"/>
          <p:cNvSpPr/>
          <p:nvPr/>
        </p:nvSpPr>
        <p:spPr>
          <a:xfrm>
            <a:off x="7269480" y="4351861"/>
            <a:ext cx="3200400" cy="0"/>
          </a:xfrm>
          <a:prstGeom prst="line">
            <a:avLst/>
          </a:prstGeom>
          <a:noFill/>
          <a:ln w="15240">
            <a:solidFill>
              <a:srgbClr val="394655"/>
            </a:solidFill>
            <a:prstDash val="solid"/>
          </a:ln>
        </p:spPr>
      </p:sp>
      <p:sp>
        <p:nvSpPr>
          <p:cNvPr id="18" name="Text 16"/>
          <p:cNvSpPr/>
          <p:nvPr/>
        </p:nvSpPr>
        <p:spPr>
          <a:xfrm>
            <a:off x="6355080" y="4626711"/>
            <a:ext cx="914400" cy="384048"/>
          </a:xfrm>
          <a:prstGeom prst="roundRect">
            <a:avLst>
              <a:gd name="adj" fmla="val 16667"/>
            </a:avLst>
          </a:prstGeom>
          <a:solidFill>
            <a:srgbClr val="10161D"/>
          </a:solidFill>
          <a:ln w="13970">
            <a:solidFill>
              <a:srgbClr val="C9A25D"/>
            </a:solidFill>
          </a:ln>
        </p:spPr>
        <p:txBody>
          <a:bodyPr wrap="square" lIns="889" tIns="889" rIns="889" bIns="889" rtlCol="0" anchor="ctr"/>
          <a:lstStyle/>
          <a:p>
            <a:pPr marL="0" indent="0" algn="ctr">
              <a:buNone/>
            </a:pPr>
            <a:r>
              <a:rPr lang="en-US" sz="1400" b="1" dirty="0">
                <a:solidFill>
                  <a:srgbClr val="F3F1E8"/>
                </a:solidFill>
              </a:rPr>
              <a:t>Grant</a:t>
            </a:r>
            <a:endParaRPr lang="en-US" sz="1400" dirty="0"/>
          </a:p>
        </p:txBody>
      </p:sp>
      <p:sp>
        <p:nvSpPr>
          <p:cNvPr id="19" name="Text 17"/>
          <p:cNvSpPr/>
          <p:nvPr/>
        </p:nvSpPr>
        <p:spPr>
          <a:xfrm>
            <a:off x="7434072" y="4626711"/>
            <a:ext cx="914400" cy="384048"/>
          </a:xfrm>
          <a:prstGeom prst="roundRect">
            <a:avLst>
              <a:gd name="adj" fmla="val 16667"/>
            </a:avLst>
          </a:prstGeom>
          <a:solidFill>
            <a:srgbClr val="10161D"/>
          </a:solidFill>
          <a:ln w="13970">
            <a:solidFill>
              <a:srgbClr val="7EA4B8"/>
            </a:solidFill>
          </a:ln>
        </p:spPr>
        <p:txBody>
          <a:bodyPr wrap="square" lIns="889" tIns="889" rIns="889" bIns="889" rtlCol="0" anchor="ctr"/>
          <a:lstStyle/>
          <a:p>
            <a:pPr marL="0" indent="0" algn="ctr">
              <a:buNone/>
            </a:pPr>
            <a:r>
              <a:rPr lang="en-US" sz="1400" b="1" dirty="0">
                <a:solidFill>
                  <a:srgbClr val="F3F1E8"/>
                </a:solidFill>
              </a:rPr>
              <a:t>Condition</a:t>
            </a:r>
            <a:endParaRPr lang="en-US" sz="1400" dirty="0"/>
          </a:p>
        </p:txBody>
      </p:sp>
      <p:sp>
        <p:nvSpPr>
          <p:cNvPr id="20" name="Text 18"/>
          <p:cNvSpPr/>
          <p:nvPr/>
        </p:nvSpPr>
        <p:spPr>
          <a:xfrm>
            <a:off x="8513064" y="4626711"/>
            <a:ext cx="914400" cy="384048"/>
          </a:xfrm>
          <a:prstGeom prst="roundRect">
            <a:avLst>
              <a:gd name="adj" fmla="val 16667"/>
            </a:avLst>
          </a:prstGeom>
          <a:solidFill>
            <a:srgbClr val="10161D"/>
          </a:solidFill>
          <a:ln w="13970">
            <a:solidFill>
              <a:srgbClr val="C9A25D"/>
            </a:solidFill>
          </a:ln>
        </p:spPr>
        <p:txBody>
          <a:bodyPr wrap="square" lIns="889" tIns="889" rIns="889" bIns="889" rtlCol="0" anchor="ctr"/>
          <a:lstStyle/>
          <a:p>
            <a:pPr marL="0" indent="0" algn="ctr">
              <a:buNone/>
            </a:pPr>
            <a:r>
              <a:rPr lang="en-US" sz="1400" b="1" dirty="0">
                <a:solidFill>
                  <a:srgbClr val="F3F1E8"/>
                </a:solidFill>
              </a:rPr>
              <a:t>Prioritize</a:t>
            </a:r>
            <a:endParaRPr lang="en-US" sz="1400" dirty="0"/>
          </a:p>
        </p:txBody>
      </p:sp>
      <p:sp>
        <p:nvSpPr>
          <p:cNvPr id="21" name="Text 19"/>
          <p:cNvSpPr/>
          <p:nvPr/>
        </p:nvSpPr>
        <p:spPr>
          <a:xfrm>
            <a:off x="9592056" y="4626711"/>
            <a:ext cx="914400" cy="384048"/>
          </a:xfrm>
          <a:prstGeom prst="roundRect">
            <a:avLst>
              <a:gd name="adj" fmla="val 16667"/>
            </a:avLst>
          </a:prstGeom>
          <a:solidFill>
            <a:srgbClr val="10161D"/>
          </a:solidFill>
          <a:ln w="13970">
            <a:solidFill>
              <a:srgbClr val="7EA4B8"/>
            </a:solidFill>
          </a:ln>
        </p:spPr>
        <p:txBody>
          <a:bodyPr wrap="square" lIns="889" tIns="889" rIns="889" bIns="889" rtlCol="0" anchor="ctr"/>
          <a:lstStyle/>
          <a:p>
            <a:pPr marL="0" indent="0" algn="ctr">
              <a:buNone/>
            </a:pPr>
            <a:r>
              <a:rPr lang="en-US" sz="1400" b="1" dirty="0">
                <a:solidFill>
                  <a:srgbClr val="F3F1E8"/>
                </a:solidFill>
              </a:rPr>
              <a:t>Restrict</a:t>
            </a:r>
            <a:endParaRPr lang="en-US" sz="1400" dirty="0"/>
          </a:p>
        </p:txBody>
      </p:sp>
      <p:sp>
        <p:nvSpPr>
          <p:cNvPr id="22" name="Text 20"/>
          <p:cNvSpPr/>
          <p:nvPr/>
        </p:nvSpPr>
        <p:spPr>
          <a:xfrm>
            <a:off x="10671048" y="4626711"/>
            <a:ext cx="914400" cy="384048"/>
          </a:xfrm>
          <a:prstGeom prst="roundRect">
            <a:avLst>
              <a:gd name="adj" fmla="val 16667"/>
            </a:avLst>
          </a:prstGeom>
          <a:solidFill>
            <a:srgbClr val="10161D"/>
          </a:solidFill>
          <a:ln w="13970">
            <a:solidFill>
              <a:srgbClr val="C9A25D"/>
            </a:solidFill>
          </a:ln>
        </p:spPr>
        <p:txBody>
          <a:bodyPr wrap="square" lIns="889" tIns="889" rIns="889" bIns="889" rtlCol="0" anchor="ctr"/>
          <a:lstStyle/>
          <a:p>
            <a:pPr marL="0" indent="0" algn="ctr">
              <a:buNone/>
            </a:pPr>
            <a:r>
              <a:rPr lang="en-US" sz="1400" b="1" dirty="0">
                <a:solidFill>
                  <a:srgbClr val="F3F1E8"/>
                </a:solidFill>
              </a:rPr>
              <a:t>Deny</a:t>
            </a:r>
            <a:endParaRPr lang="en-US" sz="1400" dirty="0"/>
          </a:p>
        </p:txBody>
      </p:sp>
      <p:sp>
        <p:nvSpPr>
          <p:cNvPr id="23" name="Text 21"/>
          <p:cNvSpPr/>
          <p:nvPr/>
        </p:nvSpPr>
        <p:spPr>
          <a:xfrm>
            <a:off x="8092440" y="5175351"/>
            <a:ext cx="1920240" cy="451104"/>
          </a:xfrm>
          <a:prstGeom prst="rect">
            <a:avLst/>
          </a:prstGeom>
          <a:noFill/>
          <a:ln/>
        </p:spPr>
        <p:txBody>
          <a:bodyPr wrap="square" lIns="0" tIns="0" rIns="0" bIns="0" rtlCol="0" anchor="ctr"/>
          <a:lstStyle/>
          <a:p>
            <a:pPr marL="0" indent="0" algn="ctr">
              <a:buNone/>
            </a:pPr>
            <a:r>
              <a:rPr lang="en-US" sz="1400" dirty="0">
                <a:solidFill>
                  <a:srgbClr val="8C949E"/>
                </a:solidFill>
              </a:rPr>
              <a:t>Boundary actions</a:t>
            </a:r>
            <a:endParaRPr lang="en-US" sz="1400" dirty="0"/>
          </a:p>
        </p:txBody>
      </p:sp>
      <p:sp>
        <p:nvSpPr>
          <p:cNvPr id="25" name="Shape 24">
            <a:extLst>
              <a:ext uri="{FF2B5EF4-FFF2-40B4-BE49-F238E27FC236}">
                <a16:creationId xmlns:a16="http://schemas.microsoft.com/office/drawing/2014/main" id="{819A0941-D971-B672-4499-6FDB35F17446}"/>
              </a:ext>
            </a:extLst>
          </p:cNvPr>
          <p:cNvSpPr/>
          <p:nvPr/>
        </p:nvSpPr>
        <p:spPr>
          <a:xfrm>
            <a:off x="2705158" y="5855519"/>
            <a:ext cx="55304" cy="502920"/>
          </a:xfrm>
          <a:prstGeom prst="rect">
            <a:avLst/>
          </a:prstGeom>
          <a:solidFill>
            <a:srgbClr val="C9A25D"/>
          </a:solidFill>
          <a:ln w="12700">
            <a:solidFill>
              <a:srgbClr val="C9A25D">
                <a:alpha val="0"/>
              </a:srgbClr>
            </a:solidFill>
            <a:prstDash val="solid"/>
          </a:ln>
        </p:spPr>
      </p:sp>
      <p:sp>
        <p:nvSpPr>
          <p:cNvPr id="27" name="Text 25">
            <a:extLst>
              <a:ext uri="{FF2B5EF4-FFF2-40B4-BE49-F238E27FC236}">
                <a16:creationId xmlns:a16="http://schemas.microsoft.com/office/drawing/2014/main" id="{C41F0A22-1C30-7AF2-A0B9-7A6C34BD73BF}"/>
              </a:ext>
            </a:extLst>
          </p:cNvPr>
          <p:cNvSpPr/>
          <p:nvPr/>
        </p:nvSpPr>
        <p:spPr>
          <a:xfrm>
            <a:off x="2851462" y="5873807"/>
            <a:ext cx="6583172" cy="502920"/>
          </a:xfrm>
          <a:prstGeom prst="rect">
            <a:avLst/>
          </a:prstGeom>
          <a:noFill/>
          <a:ln/>
        </p:spPr>
        <p:txBody>
          <a:bodyPr wrap="square" lIns="254" tIns="254" rIns="254" bIns="254" rtlCol="0" anchor="ctr">
            <a:normAutofit/>
          </a:bodyPr>
          <a:lstStyle/>
          <a:p>
            <a:pPr marL="0" indent="0">
              <a:buNone/>
            </a:pPr>
            <a:r>
              <a:rPr lang="en-US" b="1" dirty="0">
                <a:solidFill>
                  <a:srgbClr val="F3F1E8"/>
                </a:solidFill>
              </a:rPr>
              <a:t>Analytical unit: controller–function–counterpart relationship.</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7955280" cy="502920"/>
          </a:xfrm>
          <a:prstGeom prst="rect">
            <a:avLst/>
          </a:prstGeom>
          <a:noFill/>
          <a:ln/>
        </p:spPr>
        <p:txBody>
          <a:bodyPr wrap="square" lIns="0" tIns="0" rIns="0" bIns="0" rtlCol="0" anchor="ct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2. Conceptual Framework</a:t>
            </a:r>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26" name="文本框 25">
            <a:extLst>
              <a:ext uri="{FF2B5EF4-FFF2-40B4-BE49-F238E27FC236}">
                <a16:creationId xmlns:a16="http://schemas.microsoft.com/office/drawing/2014/main" id="{29135FE1-FDD7-2994-3AFF-63DB4D35942C}"/>
              </a:ext>
            </a:extLst>
          </p:cNvPr>
          <p:cNvSpPr txBox="1"/>
          <p:nvPr/>
        </p:nvSpPr>
        <p:spPr>
          <a:xfrm>
            <a:off x="2882900" y="6227213"/>
            <a:ext cx="7086600" cy="307777"/>
          </a:xfrm>
          <a:prstGeom prst="rect">
            <a:avLst/>
          </a:prstGeom>
          <a:noFill/>
        </p:spPr>
        <p:txBody>
          <a:bodyPr wrap="square">
            <a:spAutoFit/>
          </a:bodyPr>
          <a:lstStyle/>
          <a:p>
            <a:pPr marL="0" marR="0" algn="ctr">
              <a:lnSpc>
                <a:spcPct val="100000"/>
              </a:lnSpc>
              <a:spcAft>
                <a:spcPts val="200"/>
              </a:spcAft>
              <a:buNone/>
            </a:pPr>
            <a:r>
              <a:rPr lang="en-US" sz="1400" b="1" dirty="0">
                <a:solidFill>
                  <a:schemeClr val="bg1"/>
                </a:solidFill>
                <a:effectLst/>
                <a:latin typeface="+mn-lt"/>
                <a:ea typeface="Times New Roman" panose="02020603050405020304" pitchFamily="18" charset="0"/>
                <a:cs typeface="Times New Roman" panose="02020603050405020304" pitchFamily="18" charset="0"/>
              </a:rPr>
              <a:t>Figure 1. Conceptual model of node-based agency. Source: Author’s analysis.</a:t>
            </a:r>
            <a:endParaRPr lang="en-US" sz="1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194B94E0-EA59-6A8D-EB78-FBA21683DDBB}"/>
              </a:ext>
            </a:extLst>
          </p:cNvPr>
          <p:cNvPicPr>
            <a:picLocks noChangeAspect="1"/>
          </p:cNvPicPr>
          <p:nvPr/>
        </p:nvPicPr>
        <p:blipFill>
          <a:blip r:embed="rId3"/>
          <a:srcRect t="2507" b="8635"/>
          <a:stretch>
            <a:fillRect/>
          </a:stretch>
        </p:blipFill>
        <p:spPr>
          <a:xfrm>
            <a:off x="1524000" y="1194153"/>
            <a:ext cx="9144000" cy="49416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11282680" cy="502920"/>
          </a:xfrm>
          <a:prstGeom prst="rect">
            <a:avLst/>
          </a:prstGeom>
          <a:noFill/>
          <a:ln/>
        </p:spPr>
        <p:txBody>
          <a:bodyPr wrap="square" lIns="0" tIns="0" rIns="0" bIns="0" rtlCol="0" anchor="ct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3. </a:t>
            </a:r>
            <a:r>
              <a:rPr lang="en-US" altLang="zh-CN" sz="2800" b="1" dirty="0">
                <a:solidFill>
                  <a:srgbClr val="F3F1E8"/>
                </a:solidFill>
                <a:latin typeface="Aptos Display" pitchFamily="34" charset="0"/>
                <a:ea typeface="Aptos Display" pitchFamily="34" charset="-122"/>
                <a:cs typeface="Aptos Display" pitchFamily="34" charset="-120"/>
              </a:rPr>
              <a:t>Three Cases: Three cases probe three consequential interfaces</a:t>
            </a:r>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24" name="text-72-176">
            <a:extLst>
              <a:ext uri="{FF2B5EF4-FFF2-40B4-BE49-F238E27FC236}">
                <a16:creationId xmlns:a16="http://schemas.microsoft.com/office/drawing/2014/main" id="{7641CD43-A9A2-9009-E211-603A8EA2FCF4}"/>
              </a:ext>
            </a:extLst>
          </p:cNvPr>
          <p:cNvSpPr>
            <a:spLocks noGrp="1"/>
          </p:cNvSpPr>
          <p:nvPr/>
        </p:nvSpPr>
        <p:spPr>
          <a:xfrm>
            <a:off x="762000" y="2055744"/>
            <a:ext cx="857250" cy="609600"/>
          </a:xfrm>
          <a:prstGeom prst="rect">
            <a:avLst/>
          </a:prstGeom>
          <a:noFill/>
          <a:ln w="0">
            <a:noFill/>
            <a:prstDash val="solid"/>
          </a:ln>
        </p:spPr>
        <p:txBody>
          <a:bodyPr anchor="t"/>
          <a:lstStyle/>
          <a:p>
            <a:pPr algn="l">
              <a:buNone/>
              <a:defRPr sz="3900" b="1" i="0">
                <a:solidFill>
                  <a:srgbClr val="DCEAF5"/>
                </a:solidFill>
                <a:latin typeface="Arial"/>
                <a:ea typeface="Arial"/>
                <a:cs typeface="Arial"/>
              </a:defRPr>
            </a:pPr>
            <a:r>
              <a:rPr sz="3900" b="1" i="0" dirty="0">
                <a:solidFill>
                  <a:schemeClr val="accent1">
                    <a:lumMod val="60000"/>
                    <a:lumOff val="40000"/>
                  </a:schemeClr>
                </a:solidFill>
                <a:latin typeface="Arial"/>
                <a:ea typeface="Arial"/>
                <a:cs typeface="Arial"/>
              </a:rPr>
              <a:t>01</a:t>
            </a:r>
          </a:p>
        </p:txBody>
      </p:sp>
      <p:sp>
        <p:nvSpPr>
          <p:cNvPr id="26" name="text-72-250">
            <a:extLst>
              <a:ext uri="{FF2B5EF4-FFF2-40B4-BE49-F238E27FC236}">
                <a16:creationId xmlns:a16="http://schemas.microsoft.com/office/drawing/2014/main" id="{55F4403E-02D3-7DBF-1CC8-02CCD44E7201}"/>
              </a:ext>
            </a:extLst>
          </p:cNvPr>
          <p:cNvSpPr>
            <a:spLocks noGrp="1"/>
          </p:cNvSpPr>
          <p:nvPr/>
        </p:nvSpPr>
        <p:spPr>
          <a:xfrm>
            <a:off x="1447800" y="2271891"/>
            <a:ext cx="3143250" cy="585641"/>
          </a:xfrm>
          <a:prstGeom prst="rect">
            <a:avLst/>
          </a:prstGeom>
          <a:noFill/>
          <a:ln w="0">
            <a:noFill/>
            <a:prstDash val="solid"/>
          </a:ln>
        </p:spPr>
        <p:txBody>
          <a:bodyPr anchor="t"/>
          <a:lstStyle/>
          <a:p>
            <a:pPr algn="l">
              <a:buNone/>
              <a:defRPr sz="1575" b="1" i="0">
                <a:solidFill>
                  <a:srgbClr val="214F73"/>
                </a:solidFill>
                <a:latin typeface="Arial"/>
                <a:ea typeface="Arial"/>
                <a:cs typeface="Arial"/>
              </a:defRPr>
            </a:pPr>
            <a:r>
              <a:rPr sz="1600" b="1" i="0" dirty="0">
                <a:solidFill>
                  <a:schemeClr val="bg1"/>
                </a:solidFill>
                <a:latin typeface="Arial"/>
                <a:ea typeface="Arial"/>
                <a:cs typeface="Arial"/>
              </a:rPr>
              <a:t>NORTHERN CASPIAN</a:t>
            </a:r>
          </a:p>
        </p:txBody>
      </p:sp>
      <p:sp>
        <p:nvSpPr>
          <p:cNvPr id="28" name="text-72-292">
            <a:extLst>
              <a:ext uri="{FF2B5EF4-FFF2-40B4-BE49-F238E27FC236}">
                <a16:creationId xmlns:a16="http://schemas.microsoft.com/office/drawing/2014/main" id="{F00F5F4A-13BD-1EB8-C17F-A78918088E7C}"/>
              </a:ext>
            </a:extLst>
          </p:cNvPr>
          <p:cNvSpPr>
            <a:spLocks noGrp="1"/>
          </p:cNvSpPr>
          <p:nvPr/>
        </p:nvSpPr>
        <p:spPr>
          <a:xfrm>
            <a:off x="762000" y="3160644"/>
            <a:ext cx="3143250" cy="400050"/>
          </a:xfrm>
          <a:prstGeom prst="rect">
            <a:avLst/>
          </a:prstGeom>
          <a:noFill/>
          <a:ln w="0">
            <a:noFill/>
            <a:prstDash val="solid"/>
          </a:ln>
        </p:spPr>
        <p:txBody>
          <a:bodyPr anchor="t"/>
          <a:lstStyle/>
          <a:p>
            <a:pPr algn="l">
              <a:buNone/>
              <a:defRPr sz="2100" b="1" i="0">
                <a:solidFill>
                  <a:srgbClr val="151A22"/>
                </a:solidFill>
                <a:latin typeface="Arial"/>
                <a:ea typeface="Arial"/>
                <a:cs typeface="Arial"/>
              </a:defRPr>
            </a:pPr>
            <a:r>
              <a:rPr sz="2100" b="1" i="0" dirty="0">
                <a:solidFill>
                  <a:schemeClr val="bg1"/>
                </a:solidFill>
                <a:latin typeface="Arial"/>
                <a:ea typeface="Arial"/>
                <a:cs typeface="Arial"/>
              </a:rPr>
              <a:t>Logistics </a:t>
            </a:r>
            <a:r>
              <a:rPr lang="en-US" altLang="zh-CN" sz="2100" b="1" i="0" dirty="0">
                <a:solidFill>
                  <a:schemeClr val="bg1"/>
                </a:solidFill>
                <a:latin typeface="Arial"/>
                <a:ea typeface="Arial"/>
                <a:cs typeface="Arial"/>
              </a:rPr>
              <a:t>C</a:t>
            </a:r>
            <a:r>
              <a:rPr sz="2100" b="1" i="0" dirty="0">
                <a:solidFill>
                  <a:schemeClr val="bg1"/>
                </a:solidFill>
                <a:latin typeface="Arial"/>
                <a:ea typeface="Arial"/>
                <a:cs typeface="Arial"/>
              </a:rPr>
              <a:t>orridor</a:t>
            </a:r>
          </a:p>
        </p:txBody>
      </p:sp>
      <p:sp>
        <p:nvSpPr>
          <p:cNvPr id="30" name="case-rule-0">
            <a:extLst>
              <a:ext uri="{FF2B5EF4-FFF2-40B4-BE49-F238E27FC236}">
                <a16:creationId xmlns:a16="http://schemas.microsoft.com/office/drawing/2014/main" id="{A80DFFB1-727C-3476-B2E8-156688A178D7}"/>
              </a:ext>
            </a:extLst>
          </p:cNvPr>
          <p:cNvSpPr>
            <a:spLocks noGrp="1"/>
          </p:cNvSpPr>
          <p:nvPr/>
        </p:nvSpPr>
        <p:spPr>
          <a:xfrm>
            <a:off x="762000" y="3713094"/>
            <a:ext cx="3048000" cy="19050"/>
          </a:xfrm>
          <a:prstGeom prst="rect">
            <a:avLst/>
          </a:prstGeom>
          <a:solidFill>
            <a:srgbClr val="B8C0C8"/>
          </a:solidFill>
          <a:ln w="0">
            <a:noFill/>
            <a:prstDash val="solid"/>
          </a:ln>
        </p:spPr>
      </p:sp>
      <p:sp>
        <p:nvSpPr>
          <p:cNvPr id="32" name="text-72-376">
            <a:extLst>
              <a:ext uri="{FF2B5EF4-FFF2-40B4-BE49-F238E27FC236}">
                <a16:creationId xmlns:a16="http://schemas.microsoft.com/office/drawing/2014/main" id="{FD12F4B5-9231-7D8D-A3EA-8795680245F0}"/>
              </a:ext>
            </a:extLst>
          </p:cNvPr>
          <p:cNvSpPr>
            <a:spLocks noGrp="1"/>
          </p:cNvSpPr>
          <p:nvPr/>
        </p:nvSpPr>
        <p:spPr>
          <a:xfrm>
            <a:off x="762000" y="3960744"/>
            <a:ext cx="3067050" cy="1123950"/>
          </a:xfrm>
          <a:prstGeom prst="rect">
            <a:avLst/>
          </a:prstGeom>
          <a:noFill/>
          <a:ln w="0">
            <a:noFill/>
            <a:prstDash val="solid"/>
          </a:ln>
        </p:spPr>
        <p:txBody>
          <a:bodyPr anchor="t"/>
          <a:lstStyle/>
          <a:p>
            <a:pPr algn="l">
              <a:buNone/>
              <a:defRPr sz="1575" b="0" i="0">
                <a:solidFill>
                  <a:srgbClr val="586473"/>
                </a:solidFill>
                <a:latin typeface="Arial"/>
                <a:ea typeface="Arial"/>
                <a:cs typeface="Arial"/>
              </a:defRPr>
            </a:pPr>
            <a:r>
              <a:rPr lang="en-US" sz="1575" b="0" i="0" dirty="0">
                <a:solidFill>
                  <a:schemeClr val="bg1"/>
                </a:solidFill>
                <a:latin typeface="Arial"/>
                <a:ea typeface="Arial"/>
                <a:cs typeface="Arial"/>
              </a:rPr>
              <a:t>Does situational criticality translate into purposeful smaller-state control?</a:t>
            </a:r>
            <a:endParaRPr sz="1575" b="0" i="0" dirty="0">
              <a:solidFill>
                <a:schemeClr val="bg1"/>
              </a:solidFill>
              <a:latin typeface="Arial"/>
              <a:ea typeface="Arial"/>
              <a:cs typeface="Arial"/>
            </a:endParaRPr>
          </a:p>
        </p:txBody>
      </p:sp>
      <p:sp>
        <p:nvSpPr>
          <p:cNvPr id="34" name="text-456-176">
            <a:extLst>
              <a:ext uri="{FF2B5EF4-FFF2-40B4-BE49-F238E27FC236}">
                <a16:creationId xmlns:a16="http://schemas.microsoft.com/office/drawing/2014/main" id="{01479A5C-0D20-2D5E-BA29-7F94D08ECC76}"/>
              </a:ext>
            </a:extLst>
          </p:cNvPr>
          <p:cNvSpPr>
            <a:spLocks noGrp="1"/>
          </p:cNvSpPr>
          <p:nvPr/>
        </p:nvSpPr>
        <p:spPr>
          <a:xfrm>
            <a:off x="4419600" y="2055744"/>
            <a:ext cx="857250" cy="609600"/>
          </a:xfrm>
          <a:prstGeom prst="rect">
            <a:avLst/>
          </a:prstGeom>
          <a:noFill/>
          <a:ln w="0">
            <a:noFill/>
            <a:prstDash val="solid"/>
          </a:ln>
        </p:spPr>
        <p:txBody>
          <a:bodyPr anchor="t"/>
          <a:lstStyle/>
          <a:p>
            <a:pPr algn="l">
              <a:buNone/>
              <a:defRPr sz="3900" b="1" i="0">
                <a:solidFill>
                  <a:srgbClr val="DCEAF5"/>
                </a:solidFill>
                <a:latin typeface="Arial"/>
                <a:ea typeface="Arial"/>
                <a:cs typeface="Arial"/>
              </a:defRPr>
            </a:pPr>
            <a:r>
              <a:rPr sz="3900" b="1" i="0" dirty="0">
                <a:solidFill>
                  <a:schemeClr val="accent1">
                    <a:lumMod val="60000"/>
                    <a:lumOff val="40000"/>
                  </a:schemeClr>
                </a:solidFill>
                <a:latin typeface="Arial"/>
                <a:ea typeface="Arial"/>
                <a:cs typeface="Arial"/>
              </a:rPr>
              <a:t>02</a:t>
            </a:r>
          </a:p>
        </p:txBody>
      </p:sp>
      <p:sp>
        <p:nvSpPr>
          <p:cNvPr id="36" name="text-456-250">
            <a:extLst>
              <a:ext uri="{FF2B5EF4-FFF2-40B4-BE49-F238E27FC236}">
                <a16:creationId xmlns:a16="http://schemas.microsoft.com/office/drawing/2014/main" id="{14DBD808-E8C1-BF29-8CEE-7F084508268D}"/>
              </a:ext>
            </a:extLst>
          </p:cNvPr>
          <p:cNvSpPr>
            <a:spLocks noGrp="1"/>
          </p:cNvSpPr>
          <p:nvPr/>
        </p:nvSpPr>
        <p:spPr>
          <a:xfrm>
            <a:off x="5276850" y="2271456"/>
            <a:ext cx="3143250" cy="304800"/>
          </a:xfrm>
          <a:prstGeom prst="rect">
            <a:avLst/>
          </a:prstGeom>
          <a:noFill/>
          <a:ln w="0">
            <a:noFill/>
            <a:prstDash val="solid"/>
          </a:ln>
        </p:spPr>
        <p:txBody>
          <a:bodyPr anchor="t"/>
          <a:lstStyle/>
          <a:p>
            <a:pPr algn="l">
              <a:buNone/>
              <a:defRPr sz="1575" b="1" i="0">
                <a:solidFill>
                  <a:srgbClr val="214F73"/>
                </a:solidFill>
                <a:latin typeface="Arial"/>
                <a:ea typeface="Arial"/>
                <a:cs typeface="Arial"/>
              </a:defRPr>
            </a:pPr>
            <a:r>
              <a:rPr sz="1600" b="1" i="0" dirty="0">
                <a:solidFill>
                  <a:schemeClr val="bg1"/>
                </a:solidFill>
                <a:latin typeface="Arial"/>
                <a:ea typeface="Arial"/>
                <a:cs typeface="Arial"/>
              </a:rPr>
              <a:t>GULF ACCESS</a:t>
            </a:r>
          </a:p>
        </p:txBody>
      </p:sp>
      <p:sp>
        <p:nvSpPr>
          <p:cNvPr id="38" name="text-456-292">
            <a:extLst>
              <a:ext uri="{FF2B5EF4-FFF2-40B4-BE49-F238E27FC236}">
                <a16:creationId xmlns:a16="http://schemas.microsoft.com/office/drawing/2014/main" id="{18B59B73-B7C9-38D9-BF5F-B1DC3BCD088D}"/>
              </a:ext>
            </a:extLst>
          </p:cNvPr>
          <p:cNvSpPr>
            <a:spLocks noGrp="1"/>
          </p:cNvSpPr>
          <p:nvPr/>
        </p:nvSpPr>
        <p:spPr>
          <a:xfrm>
            <a:off x="4419600" y="3160644"/>
            <a:ext cx="3143250" cy="400050"/>
          </a:xfrm>
          <a:prstGeom prst="rect">
            <a:avLst/>
          </a:prstGeom>
          <a:noFill/>
          <a:ln w="0">
            <a:noFill/>
            <a:prstDash val="solid"/>
          </a:ln>
        </p:spPr>
        <p:txBody>
          <a:bodyPr anchor="t"/>
          <a:lstStyle/>
          <a:p>
            <a:pPr algn="l">
              <a:buNone/>
              <a:defRPr sz="2100" b="1" i="0">
                <a:solidFill>
                  <a:srgbClr val="151A22"/>
                </a:solidFill>
                <a:latin typeface="Arial"/>
                <a:ea typeface="Arial"/>
                <a:cs typeface="Arial"/>
              </a:defRPr>
            </a:pPr>
            <a:r>
              <a:rPr sz="2100" b="1" i="0" dirty="0">
                <a:solidFill>
                  <a:schemeClr val="bg1"/>
                </a:solidFill>
                <a:latin typeface="Arial"/>
                <a:ea typeface="Arial"/>
                <a:cs typeface="Arial"/>
              </a:rPr>
              <a:t>Bases and </a:t>
            </a:r>
            <a:r>
              <a:rPr lang="en-US" altLang="zh-CN" sz="2100" b="1" i="0" dirty="0">
                <a:solidFill>
                  <a:schemeClr val="bg1"/>
                </a:solidFill>
                <a:latin typeface="Arial"/>
                <a:ea typeface="Arial"/>
                <a:cs typeface="Arial"/>
              </a:rPr>
              <a:t>A</a:t>
            </a:r>
            <a:r>
              <a:rPr sz="2100" b="1" i="0" dirty="0">
                <a:solidFill>
                  <a:schemeClr val="bg1"/>
                </a:solidFill>
                <a:latin typeface="Arial"/>
                <a:ea typeface="Arial"/>
                <a:cs typeface="Arial"/>
              </a:rPr>
              <a:t>irspace</a:t>
            </a:r>
          </a:p>
        </p:txBody>
      </p:sp>
      <p:sp>
        <p:nvSpPr>
          <p:cNvPr id="40" name="case-rule-1">
            <a:extLst>
              <a:ext uri="{FF2B5EF4-FFF2-40B4-BE49-F238E27FC236}">
                <a16:creationId xmlns:a16="http://schemas.microsoft.com/office/drawing/2014/main" id="{655926DE-6BB3-52E4-E169-094CE1A7FB76}"/>
              </a:ext>
            </a:extLst>
          </p:cNvPr>
          <p:cNvSpPr>
            <a:spLocks noGrp="1"/>
          </p:cNvSpPr>
          <p:nvPr/>
        </p:nvSpPr>
        <p:spPr>
          <a:xfrm>
            <a:off x="4419600" y="3713094"/>
            <a:ext cx="3048000" cy="19050"/>
          </a:xfrm>
          <a:prstGeom prst="rect">
            <a:avLst/>
          </a:prstGeom>
          <a:solidFill>
            <a:srgbClr val="B8C0C8"/>
          </a:solidFill>
          <a:ln w="0">
            <a:noFill/>
            <a:prstDash val="solid"/>
          </a:ln>
        </p:spPr>
      </p:sp>
      <p:sp>
        <p:nvSpPr>
          <p:cNvPr id="42" name="text-456-376">
            <a:extLst>
              <a:ext uri="{FF2B5EF4-FFF2-40B4-BE49-F238E27FC236}">
                <a16:creationId xmlns:a16="http://schemas.microsoft.com/office/drawing/2014/main" id="{23903303-8C20-76C3-B941-5100FEFF3336}"/>
              </a:ext>
            </a:extLst>
          </p:cNvPr>
          <p:cNvSpPr>
            <a:spLocks noGrp="1"/>
          </p:cNvSpPr>
          <p:nvPr/>
        </p:nvSpPr>
        <p:spPr>
          <a:xfrm>
            <a:off x="4419600" y="3960744"/>
            <a:ext cx="3067050" cy="1123950"/>
          </a:xfrm>
          <a:prstGeom prst="rect">
            <a:avLst/>
          </a:prstGeom>
          <a:noFill/>
          <a:ln w="0">
            <a:noFill/>
            <a:prstDash val="solid"/>
          </a:ln>
        </p:spPr>
        <p:txBody>
          <a:bodyPr anchor="t"/>
          <a:lstStyle/>
          <a:p>
            <a:pPr algn="l">
              <a:buNone/>
              <a:defRPr sz="1575" b="0" i="0">
                <a:solidFill>
                  <a:srgbClr val="586473"/>
                </a:solidFill>
                <a:latin typeface="Arial"/>
                <a:ea typeface="Arial"/>
                <a:cs typeface="Arial"/>
              </a:defRPr>
            </a:pPr>
            <a:r>
              <a:rPr lang="en-US" sz="1575" b="0" i="0" dirty="0">
                <a:solidFill>
                  <a:schemeClr val="bg1"/>
                </a:solidFill>
                <a:latin typeface="Arial"/>
                <a:ea typeface="Arial"/>
                <a:cs typeface="Arial"/>
              </a:rPr>
              <a:t>Does host-state authorization alter a stronger actor’s operational access?</a:t>
            </a:r>
            <a:endParaRPr sz="1575" b="0" i="0" dirty="0">
              <a:solidFill>
                <a:schemeClr val="bg1"/>
              </a:solidFill>
              <a:latin typeface="Arial"/>
              <a:ea typeface="Arial"/>
              <a:cs typeface="Arial"/>
            </a:endParaRPr>
          </a:p>
        </p:txBody>
      </p:sp>
      <p:sp>
        <p:nvSpPr>
          <p:cNvPr id="44" name="text-840-176">
            <a:extLst>
              <a:ext uri="{FF2B5EF4-FFF2-40B4-BE49-F238E27FC236}">
                <a16:creationId xmlns:a16="http://schemas.microsoft.com/office/drawing/2014/main" id="{2B74191E-5C6D-94E0-DB21-C39EB7A70BE2}"/>
              </a:ext>
            </a:extLst>
          </p:cNvPr>
          <p:cNvSpPr>
            <a:spLocks noGrp="1"/>
          </p:cNvSpPr>
          <p:nvPr/>
        </p:nvSpPr>
        <p:spPr>
          <a:xfrm>
            <a:off x="8077200" y="2055744"/>
            <a:ext cx="857250" cy="609600"/>
          </a:xfrm>
          <a:prstGeom prst="rect">
            <a:avLst/>
          </a:prstGeom>
          <a:noFill/>
          <a:ln w="0">
            <a:noFill/>
            <a:prstDash val="solid"/>
          </a:ln>
        </p:spPr>
        <p:txBody>
          <a:bodyPr anchor="t"/>
          <a:lstStyle/>
          <a:p>
            <a:pPr algn="l">
              <a:buNone/>
              <a:defRPr sz="3900" b="1" i="0">
                <a:solidFill>
                  <a:srgbClr val="DCEAF5"/>
                </a:solidFill>
                <a:latin typeface="Arial"/>
                <a:ea typeface="Arial"/>
                <a:cs typeface="Arial"/>
              </a:defRPr>
            </a:pPr>
            <a:r>
              <a:rPr sz="3900" b="1" i="0" dirty="0">
                <a:solidFill>
                  <a:schemeClr val="accent1">
                    <a:lumMod val="60000"/>
                    <a:lumOff val="40000"/>
                  </a:schemeClr>
                </a:solidFill>
                <a:latin typeface="Arial"/>
                <a:ea typeface="Arial"/>
                <a:cs typeface="Arial"/>
              </a:rPr>
              <a:t>03</a:t>
            </a:r>
          </a:p>
        </p:txBody>
      </p:sp>
      <p:sp>
        <p:nvSpPr>
          <p:cNvPr id="46" name="text-840-250">
            <a:extLst>
              <a:ext uri="{FF2B5EF4-FFF2-40B4-BE49-F238E27FC236}">
                <a16:creationId xmlns:a16="http://schemas.microsoft.com/office/drawing/2014/main" id="{0585BC80-477B-C02C-3DC3-4D4CA2492EEC}"/>
              </a:ext>
            </a:extLst>
          </p:cNvPr>
          <p:cNvSpPr>
            <a:spLocks noGrp="1"/>
          </p:cNvSpPr>
          <p:nvPr/>
        </p:nvSpPr>
        <p:spPr>
          <a:xfrm>
            <a:off x="8934450" y="2271891"/>
            <a:ext cx="3143250" cy="304800"/>
          </a:xfrm>
          <a:prstGeom prst="rect">
            <a:avLst/>
          </a:prstGeom>
          <a:noFill/>
          <a:ln w="0">
            <a:noFill/>
            <a:prstDash val="solid"/>
          </a:ln>
        </p:spPr>
        <p:txBody>
          <a:bodyPr anchor="t"/>
          <a:lstStyle/>
          <a:p>
            <a:pPr algn="l">
              <a:buNone/>
              <a:defRPr sz="1575" b="1" i="0">
                <a:solidFill>
                  <a:srgbClr val="214F73"/>
                </a:solidFill>
                <a:latin typeface="Arial"/>
                <a:ea typeface="Arial"/>
                <a:cs typeface="Arial"/>
              </a:defRPr>
            </a:pPr>
            <a:r>
              <a:rPr sz="1600" b="1" i="0" dirty="0">
                <a:solidFill>
                  <a:schemeClr val="bg1"/>
                </a:solidFill>
                <a:latin typeface="Arial"/>
                <a:ea typeface="Arial"/>
                <a:cs typeface="Arial"/>
              </a:rPr>
              <a:t>UKRAINE–GULF</a:t>
            </a:r>
          </a:p>
        </p:txBody>
      </p:sp>
      <p:sp>
        <p:nvSpPr>
          <p:cNvPr id="48" name="text-840-292">
            <a:extLst>
              <a:ext uri="{FF2B5EF4-FFF2-40B4-BE49-F238E27FC236}">
                <a16:creationId xmlns:a16="http://schemas.microsoft.com/office/drawing/2014/main" id="{FFF61936-5FA0-6453-E54C-6C70CA00342D}"/>
              </a:ext>
            </a:extLst>
          </p:cNvPr>
          <p:cNvSpPr>
            <a:spLocks noGrp="1"/>
          </p:cNvSpPr>
          <p:nvPr/>
        </p:nvSpPr>
        <p:spPr>
          <a:xfrm>
            <a:off x="8077200" y="3160644"/>
            <a:ext cx="3143250" cy="400050"/>
          </a:xfrm>
          <a:prstGeom prst="rect">
            <a:avLst/>
          </a:prstGeom>
          <a:noFill/>
          <a:ln w="0">
            <a:noFill/>
            <a:prstDash val="solid"/>
          </a:ln>
        </p:spPr>
        <p:txBody>
          <a:bodyPr anchor="t"/>
          <a:lstStyle/>
          <a:p>
            <a:pPr algn="l">
              <a:buNone/>
              <a:defRPr sz="2100" b="1" i="0">
                <a:solidFill>
                  <a:srgbClr val="151A22"/>
                </a:solidFill>
                <a:latin typeface="Arial"/>
                <a:ea typeface="Arial"/>
                <a:cs typeface="Arial"/>
              </a:defRPr>
            </a:pPr>
            <a:r>
              <a:rPr sz="2100" b="1" i="0" dirty="0">
                <a:solidFill>
                  <a:schemeClr val="bg1"/>
                </a:solidFill>
                <a:latin typeface="Arial"/>
                <a:ea typeface="Arial"/>
                <a:cs typeface="Arial"/>
              </a:rPr>
              <a:t>Knowledge </a:t>
            </a:r>
            <a:r>
              <a:rPr lang="en-US" altLang="zh-CN" sz="2100" b="1" i="0" dirty="0">
                <a:solidFill>
                  <a:schemeClr val="bg1"/>
                </a:solidFill>
                <a:latin typeface="Arial"/>
                <a:ea typeface="Arial"/>
                <a:cs typeface="Arial"/>
              </a:rPr>
              <a:t>I</a:t>
            </a:r>
            <a:r>
              <a:rPr sz="2100" b="1" i="0" dirty="0">
                <a:solidFill>
                  <a:schemeClr val="bg1"/>
                </a:solidFill>
                <a:latin typeface="Arial"/>
                <a:ea typeface="Arial"/>
                <a:cs typeface="Arial"/>
              </a:rPr>
              <a:t>nterface</a:t>
            </a:r>
          </a:p>
        </p:txBody>
      </p:sp>
      <p:sp>
        <p:nvSpPr>
          <p:cNvPr id="50" name="case-rule-2">
            <a:extLst>
              <a:ext uri="{FF2B5EF4-FFF2-40B4-BE49-F238E27FC236}">
                <a16:creationId xmlns:a16="http://schemas.microsoft.com/office/drawing/2014/main" id="{E55130CC-08EA-2C80-4702-056E8191A333}"/>
              </a:ext>
            </a:extLst>
          </p:cNvPr>
          <p:cNvSpPr>
            <a:spLocks noGrp="1"/>
          </p:cNvSpPr>
          <p:nvPr/>
        </p:nvSpPr>
        <p:spPr>
          <a:xfrm>
            <a:off x="8077200" y="3713094"/>
            <a:ext cx="3048000" cy="19050"/>
          </a:xfrm>
          <a:prstGeom prst="rect">
            <a:avLst/>
          </a:prstGeom>
          <a:solidFill>
            <a:srgbClr val="B8C0C8"/>
          </a:solidFill>
          <a:ln w="0">
            <a:noFill/>
            <a:prstDash val="solid"/>
          </a:ln>
        </p:spPr>
      </p:sp>
      <p:sp>
        <p:nvSpPr>
          <p:cNvPr id="52" name="text-840-376">
            <a:extLst>
              <a:ext uri="{FF2B5EF4-FFF2-40B4-BE49-F238E27FC236}">
                <a16:creationId xmlns:a16="http://schemas.microsoft.com/office/drawing/2014/main" id="{B908A361-3C6E-561A-44A1-F59E29AE83C3}"/>
              </a:ext>
            </a:extLst>
          </p:cNvPr>
          <p:cNvSpPr>
            <a:spLocks noGrp="1"/>
          </p:cNvSpPr>
          <p:nvPr/>
        </p:nvSpPr>
        <p:spPr>
          <a:xfrm>
            <a:off x="8077200" y="3960744"/>
            <a:ext cx="3067050" cy="1123950"/>
          </a:xfrm>
          <a:prstGeom prst="rect">
            <a:avLst/>
          </a:prstGeom>
          <a:noFill/>
          <a:ln w="0">
            <a:noFill/>
            <a:prstDash val="solid"/>
          </a:ln>
        </p:spPr>
        <p:txBody>
          <a:bodyPr anchor="t"/>
          <a:lstStyle/>
          <a:p>
            <a:pPr algn="l">
              <a:buNone/>
              <a:defRPr sz="1575" b="0" i="0">
                <a:solidFill>
                  <a:srgbClr val="586473"/>
                </a:solidFill>
                <a:latin typeface="Arial"/>
                <a:ea typeface="Arial"/>
                <a:cs typeface="Arial"/>
              </a:defRPr>
            </a:pPr>
            <a:r>
              <a:rPr lang="en-US" sz="1575" b="0" i="0" dirty="0">
                <a:solidFill>
                  <a:schemeClr val="bg1"/>
                </a:solidFill>
                <a:latin typeface="Arial"/>
                <a:ea typeface="Arial"/>
                <a:cs typeface="Arial"/>
              </a:rPr>
              <a:t>Can delivered expertise generate leverage across provider–recipient relationships?</a:t>
            </a:r>
            <a:endParaRPr sz="1575" b="0" i="0" dirty="0">
              <a:solidFill>
                <a:schemeClr val="bg1"/>
              </a:solidFill>
              <a:latin typeface="Arial"/>
              <a:ea typeface="Arial"/>
              <a:cs typeface="Arial"/>
            </a:endParaRPr>
          </a:p>
        </p:txBody>
      </p:sp>
      <p:sp>
        <p:nvSpPr>
          <p:cNvPr id="56" name="text-96-568">
            <a:extLst>
              <a:ext uri="{FF2B5EF4-FFF2-40B4-BE49-F238E27FC236}">
                <a16:creationId xmlns:a16="http://schemas.microsoft.com/office/drawing/2014/main" id="{B5FC0D99-D30A-8CDD-389D-C3BB8FF2CA6A}"/>
              </a:ext>
            </a:extLst>
          </p:cNvPr>
          <p:cNvSpPr>
            <a:spLocks noGrp="1"/>
          </p:cNvSpPr>
          <p:nvPr/>
        </p:nvSpPr>
        <p:spPr>
          <a:xfrm>
            <a:off x="914400" y="5290932"/>
            <a:ext cx="10363200" cy="476250"/>
          </a:xfrm>
          <a:prstGeom prst="rect">
            <a:avLst/>
          </a:prstGeom>
          <a:noFill/>
          <a:ln w="0">
            <a:noFill/>
            <a:prstDash val="solid"/>
          </a:ln>
        </p:spPr>
        <p:txBody>
          <a:bodyPr anchor="t"/>
          <a:lstStyle/>
          <a:p>
            <a:pPr algn="ctr">
              <a:buNone/>
              <a:defRPr sz="1575" b="0" i="0">
                <a:solidFill>
                  <a:srgbClr val="151A22"/>
                </a:solidFill>
                <a:latin typeface="Arial"/>
                <a:ea typeface="Arial"/>
                <a:cs typeface="Arial"/>
              </a:defRPr>
            </a:pPr>
            <a:endParaRPr lang="en-US" sz="1200" b="0" i="0" dirty="0">
              <a:latin typeface="Arial"/>
              <a:ea typeface="Arial"/>
              <a:cs typeface="Arial"/>
            </a:endParaRPr>
          </a:p>
        </p:txBody>
      </p:sp>
      <p:sp>
        <p:nvSpPr>
          <p:cNvPr id="58" name="文本框 57">
            <a:extLst>
              <a:ext uri="{FF2B5EF4-FFF2-40B4-BE49-F238E27FC236}">
                <a16:creationId xmlns:a16="http://schemas.microsoft.com/office/drawing/2014/main" id="{F91DE8C8-4F2C-C530-C2AA-5773A5E614E4}"/>
              </a:ext>
            </a:extLst>
          </p:cNvPr>
          <p:cNvSpPr txBox="1"/>
          <p:nvPr/>
        </p:nvSpPr>
        <p:spPr>
          <a:xfrm>
            <a:off x="405447" y="6032393"/>
            <a:ext cx="11477626" cy="307777"/>
          </a:xfrm>
          <a:prstGeom prst="rect">
            <a:avLst/>
          </a:prstGeom>
          <a:noFill/>
        </p:spPr>
        <p:txBody>
          <a:bodyPr wrap="square">
            <a:spAutoFit/>
          </a:bodyPr>
          <a:lstStyle/>
          <a:p>
            <a:pPr algn="ctr">
              <a:buNone/>
              <a:defRPr sz="1575" b="0" i="0">
                <a:solidFill>
                  <a:srgbClr val="151A22"/>
                </a:solidFill>
                <a:latin typeface="Arial"/>
                <a:ea typeface="Arial"/>
                <a:cs typeface="Arial"/>
              </a:defRPr>
            </a:pPr>
            <a:r>
              <a:rPr lang="en-US" sz="1400" b="0" i="0" dirty="0">
                <a:solidFill>
                  <a:schemeClr val="bg1"/>
                </a:solidFill>
                <a:latin typeface="Arial"/>
                <a:ea typeface="Arial"/>
                <a:cs typeface="Arial"/>
              </a:rPr>
              <a:t>Evidence through 7 September 2026 · Structured comparison for concept development · Not designed to test necessary or sufficient conditions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0E13"/>
        </a:solidFill>
        <a:effectLst/>
      </p:bgPr>
    </p:bg>
    <p:spTree>
      <p:nvGrpSpPr>
        <p:cNvPr id="1" name=""/>
        <p:cNvGrpSpPr/>
        <p:nvPr/>
      </p:nvGrpSpPr>
      <p:grpSpPr>
        <a:xfrm>
          <a:off x="0" y="0"/>
          <a:ext cx="0" cy="0"/>
          <a:chOff x="0" y="0"/>
          <a:chExt cx="0" cy="0"/>
        </a:xfrm>
      </p:grpSpPr>
      <p:pic>
        <p:nvPicPr>
          <p:cNvPr id="2" name="Image 0" descr="/mnt/data/a_wide_dark_stylized_infographic_tech_background_16x9_dark.png"/>
          <p:cNvPicPr>
            <a:picLocks noChangeAspect="1"/>
          </p:cNvPicPr>
          <p:nvPr/>
        </p:nvPicPr>
        <p:blipFill>
          <a:blip r:embed="rId3"/>
          <a:stretch>
            <a:fillRect/>
          </a:stretch>
        </p:blipFill>
        <p:spPr>
          <a:xfrm>
            <a:off x="-18911" y="0"/>
            <a:ext cx="12191695" cy="6858000"/>
          </a:xfrm>
          <a:prstGeom prst="rect">
            <a:avLst/>
          </a:prstGeom>
        </p:spPr>
      </p:pic>
      <p:sp>
        <p:nvSpPr>
          <p:cNvPr id="3" name="Text 0"/>
          <p:cNvSpPr/>
          <p:nvPr/>
        </p:nvSpPr>
        <p:spPr>
          <a:xfrm>
            <a:off x="502920" y="384048"/>
            <a:ext cx="7955280" cy="502920"/>
          </a:xfrm>
          <a:prstGeom prst="rect">
            <a:avLst/>
          </a:prstGeom>
          <a:noFill/>
          <a:ln/>
        </p:spPr>
        <p:txBody>
          <a:bodyPr wrap="square" lIns="0" tIns="0" rIns="0" bIns="0" rtlCol="0" anchor="ct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Case I — Northern Caspian Corridor Power</a:t>
            </a:r>
            <a:endParaRPr lang="en-US" sz="2800" dirty="0"/>
          </a:p>
        </p:txBody>
      </p:sp>
      <p:sp>
        <p:nvSpPr>
          <p:cNvPr id="4" name="Shape 1"/>
          <p:cNvSpPr/>
          <p:nvPr/>
        </p:nvSpPr>
        <p:spPr>
          <a:xfrm>
            <a:off x="512064" y="987552"/>
            <a:ext cx="1143000" cy="0"/>
          </a:xfrm>
          <a:prstGeom prst="line">
            <a:avLst/>
          </a:prstGeom>
          <a:noFill/>
          <a:ln w="25400">
            <a:solidFill>
              <a:srgbClr val="C9A25D"/>
            </a:solidFill>
            <a:prstDash val="solid"/>
          </a:ln>
        </p:spPr>
      </p:sp>
      <p:sp>
        <p:nvSpPr>
          <p:cNvPr id="7" name="Text 4"/>
          <p:cNvSpPr/>
          <p:nvPr/>
        </p:nvSpPr>
        <p:spPr>
          <a:xfrm>
            <a:off x="758952" y="1618488"/>
            <a:ext cx="2263648" cy="433070"/>
          </a:xfrm>
          <a:prstGeom prst="roundRect">
            <a:avLst>
              <a:gd name="adj" fmla="val 16667"/>
            </a:avLst>
          </a:prstGeom>
          <a:solidFill>
            <a:srgbClr val="C9A25D"/>
          </a:solidFill>
          <a:ln w="10160">
            <a:solidFill>
              <a:srgbClr val="C9A25D"/>
            </a:solidFill>
          </a:ln>
        </p:spPr>
        <p:txBody>
          <a:bodyPr wrap="square" lIns="1524" tIns="1524" rIns="1524" bIns="1524" rtlCol="0" anchor="ctr"/>
          <a:lstStyle/>
          <a:p>
            <a:pPr marL="0" indent="0" algn="ctr">
              <a:buNone/>
            </a:pPr>
            <a:r>
              <a:rPr lang="en-US" sz="2000" b="1" dirty="0">
                <a:solidFill>
                  <a:srgbClr val="000000"/>
                </a:solidFill>
              </a:rPr>
              <a:t>Core finding</a:t>
            </a:r>
            <a:endParaRPr lang="en-US" sz="2000" dirty="0"/>
          </a:p>
        </p:txBody>
      </p:sp>
      <p:sp>
        <p:nvSpPr>
          <p:cNvPr id="8" name="Text 5"/>
          <p:cNvSpPr/>
          <p:nvPr/>
        </p:nvSpPr>
        <p:spPr>
          <a:xfrm>
            <a:off x="758952" y="2350008"/>
            <a:ext cx="4572000" cy="585216"/>
          </a:xfrm>
          <a:prstGeom prst="rect">
            <a:avLst/>
          </a:prstGeom>
          <a:noFill/>
          <a:ln/>
        </p:spPr>
        <p:txBody>
          <a:bodyPr wrap="square" lIns="254" tIns="254" rIns="254" bIns="254" rtlCol="0" anchor="ctr">
            <a:normAutofit fontScale="85000" lnSpcReduction="10000"/>
          </a:bodyPr>
          <a:lstStyle/>
          <a:p>
            <a:pPr marL="0" indent="0">
              <a:buNone/>
            </a:pPr>
            <a:r>
              <a:rPr lang="en-US" sz="2200" b="1" dirty="0">
                <a:solidFill>
                  <a:srgbClr val="F3F1E8"/>
                </a:solidFill>
              </a:rPr>
              <a:t>Situational logistics importance, but no demonstrated smaller-state conversion.</a:t>
            </a:r>
            <a:endParaRPr lang="en-US" sz="2200" dirty="0"/>
          </a:p>
        </p:txBody>
      </p:sp>
      <p:sp>
        <p:nvSpPr>
          <p:cNvPr id="9" name="Text 6"/>
          <p:cNvSpPr/>
          <p:nvPr/>
        </p:nvSpPr>
        <p:spPr>
          <a:xfrm>
            <a:off x="758952" y="3202940"/>
            <a:ext cx="4800600" cy="2514600"/>
          </a:xfrm>
          <a:prstGeom prst="rect">
            <a:avLst/>
          </a:prstGeom>
          <a:noFill/>
          <a:ln/>
        </p:spPr>
        <p:txBody>
          <a:bodyPr wrap="square" lIns="254" tIns="254" rIns="254" bIns="254" rtlCol="0" anchor="t">
            <a:normAutofit/>
          </a:bodyPr>
          <a:lstStyle/>
          <a:p>
            <a:pPr marL="457200" indent="-457200">
              <a:spcBef>
                <a:spcPts val="600"/>
              </a:spcBef>
              <a:spcAft>
                <a:spcPts val="600"/>
              </a:spcAft>
              <a:buFont typeface="Arial" panose="020B0604020202020204" pitchFamily="34" charset="0"/>
              <a:buChar char="•"/>
            </a:pPr>
            <a:r>
              <a:rPr lang="en-US" b="1" dirty="0">
                <a:solidFill>
                  <a:srgbClr val="C9A25D"/>
                </a:solidFill>
              </a:rPr>
              <a:t>Caspian routes preserved selected flows when southern access was constrained. </a:t>
            </a:r>
          </a:p>
          <a:p>
            <a:pPr marL="457200" indent="-457200">
              <a:spcBef>
                <a:spcPts val="600"/>
              </a:spcBef>
              <a:spcAft>
                <a:spcPts val="600"/>
              </a:spcAft>
              <a:buFont typeface="Arial" panose="020B0604020202020204" pitchFamily="34" charset="0"/>
              <a:buChar char="•"/>
            </a:pPr>
            <a:r>
              <a:rPr lang="en-US" b="1" dirty="0">
                <a:solidFill>
                  <a:srgbClr val="C9A25D"/>
                </a:solidFill>
              </a:rPr>
              <a:t>Control rights were dispersed across ports, customs, rail, scheduling, carriers, and sanctions regimes. </a:t>
            </a:r>
          </a:p>
          <a:p>
            <a:pPr marL="457200" indent="-457200">
              <a:spcBef>
                <a:spcPts val="600"/>
              </a:spcBef>
              <a:spcAft>
                <a:spcPts val="600"/>
              </a:spcAft>
              <a:buFont typeface="Arial" panose="020B0604020202020204" pitchFamily="34" charset="0"/>
              <a:buChar char="•"/>
            </a:pPr>
            <a:r>
              <a:rPr lang="en-US" b="1" dirty="0">
                <a:solidFill>
                  <a:srgbClr val="C9A25D"/>
                </a:solidFill>
              </a:rPr>
              <a:t>The reported Kazakh barley interruption indicates disrupted usability, not verified purposeful control.</a:t>
            </a:r>
          </a:p>
        </p:txBody>
      </p:sp>
      <p:sp>
        <p:nvSpPr>
          <p:cNvPr id="10" name="Text 7"/>
          <p:cNvSpPr/>
          <p:nvPr/>
        </p:nvSpPr>
        <p:spPr>
          <a:xfrm>
            <a:off x="6309360" y="2386584"/>
            <a:ext cx="1600200" cy="1316736"/>
          </a:xfrm>
          <a:prstGeom prst="roundRect">
            <a:avLst>
              <a:gd name="adj" fmla="val 7500"/>
            </a:avLst>
          </a:prstGeom>
          <a:solidFill>
            <a:srgbClr val="111922"/>
          </a:solidFill>
          <a:ln w="10160">
            <a:solidFill>
              <a:srgbClr val="7EA4B8"/>
            </a:solidFill>
          </a:ln>
        </p:spPr>
        <p:txBody>
          <a:bodyPr wrap="square" lIns="1524" tIns="1524" rIns="1524" bIns="1524" rtlCol="0" anchor="ctr"/>
          <a:lstStyle/>
          <a:p>
            <a:pPr marL="0" indent="0" algn="ctr">
              <a:buNone/>
            </a:pPr>
            <a:r>
              <a:rPr lang="en-US" sz="1600" b="1" dirty="0">
                <a:solidFill>
                  <a:srgbClr val="F3F1E8"/>
                </a:solidFill>
              </a:rPr>
              <a:t>22,600 t</a:t>
            </a:r>
            <a:endParaRPr lang="en-US" sz="1600" dirty="0"/>
          </a:p>
          <a:p>
            <a:pPr marL="0" indent="0" algn="ctr">
              <a:buNone/>
            </a:pPr>
            <a:r>
              <a:rPr lang="en-US" sz="1600" b="1" dirty="0">
                <a:solidFill>
                  <a:srgbClr val="F3F1E8"/>
                </a:solidFill>
              </a:rPr>
              <a:t>loading at Astrakhan</a:t>
            </a:r>
            <a:endParaRPr lang="en-US" sz="1600" dirty="0"/>
          </a:p>
        </p:txBody>
      </p:sp>
      <p:sp>
        <p:nvSpPr>
          <p:cNvPr id="11" name="Text 8"/>
          <p:cNvSpPr/>
          <p:nvPr/>
        </p:nvSpPr>
        <p:spPr>
          <a:xfrm>
            <a:off x="8138160" y="2386584"/>
            <a:ext cx="1600200" cy="1316736"/>
          </a:xfrm>
          <a:prstGeom prst="roundRect">
            <a:avLst>
              <a:gd name="adj" fmla="val 7500"/>
            </a:avLst>
          </a:prstGeom>
          <a:solidFill>
            <a:srgbClr val="111922"/>
          </a:solidFill>
          <a:ln w="10160">
            <a:solidFill>
              <a:srgbClr val="7EA4B8"/>
            </a:solidFill>
          </a:ln>
        </p:spPr>
        <p:txBody>
          <a:bodyPr wrap="square" lIns="1524" tIns="1524" rIns="1524" bIns="1524" rtlCol="0" anchor="ctr"/>
          <a:lstStyle/>
          <a:p>
            <a:pPr marL="0" indent="0" algn="ctr">
              <a:buNone/>
            </a:pPr>
            <a:r>
              <a:rPr lang="en-US" sz="1600" b="1" dirty="0">
                <a:solidFill>
                  <a:srgbClr val="F3F1E8"/>
                </a:solidFill>
              </a:rPr>
              <a:t>≥3 million t/year combined port capacity</a:t>
            </a:r>
            <a:endParaRPr lang="en-US" sz="1600" dirty="0"/>
          </a:p>
        </p:txBody>
      </p:sp>
      <p:sp>
        <p:nvSpPr>
          <p:cNvPr id="12" name="Text 9"/>
          <p:cNvSpPr/>
          <p:nvPr/>
        </p:nvSpPr>
        <p:spPr>
          <a:xfrm>
            <a:off x="9966960" y="2386584"/>
            <a:ext cx="1691640" cy="1316736"/>
          </a:xfrm>
          <a:prstGeom prst="roundRect">
            <a:avLst>
              <a:gd name="adj" fmla="val 7500"/>
            </a:avLst>
          </a:prstGeom>
          <a:solidFill>
            <a:srgbClr val="111922"/>
          </a:solidFill>
          <a:ln w="10160">
            <a:solidFill>
              <a:srgbClr val="C9A25D"/>
            </a:solidFill>
          </a:ln>
        </p:spPr>
        <p:txBody>
          <a:bodyPr wrap="square" lIns="1524" tIns="1524" rIns="1524" bIns="1524" rtlCol="0" anchor="ctr"/>
          <a:lstStyle/>
          <a:p>
            <a:pPr marL="0" indent="0" algn="ctr">
              <a:buNone/>
            </a:pPr>
            <a:r>
              <a:rPr lang="en-US" sz="1600" b="1" dirty="0">
                <a:solidFill>
                  <a:srgbClr val="F3F1E8"/>
                </a:solidFill>
              </a:rPr>
              <a:t>10–15 kt/day scenario range, not observed throughput</a:t>
            </a:r>
            <a:endParaRPr lang="en-US" sz="1600" dirty="0"/>
          </a:p>
        </p:txBody>
      </p:sp>
      <p:sp>
        <p:nvSpPr>
          <p:cNvPr id="13" name="Shape 10"/>
          <p:cNvSpPr/>
          <p:nvPr/>
        </p:nvSpPr>
        <p:spPr>
          <a:xfrm>
            <a:off x="6304788" y="5061204"/>
            <a:ext cx="50292" cy="411480"/>
          </a:xfrm>
          <a:prstGeom prst="rect">
            <a:avLst/>
          </a:prstGeom>
          <a:solidFill>
            <a:srgbClr val="C9A25D"/>
          </a:solidFill>
          <a:ln w="12700">
            <a:solidFill>
              <a:srgbClr val="C9A25D">
                <a:alpha val="0"/>
              </a:srgbClr>
            </a:solidFill>
            <a:prstDash val="solid"/>
          </a:ln>
        </p:spPr>
      </p:sp>
      <p:sp>
        <p:nvSpPr>
          <p:cNvPr id="14" name="Text 11"/>
          <p:cNvSpPr/>
          <p:nvPr/>
        </p:nvSpPr>
        <p:spPr>
          <a:xfrm>
            <a:off x="6501384" y="4818888"/>
            <a:ext cx="5157216" cy="1271016"/>
          </a:xfrm>
          <a:prstGeom prst="rect">
            <a:avLst/>
          </a:prstGeom>
          <a:noFill/>
          <a:ln/>
        </p:spPr>
        <p:txBody>
          <a:bodyPr wrap="square" lIns="254" tIns="254" rIns="254" bIns="254" rtlCol="0" anchor="ctr">
            <a:normAutofit/>
          </a:bodyPr>
          <a:lstStyle/>
          <a:p>
            <a:pPr marL="0" indent="0">
              <a:buNone/>
            </a:pPr>
            <a:r>
              <a:rPr lang="en-US" b="1" dirty="0">
                <a:solidFill>
                  <a:srgbClr val="F3F1E8"/>
                </a:solidFill>
              </a:rPr>
              <a:t>Verdict: structural potential only — purposeful smaller-state implementation and attributable counterpart effect remain unestablished.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7955280" cy="502920"/>
          </a:xfrm>
          <a:prstGeom prst="rect">
            <a:avLst/>
          </a:prstGeom>
          <a:noFill/>
          <a:ln/>
        </p:spPr>
        <p:txBody>
          <a:bodyPr wrap="square" lIns="0" tIns="0" rIns="0" bIns="0" rtlCol="0" anchor="ct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Case II — Gulf Access and Host-State Authorization</a:t>
            </a:r>
            <a:endParaRPr lang="en-US" sz="2800" dirty="0"/>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6" name="Shape 4"/>
          <p:cNvSpPr/>
          <p:nvPr/>
        </p:nvSpPr>
        <p:spPr>
          <a:xfrm>
            <a:off x="6629400" y="1633220"/>
            <a:ext cx="4846320" cy="4480560"/>
          </a:xfrm>
          <a:prstGeom prst="rect">
            <a:avLst/>
          </a:prstGeom>
          <a:solidFill>
            <a:srgbClr val="0F151D"/>
          </a:solidFill>
          <a:ln w="10160">
            <a:solidFill>
              <a:srgbClr val="394655"/>
            </a:solidFill>
            <a:prstDash val="solid"/>
          </a:ln>
        </p:spPr>
      </p:sp>
      <p:sp>
        <p:nvSpPr>
          <p:cNvPr id="7" name="Shape 5"/>
          <p:cNvSpPr/>
          <p:nvPr/>
        </p:nvSpPr>
        <p:spPr>
          <a:xfrm>
            <a:off x="7086600" y="3623696"/>
            <a:ext cx="4069080" cy="0"/>
          </a:xfrm>
          <a:prstGeom prst="line">
            <a:avLst/>
          </a:prstGeom>
          <a:noFill/>
          <a:ln w="27940">
            <a:solidFill>
              <a:srgbClr val="8C949E"/>
            </a:solidFill>
            <a:prstDash val="solid"/>
          </a:ln>
        </p:spPr>
      </p:sp>
      <p:sp>
        <p:nvSpPr>
          <p:cNvPr id="8" name="Shape 6"/>
          <p:cNvSpPr/>
          <p:nvPr/>
        </p:nvSpPr>
        <p:spPr>
          <a:xfrm>
            <a:off x="7498080" y="4127942"/>
            <a:ext cx="3337560" cy="0"/>
          </a:xfrm>
          <a:prstGeom prst="line">
            <a:avLst/>
          </a:prstGeom>
          <a:noFill/>
          <a:ln w="12700">
            <a:solidFill>
              <a:srgbClr val="8C949E"/>
            </a:solidFill>
            <a:prstDash val="solid"/>
          </a:ln>
        </p:spPr>
      </p:sp>
      <p:sp>
        <p:nvSpPr>
          <p:cNvPr id="9" name="Text 7"/>
          <p:cNvSpPr/>
          <p:nvPr/>
        </p:nvSpPr>
        <p:spPr>
          <a:xfrm>
            <a:off x="6995160" y="1998980"/>
            <a:ext cx="1645920" cy="960120"/>
          </a:xfrm>
          <a:prstGeom prst="roundRect">
            <a:avLst>
              <a:gd name="adj" fmla="val 9333"/>
            </a:avLst>
          </a:prstGeom>
          <a:solidFill>
            <a:srgbClr val="222B35"/>
          </a:solidFill>
          <a:ln w="14605">
            <a:solidFill>
              <a:srgbClr val="C9A25D"/>
            </a:solidFill>
          </a:ln>
        </p:spPr>
        <p:txBody>
          <a:bodyPr wrap="square" lIns="1016" tIns="1016" rIns="1016" bIns="1016" rtlCol="0" anchor="ctr">
            <a:normAutofit/>
          </a:bodyPr>
          <a:lstStyle/>
          <a:p>
            <a:pPr marL="0" indent="0" algn="ctr">
              <a:buNone/>
            </a:pPr>
            <a:r>
              <a:rPr lang="en-US" sz="1600" b="1" dirty="0">
                <a:solidFill>
                  <a:srgbClr val="F3F1E8"/>
                </a:solidFill>
              </a:rPr>
              <a:t>Host-state</a:t>
            </a:r>
            <a:endParaRPr lang="en-US" sz="1600" dirty="0"/>
          </a:p>
          <a:p>
            <a:pPr marL="0" indent="0" algn="ctr">
              <a:buNone/>
            </a:pPr>
            <a:r>
              <a:rPr lang="en-US" sz="1600" b="1" dirty="0">
                <a:solidFill>
                  <a:srgbClr val="F3F1E8"/>
                </a:solidFill>
              </a:rPr>
              <a:t>authorization</a:t>
            </a:r>
            <a:endParaRPr lang="en-US" sz="1600" dirty="0"/>
          </a:p>
        </p:txBody>
      </p:sp>
      <p:sp>
        <p:nvSpPr>
          <p:cNvPr id="10" name="Text 8"/>
          <p:cNvSpPr/>
          <p:nvPr/>
        </p:nvSpPr>
        <p:spPr>
          <a:xfrm>
            <a:off x="9372600" y="1998979"/>
            <a:ext cx="1645920" cy="960119"/>
          </a:xfrm>
          <a:prstGeom prst="roundRect">
            <a:avLst>
              <a:gd name="adj" fmla="val 9333"/>
            </a:avLst>
          </a:prstGeom>
          <a:solidFill>
            <a:srgbClr val="222B35"/>
          </a:solidFill>
          <a:ln w="14605">
            <a:solidFill>
              <a:srgbClr val="7EA4B8"/>
            </a:solidFill>
          </a:ln>
        </p:spPr>
        <p:txBody>
          <a:bodyPr wrap="square" lIns="1016" tIns="1016" rIns="1016" bIns="1016" rtlCol="0" anchor="ctr">
            <a:normAutofit/>
          </a:bodyPr>
          <a:lstStyle/>
          <a:p>
            <a:pPr marL="0" indent="0" algn="ctr">
              <a:buNone/>
            </a:pPr>
            <a:r>
              <a:rPr lang="en-US" sz="1600" b="1" dirty="0">
                <a:solidFill>
                  <a:srgbClr val="F3F1E8"/>
                </a:solidFill>
              </a:rPr>
              <a:t>U.S. basing /</a:t>
            </a:r>
            <a:endParaRPr lang="en-US" sz="1600" dirty="0"/>
          </a:p>
          <a:p>
            <a:pPr marL="0" indent="0" algn="ctr">
              <a:buNone/>
            </a:pPr>
            <a:r>
              <a:rPr lang="en-US" sz="1600" b="1" dirty="0">
                <a:solidFill>
                  <a:srgbClr val="F3F1E8"/>
                </a:solidFill>
              </a:rPr>
              <a:t>airspace use</a:t>
            </a:r>
            <a:endParaRPr lang="en-US" sz="1600" dirty="0"/>
          </a:p>
        </p:txBody>
      </p:sp>
      <p:sp>
        <p:nvSpPr>
          <p:cNvPr id="11" name="Shape 9"/>
          <p:cNvSpPr/>
          <p:nvPr/>
        </p:nvSpPr>
        <p:spPr>
          <a:xfrm>
            <a:off x="8695944" y="2477008"/>
            <a:ext cx="676656" cy="0"/>
          </a:xfrm>
          <a:prstGeom prst="line">
            <a:avLst/>
          </a:prstGeom>
          <a:noFill/>
          <a:ln w="15240">
            <a:solidFill>
              <a:srgbClr val="394655"/>
            </a:solidFill>
            <a:prstDash val="solid"/>
            <a:headEnd type="none"/>
            <a:tailEnd type="triangle"/>
          </a:ln>
        </p:spPr>
      </p:sp>
      <p:sp>
        <p:nvSpPr>
          <p:cNvPr id="12" name="Text 10"/>
          <p:cNvSpPr/>
          <p:nvPr/>
        </p:nvSpPr>
        <p:spPr>
          <a:xfrm>
            <a:off x="768096" y="1688084"/>
            <a:ext cx="5009852" cy="502920"/>
          </a:xfrm>
          <a:prstGeom prst="roundRect">
            <a:avLst>
              <a:gd name="adj" fmla="val 13043"/>
            </a:avLst>
          </a:prstGeom>
          <a:solidFill>
            <a:srgbClr val="222B35"/>
          </a:solidFill>
          <a:ln w="10160">
            <a:solidFill>
              <a:srgbClr val="C9A25D"/>
            </a:solidFill>
          </a:ln>
        </p:spPr>
        <p:txBody>
          <a:bodyPr wrap="square" lIns="1524" tIns="1524" rIns="1524" bIns="1524" rtlCol="0" anchor="ctr"/>
          <a:lstStyle/>
          <a:p>
            <a:pPr marL="0" indent="0" algn="ctr">
              <a:buNone/>
            </a:pPr>
            <a:r>
              <a:rPr lang="en-US" b="1" dirty="0">
                <a:solidFill>
                  <a:srgbClr val="F3F1E8"/>
                </a:solidFill>
              </a:rPr>
              <a:t>Reported and disputed access-policy change</a:t>
            </a:r>
            <a:endParaRPr lang="en-US" dirty="0"/>
          </a:p>
        </p:txBody>
      </p:sp>
      <p:sp>
        <p:nvSpPr>
          <p:cNvPr id="13" name="Text 11"/>
          <p:cNvSpPr/>
          <p:nvPr/>
        </p:nvSpPr>
        <p:spPr>
          <a:xfrm>
            <a:off x="768096" y="2585466"/>
            <a:ext cx="5586984" cy="2374900"/>
          </a:xfrm>
          <a:prstGeom prst="rect">
            <a:avLst/>
          </a:prstGeom>
          <a:noFill/>
          <a:ln/>
        </p:spPr>
        <p:txBody>
          <a:bodyPr wrap="square" lIns="254" tIns="254" rIns="254" bIns="254" rtlCol="0" anchor="t">
            <a:normAutofit fontScale="92500"/>
          </a:bodyPr>
          <a:lstStyle/>
          <a:p>
            <a:pPr marL="457200" indent="-457200">
              <a:lnSpc>
                <a:spcPct val="110000"/>
              </a:lnSpc>
              <a:spcBef>
                <a:spcPts val="600"/>
              </a:spcBef>
              <a:spcAft>
                <a:spcPts val="600"/>
              </a:spcAft>
              <a:buFont typeface="Arial" panose="020B0604020202020204" pitchFamily="34" charset="0"/>
              <a:buChar char="•"/>
            </a:pPr>
            <a:r>
              <a:rPr lang="en-US" sz="2000" b="1" dirty="0">
                <a:solidFill>
                  <a:srgbClr val="C9A25D"/>
                </a:solidFill>
              </a:rPr>
              <a:t>WSJ-derived reporting indicated that Saudi and Kuwaiti restrictions were lifted in early May. </a:t>
            </a:r>
          </a:p>
          <a:p>
            <a:pPr marL="457200" indent="-457200">
              <a:lnSpc>
                <a:spcPct val="110000"/>
              </a:lnSpc>
              <a:spcBef>
                <a:spcPts val="600"/>
              </a:spcBef>
              <a:spcAft>
                <a:spcPts val="600"/>
              </a:spcAft>
              <a:buFont typeface="Arial" panose="020B0604020202020204" pitchFamily="34" charset="0"/>
              <a:buChar char="•"/>
            </a:pPr>
            <a:r>
              <a:rPr lang="en-US" sz="2000" b="1" dirty="0">
                <a:solidFill>
                  <a:srgbClr val="C9A25D"/>
                </a:solidFill>
              </a:rPr>
              <a:t>A White House official reportedly denied that any restriction or ban had existed. </a:t>
            </a:r>
          </a:p>
          <a:p>
            <a:pPr marL="457200" indent="-457200">
              <a:lnSpc>
                <a:spcPct val="110000"/>
              </a:lnSpc>
              <a:spcBef>
                <a:spcPts val="600"/>
              </a:spcBef>
              <a:spcAft>
                <a:spcPts val="600"/>
              </a:spcAft>
              <a:buFont typeface="Arial" panose="020B0604020202020204" pitchFamily="34" charset="0"/>
              <a:buChar char="•"/>
            </a:pPr>
            <a:r>
              <a:rPr lang="en-US" sz="2000" b="1" dirty="0">
                <a:solidFill>
                  <a:srgbClr val="C9A25D"/>
                </a:solidFill>
              </a:rPr>
              <a:t>Even if the reported change occurred, its operational consequences remain unverified.</a:t>
            </a:r>
          </a:p>
        </p:txBody>
      </p:sp>
      <p:sp>
        <p:nvSpPr>
          <p:cNvPr id="14" name="Text 12"/>
          <p:cNvSpPr/>
          <p:nvPr/>
        </p:nvSpPr>
        <p:spPr>
          <a:xfrm>
            <a:off x="7059168" y="4770385"/>
            <a:ext cx="1828800" cy="1041644"/>
          </a:xfrm>
          <a:prstGeom prst="roundRect">
            <a:avLst>
              <a:gd name="adj" fmla="val 12500"/>
            </a:avLst>
          </a:prstGeom>
          <a:solidFill>
            <a:srgbClr val="111922"/>
          </a:solidFill>
          <a:ln w="10160">
            <a:solidFill>
              <a:srgbClr val="B66C68"/>
            </a:solidFill>
          </a:ln>
        </p:spPr>
        <p:txBody>
          <a:bodyPr wrap="square" lIns="1524" tIns="1524" rIns="1524" bIns="1524" rtlCol="0" anchor="ctr"/>
          <a:lstStyle/>
          <a:p>
            <a:pPr marL="0" indent="0" algn="ctr">
              <a:buNone/>
            </a:pPr>
            <a:r>
              <a:rPr lang="en-US" sz="1600" b="1" dirty="0">
                <a:solidFill>
                  <a:srgbClr val="F3F1E8"/>
                </a:solidFill>
              </a:rPr>
              <a:t>Access not automatic</a:t>
            </a:r>
            <a:endParaRPr lang="en-US" sz="1600" dirty="0"/>
          </a:p>
        </p:txBody>
      </p:sp>
      <p:sp>
        <p:nvSpPr>
          <p:cNvPr id="15" name="Text 13"/>
          <p:cNvSpPr/>
          <p:nvPr/>
        </p:nvSpPr>
        <p:spPr>
          <a:xfrm>
            <a:off x="9125712" y="4770385"/>
            <a:ext cx="1901952" cy="1041644"/>
          </a:xfrm>
          <a:prstGeom prst="roundRect">
            <a:avLst>
              <a:gd name="adj" fmla="val 12500"/>
            </a:avLst>
          </a:prstGeom>
          <a:solidFill>
            <a:srgbClr val="111922"/>
          </a:solidFill>
          <a:ln w="10160">
            <a:solidFill>
              <a:srgbClr val="C9A25D"/>
            </a:solidFill>
          </a:ln>
        </p:spPr>
        <p:txBody>
          <a:bodyPr wrap="square" lIns="1524" tIns="1524" rIns="1524" bIns="1524" rtlCol="0" anchor="ctr"/>
          <a:lstStyle/>
          <a:p>
            <a:pPr marL="0" indent="0" algn="ctr">
              <a:buNone/>
            </a:pPr>
            <a:r>
              <a:rPr lang="en-US" sz="1600" b="1" dirty="0">
                <a:solidFill>
                  <a:srgbClr val="F3F1E8"/>
                </a:solidFill>
              </a:rPr>
              <a:t>Mission-specific authorization</a:t>
            </a:r>
            <a:endParaRPr lang="en-US" sz="1600" dirty="0"/>
          </a:p>
        </p:txBody>
      </p:sp>
      <p:sp>
        <p:nvSpPr>
          <p:cNvPr id="16" name="Shape 14"/>
          <p:cNvSpPr/>
          <p:nvPr/>
        </p:nvSpPr>
        <p:spPr>
          <a:xfrm>
            <a:off x="676656" y="5370068"/>
            <a:ext cx="50292" cy="457200"/>
          </a:xfrm>
          <a:prstGeom prst="rect">
            <a:avLst/>
          </a:prstGeom>
          <a:solidFill>
            <a:srgbClr val="B66C68"/>
          </a:solidFill>
          <a:ln w="12700">
            <a:solidFill>
              <a:srgbClr val="B66C68">
                <a:alpha val="0"/>
              </a:srgbClr>
            </a:solidFill>
            <a:prstDash val="solid"/>
          </a:ln>
        </p:spPr>
      </p:sp>
      <p:sp>
        <p:nvSpPr>
          <p:cNvPr id="17" name="Text 15"/>
          <p:cNvSpPr/>
          <p:nvPr/>
        </p:nvSpPr>
        <p:spPr>
          <a:xfrm>
            <a:off x="822960" y="5263388"/>
            <a:ext cx="5111496" cy="978386"/>
          </a:xfrm>
          <a:prstGeom prst="rect">
            <a:avLst/>
          </a:prstGeom>
          <a:noFill/>
          <a:ln/>
        </p:spPr>
        <p:txBody>
          <a:bodyPr wrap="square" lIns="254" tIns="254" rIns="254" bIns="254" rtlCol="0" anchor="ctr">
            <a:normAutofit/>
          </a:bodyPr>
          <a:lstStyle/>
          <a:p>
            <a:pPr marL="0" indent="0">
              <a:buNone/>
            </a:pPr>
            <a:r>
              <a:rPr lang="en-US" b="1" dirty="0">
                <a:solidFill>
                  <a:srgbClr val="F3F1E8"/>
                </a:solidFill>
              </a:rPr>
              <a:t>Verdict: the most specific reported access-policy change, but implementation remains provisional and counterpart effect unestablished.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B0E13"/>
        </a:solidFill>
        <a:effectLst/>
      </p:bgPr>
    </p:bg>
    <p:spTree>
      <p:nvGrpSpPr>
        <p:cNvPr id="1" name=""/>
        <p:cNvGrpSpPr/>
        <p:nvPr/>
      </p:nvGrpSpPr>
      <p:grpSpPr>
        <a:xfrm>
          <a:off x="0" y="0"/>
          <a:ext cx="0" cy="0"/>
          <a:chOff x="0" y="0"/>
          <a:chExt cx="0" cy="0"/>
        </a:xfrm>
      </p:grpSpPr>
      <p:pic>
        <p:nvPicPr>
          <p:cNvPr id="2" name="Image 0" descr="/mnt/data/a_wide_high_contrast_black_and_white_infographic_16x9_dark.png"/>
          <p:cNvPicPr>
            <a:picLocks noChangeAspect="1"/>
          </p:cNvPicPr>
          <p:nvPr/>
        </p:nvPicPr>
        <p:blipFill>
          <a:blip r:embed="rId3">
            <a:alphaModFix amt="20000"/>
          </a:blip>
          <a:stretch>
            <a:fillRect/>
          </a:stretch>
        </p:blipFill>
        <p:spPr>
          <a:xfrm>
            <a:off x="5898185" y="-47243"/>
            <a:ext cx="6293815" cy="6858000"/>
          </a:xfrm>
          <a:prstGeom prst="rect">
            <a:avLst/>
          </a:prstGeom>
        </p:spPr>
      </p:pic>
      <p:sp>
        <p:nvSpPr>
          <p:cNvPr id="3" name="Shape 0"/>
          <p:cNvSpPr/>
          <p:nvPr/>
        </p:nvSpPr>
        <p:spPr>
          <a:xfrm>
            <a:off x="0" y="0"/>
            <a:ext cx="5623560" cy="6858000"/>
          </a:xfrm>
          <a:prstGeom prst="rect">
            <a:avLst/>
          </a:prstGeom>
          <a:solidFill>
            <a:srgbClr val="0B0E13">
              <a:alpha val="98000"/>
            </a:srgbClr>
          </a:solidFill>
          <a:ln w="12700">
            <a:solidFill>
              <a:srgbClr val="0B0E13">
                <a:alpha val="0"/>
              </a:srgbClr>
            </a:solidFill>
            <a:prstDash val="solid"/>
          </a:ln>
        </p:spPr>
      </p:sp>
      <p:sp>
        <p:nvSpPr>
          <p:cNvPr id="4" name="Text 1"/>
          <p:cNvSpPr/>
          <p:nvPr/>
        </p:nvSpPr>
        <p:spPr>
          <a:xfrm>
            <a:off x="502920" y="373888"/>
            <a:ext cx="6982244" cy="658368"/>
          </a:xfrm>
          <a:prstGeom prst="rect">
            <a:avLst/>
          </a:prstGeom>
          <a:noFill/>
          <a:ln/>
        </p:spPr>
        <p:txBody>
          <a:bodyPr wrap="square" lIns="0" tIns="0" rIns="0" bIns="0" rtlCol="0" anchor="ctr">
            <a:noAutofit/>
          </a:bodyP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Case III — Ukraine–Gulf Knowledge Interface</a:t>
            </a:r>
            <a:endParaRPr lang="en-US" sz="2800" dirty="0"/>
          </a:p>
        </p:txBody>
      </p:sp>
      <p:sp>
        <p:nvSpPr>
          <p:cNvPr id="5" name="Shape 2"/>
          <p:cNvSpPr/>
          <p:nvPr/>
        </p:nvSpPr>
        <p:spPr>
          <a:xfrm>
            <a:off x="512064" y="1115568"/>
            <a:ext cx="1143000" cy="0"/>
          </a:xfrm>
          <a:prstGeom prst="line">
            <a:avLst/>
          </a:prstGeom>
          <a:noFill/>
          <a:ln w="25400">
            <a:solidFill>
              <a:srgbClr val="C9A25D"/>
            </a:solidFill>
            <a:prstDash val="solid"/>
          </a:ln>
        </p:spPr>
      </p:sp>
      <p:sp>
        <p:nvSpPr>
          <p:cNvPr id="8" name="Text 5"/>
          <p:cNvSpPr/>
          <p:nvPr/>
        </p:nvSpPr>
        <p:spPr>
          <a:xfrm>
            <a:off x="502920" y="1816607"/>
            <a:ext cx="4663440" cy="1377165"/>
          </a:xfrm>
          <a:prstGeom prst="rect">
            <a:avLst/>
          </a:prstGeom>
          <a:noFill/>
          <a:ln/>
        </p:spPr>
        <p:txBody>
          <a:bodyPr wrap="square" lIns="254" tIns="254" rIns="254" bIns="254" rtlCol="0" anchor="ctr">
            <a:normAutofit/>
          </a:bodyPr>
          <a:lstStyle/>
          <a:p>
            <a:pPr marL="0" indent="0">
              <a:buNone/>
            </a:pPr>
            <a:r>
              <a:rPr lang="en-US" sz="2100" b="1" dirty="0">
                <a:solidFill>
                  <a:srgbClr val="F3F1E8"/>
                </a:solidFill>
              </a:rPr>
              <a:t>Operational counter-drone expertise matched an urgent regional requirement, despite Ukraine’s peripheral geographic position.</a:t>
            </a:r>
            <a:endParaRPr lang="en-US" sz="2100" dirty="0"/>
          </a:p>
        </p:txBody>
      </p:sp>
      <p:sp>
        <p:nvSpPr>
          <p:cNvPr id="9" name="Text 6"/>
          <p:cNvSpPr/>
          <p:nvPr/>
        </p:nvSpPr>
        <p:spPr>
          <a:xfrm>
            <a:off x="6159500" y="1826259"/>
            <a:ext cx="1508760" cy="722881"/>
          </a:xfrm>
          <a:prstGeom prst="roundRect">
            <a:avLst>
              <a:gd name="adj" fmla="val 10769"/>
            </a:avLst>
          </a:prstGeom>
          <a:solidFill>
            <a:srgbClr val="222B35"/>
          </a:solidFill>
          <a:ln w="14605">
            <a:solidFill>
              <a:srgbClr val="83A979"/>
            </a:solidFill>
          </a:ln>
        </p:spPr>
        <p:txBody>
          <a:bodyPr wrap="square" lIns="1016" tIns="1016" rIns="1016" bIns="1016" rtlCol="0" anchor="ctr">
            <a:normAutofit/>
          </a:bodyPr>
          <a:lstStyle/>
          <a:p>
            <a:pPr marL="0" indent="0" algn="ctr">
              <a:buNone/>
            </a:pPr>
            <a:r>
              <a:rPr lang="en-US" sz="1600" b="1" dirty="0">
                <a:solidFill>
                  <a:srgbClr val="F3F1E8"/>
                </a:solidFill>
              </a:rPr>
              <a:t>Ukraine</a:t>
            </a:r>
            <a:endParaRPr lang="en-US" sz="1600" dirty="0"/>
          </a:p>
          <a:p>
            <a:pPr marL="0" indent="0" algn="ctr">
              <a:buNone/>
            </a:pPr>
            <a:r>
              <a:rPr lang="en-US" sz="1600" b="1" dirty="0">
                <a:solidFill>
                  <a:srgbClr val="F3F1E8"/>
                </a:solidFill>
              </a:rPr>
              <a:t>expertise</a:t>
            </a:r>
            <a:endParaRPr lang="en-US" sz="1600" dirty="0"/>
          </a:p>
        </p:txBody>
      </p:sp>
      <p:sp>
        <p:nvSpPr>
          <p:cNvPr id="10" name="Text 7"/>
          <p:cNvSpPr/>
          <p:nvPr/>
        </p:nvSpPr>
        <p:spPr>
          <a:xfrm>
            <a:off x="8171180" y="1826260"/>
            <a:ext cx="1417320" cy="722880"/>
          </a:xfrm>
          <a:prstGeom prst="roundRect">
            <a:avLst>
              <a:gd name="adj" fmla="val 10769"/>
            </a:avLst>
          </a:prstGeom>
          <a:solidFill>
            <a:srgbClr val="222B35"/>
          </a:solidFill>
          <a:ln w="14605">
            <a:solidFill>
              <a:srgbClr val="C9A25D"/>
            </a:solidFill>
          </a:ln>
        </p:spPr>
        <p:txBody>
          <a:bodyPr wrap="square" lIns="1016" tIns="1016" rIns="1016" bIns="1016" rtlCol="0" anchor="ctr">
            <a:normAutofit/>
          </a:bodyPr>
          <a:lstStyle/>
          <a:p>
            <a:pPr marL="0" indent="0" algn="ctr">
              <a:buNone/>
            </a:pPr>
            <a:r>
              <a:rPr lang="en-US" sz="1600" b="1" dirty="0">
                <a:solidFill>
                  <a:srgbClr val="F3F1E8"/>
                </a:solidFill>
              </a:rPr>
              <a:t>228 specialists</a:t>
            </a:r>
            <a:endParaRPr lang="en-US" sz="1600" dirty="0"/>
          </a:p>
        </p:txBody>
      </p:sp>
      <p:sp>
        <p:nvSpPr>
          <p:cNvPr id="11" name="Text 8"/>
          <p:cNvSpPr/>
          <p:nvPr/>
        </p:nvSpPr>
        <p:spPr>
          <a:xfrm>
            <a:off x="10045700" y="1826259"/>
            <a:ext cx="1508760" cy="722879"/>
          </a:xfrm>
          <a:prstGeom prst="roundRect">
            <a:avLst>
              <a:gd name="adj" fmla="val 10769"/>
            </a:avLst>
          </a:prstGeom>
          <a:solidFill>
            <a:srgbClr val="222B35"/>
          </a:solidFill>
          <a:ln w="14605">
            <a:solidFill>
              <a:srgbClr val="7EA4B8"/>
            </a:solidFill>
          </a:ln>
        </p:spPr>
        <p:txBody>
          <a:bodyPr wrap="square" lIns="1016" tIns="1016" rIns="1016" bIns="1016" rtlCol="0" anchor="ctr">
            <a:normAutofit/>
          </a:bodyPr>
          <a:lstStyle/>
          <a:p>
            <a:pPr marL="0" indent="0" algn="ctr">
              <a:buNone/>
            </a:pPr>
            <a:r>
              <a:rPr lang="en-US" sz="1600" b="1" dirty="0">
                <a:solidFill>
                  <a:srgbClr val="F3F1E8"/>
                </a:solidFill>
              </a:rPr>
              <a:t>5 Middle East</a:t>
            </a:r>
            <a:endParaRPr lang="en-US" sz="1600" dirty="0"/>
          </a:p>
          <a:p>
            <a:pPr marL="0" indent="0" algn="ctr">
              <a:buNone/>
            </a:pPr>
            <a:r>
              <a:rPr lang="en-US" sz="1600" b="1" dirty="0">
                <a:solidFill>
                  <a:srgbClr val="F3F1E8"/>
                </a:solidFill>
              </a:rPr>
              <a:t>recipients</a:t>
            </a:r>
            <a:endParaRPr lang="en-US" sz="1600" dirty="0"/>
          </a:p>
        </p:txBody>
      </p:sp>
      <p:sp>
        <p:nvSpPr>
          <p:cNvPr id="12" name="Shape 9"/>
          <p:cNvSpPr/>
          <p:nvPr/>
        </p:nvSpPr>
        <p:spPr>
          <a:xfrm>
            <a:off x="7686548" y="2128012"/>
            <a:ext cx="457200" cy="0"/>
          </a:xfrm>
          <a:prstGeom prst="line">
            <a:avLst/>
          </a:prstGeom>
          <a:noFill/>
          <a:ln w="13970">
            <a:solidFill>
              <a:srgbClr val="394655"/>
            </a:solidFill>
            <a:prstDash val="solid"/>
            <a:headEnd type="none"/>
            <a:tailEnd type="triangle"/>
          </a:ln>
        </p:spPr>
      </p:sp>
      <p:sp>
        <p:nvSpPr>
          <p:cNvPr id="13" name="Shape 10"/>
          <p:cNvSpPr/>
          <p:nvPr/>
        </p:nvSpPr>
        <p:spPr>
          <a:xfrm>
            <a:off x="9588500" y="2128012"/>
            <a:ext cx="438912" cy="0"/>
          </a:xfrm>
          <a:prstGeom prst="line">
            <a:avLst/>
          </a:prstGeom>
          <a:noFill/>
          <a:ln w="13970">
            <a:solidFill>
              <a:srgbClr val="394655"/>
            </a:solidFill>
            <a:prstDash val="solid"/>
            <a:headEnd type="none"/>
            <a:tailEnd type="triangle"/>
          </a:ln>
        </p:spPr>
      </p:sp>
      <p:sp>
        <p:nvSpPr>
          <p:cNvPr id="14" name="Text 11"/>
          <p:cNvSpPr/>
          <p:nvPr/>
        </p:nvSpPr>
        <p:spPr>
          <a:xfrm>
            <a:off x="6211316" y="2905759"/>
            <a:ext cx="1600200" cy="1824228"/>
          </a:xfrm>
          <a:prstGeom prst="roundRect">
            <a:avLst>
              <a:gd name="adj" fmla="val 12000"/>
            </a:avLst>
          </a:prstGeom>
          <a:solidFill>
            <a:srgbClr val="111922"/>
          </a:solidFill>
          <a:ln w="10160">
            <a:solidFill>
              <a:srgbClr val="83A979"/>
            </a:solidFill>
          </a:ln>
        </p:spPr>
        <p:txBody>
          <a:bodyPr wrap="square" lIns="1524" tIns="1524" rIns="1524" bIns="1524" rtlCol="0" anchor="ctr"/>
          <a:lstStyle/>
          <a:p>
            <a:pPr marL="0" indent="0" algn="ctr">
              <a:buNone/>
            </a:pPr>
            <a:r>
              <a:rPr lang="en-US" sz="1600" b="1" dirty="0">
                <a:solidFill>
                  <a:srgbClr val="F3F1E8"/>
                </a:solidFill>
              </a:rPr>
              <a:t>Services delivered</a:t>
            </a:r>
            <a:endParaRPr lang="en-US" sz="1600" dirty="0"/>
          </a:p>
        </p:txBody>
      </p:sp>
      <p:sp>
        <p:nvSpPr>
          <p:cNvPr id="15" name="Text 12"/>
          <p:cNvSpPr/>
          <p:nvPr/>
        </p:nvSpPr>
        <p:spPr>
          <a:xfrm>
            <a:off x="7970012" y="2941983"/>
            <a:ext cx="1938528" cy="1788004"/>
          </a:xfrm>
          <a:prstGeom prst="roundRect">
            <a:avLst>
              <a:gd name="adj" fmla="val 8333"/>
            </a:avLst>
          </a:prstGeom>
          <a:solidFill>
            <a:srgbClr val="111922"/>
          </a:solidFill>
          <a:ln w="10160">
            <a:solidFill>
              <a:srgbClr val="C9A25D"/>
            </a:solidFill>
          </a:ln>
        </p:spPr>
        <p:txBody>
          <a:bodyPr wrap="square" lIns="1524" tIns="1524" rIns="1524" bIns="1524" rtlCol="0" anchor="ctr"/>
          <a:lstStyle/>
          <a:p>
            <a:pPr marL="0" indent="0" algn="ctr">
              <a:buNone/>
            </a:pPr>
            <a:r>
              <a:rPr lang="en-US" sz="1600" b="1" dirty="0">
                <a:solidFill>
                  <a:srgbClr val="F3F1E8"/>
                </a:solidFill>
              </a:rPr>
              <a:t>Reported 10-year agreements with Saudi Arabia and Qatar; defense cooperation with UAE</a:t>
            </a:r>
            <a:endParaRPr lang="en-US" sz="1600" dirty="0"/>
          </a:p>
        </p:txBody>
      </p:sp>
      <p:sp>
        <p:nvSpPr>
          <p:cNvPr id="16" name="Text 13"/>
          <p:cNvSpPr/>
          <p:nvPr/>
        </p:nvSpPr>
        <p:spPr>
          <a:xfrm>
            <a:off x="10067036" y="2941983"/>
            <a:ext cx="1600200" cy="1659478"/>
          </a:xfrm>
          <a:prstGeom prst="roundRect">
            <a:avLst>
              <a:gd name="adj" fmla="val 8333"/>
            </a:avLst>
          </a:prstGeom>
          <a:solidFill>
            <a:srgbClr val="111922"/>
          </a:solidFill>
          <a:ln w="10160">
            <a:solidFill>
              <a:srgbClr val="8C949E"/>
            </a:solidFill>
          </a:ln>
        </p:spPr>
        <p:txBody>
          <a:bodyPr wrap="square" lIns="1524" tIns="1524" rIns="1524" bIns="1524" rtlCol="0" anchor="ctr"/>
          <a:lstStyle/>
          <a:p>
            <a:pPr marL="0" indent="0" algn="ctr">
              <a:buNone/>
            </a:pPr>
            <a:r>
              <a:rPr lang="en-US" sz="1600" b="1" dirty="0">
                <a:solidFill>
                  <a:srgbClr val="F3F1E8"/>
                </a:solidFill>
              </a:rPr>
              <a:t>Delivery constraints remained; recipient dependence unmeasured</a:t>
            </a:r>
            <a:endParaRPr lang="en-US" sz="1600" dirty="0"/>
          </a:p>
        </p:txBody>
      </p:sp>
      <p:sp>
        <p:nvSpPr>
          <p:cNvPr id="17" name="Text 14"/>
          <p:cNvSpPr/>
          <p:nvPr/>
        </p:nvSpPr>
        <p:spPr>
          <a:xfrm>
            <a:off x="512064" y="3545840"/>
            <a:ext cx="4709160" cy="2633472"/>
          </a:xfrm>
          <a:prstGeom prst="rect">
            <a:avLst/>
          </a:prstGeom>
          <a:noFill/>
          <a:ln/>
        </p:spPr>
        <p:txBody>
          <a:bodyPr wrap="square" lIns="254" tIns="254" rIns="254" bIns="254" rtlCol="0" anchor="t">
            <a:normAutofit fontScale="92500"/>
          </a:bodyPr>
          <a:lstStyle/>
          <a:p>
            <a:pPr marL="457200" indent="-457200">
              <a:spcBef>
                <a:spcPts val="600"/>
              </a:spcBef>
              <a:spcAft>
                <a:spcPts val="600"/>
              </a:spcAft>
              <a:buFont typeface="Arial" panose="020B0604020202020204" pitchFamily="34" charset="0"/>
              <a:buChar char="•"/>
            </a:pPr>
            <a:r>
              <a:rPr lang="en-US" sz="2000" b="1" dirty="0">
                <a:solidFill>
                  <a:srgbClr val="C9A25D"/>
                </a:solidFill>
              </a:rPr>
              <a:t>Purposeful provision and recipient selection are established. </a:t>
            </a:r>
          </a:p>
          <a:p>
            <a:pPr marL="457200" indent="-457200">
              <a:spcBef>
                <a:spcPts val="600"/>
              </a:spcBef>
              <a:spcAft>
                <a:spcPts val="600"/>
              </a:spcAft>
              <a:buFont typeface="Arial" panose="020B0604020202020204" pitchFamily="34" charset="0"/>
              <a:buChar char="•"/>
            </a:pPr>
            <a:r>
              <a:rPr lang="en-US" sz="2000" b="1" dirty="0">
                <a:solidFill>
                  <a:srgbClr val="C9A25D"/>
                </a:solidFill>
              </a:rPr>
              <a:t>Recipient dependence, individualized conditions, direct reciprocity, and durable leverage remain unverified. </a:t>
            </a:r>
          </a:p>
          <a:p>
            <a:pPr marL="457200" indent="-457200">
              <a:spcBef>
                <a:spcPts val="600"/>
              </a:spcBef>
              <a:spcAft>
                <a:spcPts val="600"/>
              </a:spcAft>
              <a:buFont typeface="Arial" panose="020B0604020202020204" pitchFamily="34" charset="0"/>
              <a:buChar char="•"/>
            </a:pPr>
            <a:r>
              <a:rPr lang="en-US" sz="2000" b="1" dirty="0">
                <a:solidFill>
                  <a:srgbClr val="C9A25D"/>
                </a:solidFill>
              </a:rPr>
              <a:t>The case extends node-based agency beyond physical infrastructure.</a:t>
            </a:r>
          </a:p>
        </p:txBody>
      </p:sp>
      <p:sp>
        <p:nvSpPr>
          <p:cNvPr id="18" name="Shape 15"/>
          <p:cNvSpPr/>
          <p:nvPr/>
        </p:nvSpPr>
        <p:spPr>
          <a:xfrm>
            <a:off x="6159500" y="5483860"/>
            <a:ext cx="50292" cy="438912"/>
          </a:xfrm>
          <a:prstGeom prst="rect">
            <a:avLst/>
          </a:prstGeom>
          <a:solidFill>
            <a:srgbClr val="83A979"/>
          </a:solidFill>
          <a:ln w="12700">
            <a:solidFill>
              <a:srgbClr val="83A979">
                <a:alpha val="0"/>
              </a:srgbClr>
            </a:solidFill>
            <a:prstDash val="solid"/>
          </a:ln>
        </p:spPr>
      </p:sp>
      <p:sp>
        <p:nvSpPr>
          <p:cNvPr id="19" name="Text 16"/>
          <p:cNvSpPr/>
          <p:nvPr/>
        </p:nvSpPr>
        <p:spPr>
          <a:xfrm>
            <a:off x="6351524" y="5294882"/>
            <a:ext cx="5328412" cy="1189227"/>
          </a:xfrm>
          <a:prstGeom prst="rect">
            <a:avLst/>
          </a:prstGeom>
          <a:noFill/>
          <a:ln/>
        </p:spPr>
        <p:txBody>
          <a:bodyPr wrap="square" lIns="254" tIns="254" rIns="254" bIns="254" rtlCol="0" anchor="ctr">
            <a:normAutofit/>
          </a:bodyPr>
          <a:lstStyle/>
          <a:p>
            <a:pPr marL="0" indent="0">
              <a:buNone/>
            </a:pPr>
            <a:r>
              <a:rPr lang="en-US" sz="2000" b="1" dirty="0">
                <a:solidFill>
                  <a:srgbClr val="F3F1E8"/>
                </a:solidFill>
              </a:rPr>
              <a:t>Verdict: purposeful provision and partial institutional follow-through; weaker-state leverage remains unestablished.</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0E13"/>
        </a:solidFill>
        <a:effectLst/>
      </p:bgPr>
    </p:bg>
    <p:spTree>
      <p:nvGrpSpPr>
        <p:cNvPr id="1" name=""/>
        <p:cNvGrpSpPr/>
        <p:nvPr/>
      </p:nvGrpSpPr>
      <p:grpSpPr>
        <a:xfrm>
          <a:off x="0" y="0"/>
          <a:ext cx="0" cy="0"/>
          <a:chOff x="0" y="0"/>
          <a:chExt cx="0" cy="0"/>
        </a:xfrm>
      </p:grpSpPr>
      <p:sp>
        <p:nvSpPr>
          <p:cNvPr id="2" name="Text 0"/>
          <p:cNvSpPr/>
          <p:nvPr/>
        </p:nvSpPr>
        <p:spPr>
          <a:xfrm>
            <a:off x="502920" y="384048"/>
            <a:ext cx="9738360" cy="502920"/>
          </a:xfrm>
          <a:prstGeom prst="rect">
            <a:avLst/>
          </a:prstGeom>
          <a:noFill/>
          <a:ln/>
        </p:spPr>
        <p:txBody>
          <a:bodyPr wrap="square" lIns="0" tIns="0" rIns="0" bIns="0" rtlCol="0" anchor="ctr"/>
          <a:lstStyle/>
          <a:p>
            <a:pPr marL="0" indent="0">
              <a:buNone/>
            </a:pPr>
            <a:r>
              <a:rPr lang="en-US" sz="2800" b="1" dirty="0">
                <a:solidFill>
                  <a:srgbClr val="F3F1E8"/>
                </a:solidFill>
                <a:latin typeface="Aptos Display" pitchFamily="34" charset="0"/>
                <a:ea typeface="Aptos Display" pitchFamily="34" charset="-122"/>
                <a:cs typeface="Aptos Display" pitchFamily="34" charset="-120"/>
              </a:rPr>
              <a:t>Cross-Case Findings: Evidentiary Status</a:t>
            </a:r>
            <a:endParaRPr lang="en-US" sz="2800" dirty="0"/>
          </a:p>
        </p:txBody>
      </p:sp>
      <p:sp>
        <p:nvSpPr>
          <p:cNvPr id="3" name="Shape 1"/>
          <p:cNvSpPr/>
          <p:nvPr/>
        </p:nvSpPr>
        <p:spPr>
          <a:xfrm>
            <a:off x="512064" y="987552"/>
            <a:ext cx="1143000" cy="0"/>
          </a:xfrm>
          <a:prstGeom prst="line">
            <a:avLst/>
          </a:prstGeom>
          <a:noFill/>
          <a:ln w="25400">
            <a:solidFill>
              <a:srgbClr val="C9A25D"/>
            </a:solidFill>
            <a:prstDash val="solid"/>
          </a:ln>
        </p:spPr>
      </p:sp>
      <p:sp>
        <p:nvSpPr>
          <p:cNvPr id="6" name="Text 4"/>
          <p:cNvSpPr/>
          <p:nvPr/>
        </p:nvSpPr>
        <p:spPr>
          <a:xfrm>
            <a:off x="861260" y="1853844"/>
            <a:ext cx="1691640" cy="457200"/>
          </a:xfrm>
          <a:prstGeom prst="roundRect">
            <a:avLst>
              <a:gd name="adj" fmla="val 12000"/>
            </a:avLst>
          </a:prstGeom>
          <a:solidFill>
            <a:srgbClr val="121922"/>
          </a:solidFill>
          <a:ln w="10160">
            <a:solidFill>
              <a:srgbClr val="394655"/>
            </a:solidFill>
          </a:ln>
        </p:spPr>
        <p:txBody>
          <a:bodyPr wrap="square" lIns="1524" tIns="1524" rIns="1524" bIns="1524" rtlCol="0" anchor="ctr"/>
          <a:lstStyle/>
          <a:p>
            <a:pPr marL="0" indent="0" algn="ctr">
              <a:buNone/>
            </a:pPr>
            <a:r>
              <a:rPr lang="en-US" sz="1600" b="1" dirty="0">
                <a:solidFill>
                  <a:srgbClr val="F3F1E8"/>
                </a:solidFill>
              </a:rPr>
              <a:t>Northern Caspian</a:t>
            </a:r>
            <a:endParaRPr lang="en-US" sz="1600" dirty="0"/>
          </a:p>
        </p:txBody>
      </p:sp>
      <p:sp>
        <p:nvSpPr>
          <p:cNvPr id="7" name="Text 5"/>
          <p:cNvSpPr/>
          <p:nvPr/>
        </p:nvSpPr>
        <p:spPr>
          <a:xfrm>
            <a:off x="861260" y="2905404"/>
            <a:ext cx="1691640" cy="457200"/>
          </a:xfrm>
          <a:prstGeom prst="roundRect">
            <a:avLst>
              <a:gd name="adj" fmla="val 12000"/>
            </a:avLst>
          </a:prstGeom>
          <a:solidFill>
            <a:srgbClr val="121922"/>
          </a:solidFill>
          <a:ln w="10160">
            <a:solidFill>
              <a:srgbClr val="394655"/>
            </a:solidFill>
          </a:ln>
        </p:spPr>
        <p:txBody>
          <a:bodyPr wrap="square" lIns="1524" tIns="1524" rIns="1524" bIns="1524" rtlCol="0" anchor="ctr"/>
          <a:lstStyle/>
          <a:p>
            <a:pPr marL="0" indent="0" algn="ctr">
              <a:buNone/>
            </a:pPr>
            <a:r>
              <a:rPr lang="en-US" sz="1600" b="1" dirty="0">
                <a:solidFill>
                  <a:srgbClr val="F3F1E8"/>
                </a:solidFill>
              </a:rPr>
              <a:t>Gulf </a:t>
            </a:r>
            <a:r>
              <a:rPr lang="en-US" altLang="zh-CN" sz="1600" b="1" dirty="0">
                <a:solidFill>
                  <a:srgbClr val="F3F1E8"/>
                </a:solidFill>
              </a:rPr>
              <a:t>A</a:t>
            </a:r>
            <a:r>
              <a:rPr lang="en-US" sz="1600" b="1" dirty="0">
                <a:solidFill>
                  <a:srgbClr val="F3F1E8"/>
                </a:solidFill>
              </a:rPr>
              <a:t>ccess</a:t>
            </a:r>
            <a:endParaRPr lang="en-US" sz="1600" dirty="0"/>
          </a:p>
        </p:txBody>
      </p:sp>
      <p:sp>
        <p:nvSpPr>
          <p:cNvPr id="8" name="Text 6"/>
          <p:cNvSpPr/>
          <p:nvPr/>
        </p:nvSpPr>
        <p:spPr>
          <a:xfrm>
            <a:off x="861260" y="3956964"/>
            <a:ext cx="1691640" cy="457200"/>
          </a:xfrm>
          <a:prstGeom prst="roundRect">
            <a:avLst>
              <a:gd name="adj" fmla="val 12000"/>
            </a:avLst>
          </a:prstGeom>
          <a:solidFill>
            <a:srgbClr val="121922"/>
          </a:solidFill>
          <a:ln w="10160">
            <a:solidFill>
              <a:srgbClr val="394655"/>
            </a:solidFill>
          </a:ln>
        </p:spPr>
        <p:txBody>
          <a:bodyPr wrap="square" lIns="1524" tIns="1524" rIns="1524" bIns="1524" rtlCol="0" anchor="ctr"/>
          <a:lstStyle/>
          <a:p>
            <a:pPr marL="0" indent="0" algn="ctr">
              <a:buNone/>
            </a:pPr>
            <a:r>
              <a:rPr lang="en-US" sz="1600" b="1" dirty="0">
                <a:solidFill>
                  <a:srgbClr val="F3F1E8"/>
                </a:solidFill>
              </a:rPr>
              <a:t>Ukraine </a:t>
            </a:r>
            <a:r>
              <a:rPr lang="en-US" altLang="zh-CN" sz="1600" b="1" dirty="0">
                <a:solidFill>
                  <a:srgbClr val="F3F1E8"/>
                </a:solidFill>
              </a:rPr>
              <a:t>E</a:t>
            </a:r>
            <a:r>
              <a:rPr lang="en-US" sz="1600" b="1" dirty="0">
                <a:solidFill>
                  <a:srgbClr val="F3F1E8"/>
                </a:solidFill>
              </a:rPr>
              <a:t>xpertise</a:t>
            </a:r>
            <a:endParaRPr lang="en-US" sz="1600" dirty="0"/>
          </a:p>
        </p:txBody>
      </p:sp>
      <p:sp>
        <p:nvSpPr>
          <p:cNvPr id="9" name="Text 7"/>
          <p:cNvSpPr/>
          <p:nvPr/>
        </p:nvSpPr>
        <p:spPr>
          <a:xfrm>
            <a:off x="2731805" y="1286916"/>
            <a:ext cx="1417320" cy="475488"/>
          </a:xfrm>
          <a:prstGeom prst="rect">
            <a:avLst/>
          </a:prstGeom>
          <a:noFill/>
          <a:ln/>
        </p:spPr>
        <p:txBody>
          <a:bodyPr wrap="square" lIns="127" tIns="127" rIns="127" bIns="127" rtlCol="0" anchor="ctr">
            <a:noAutofit/>
          </a:bodyPr>
          <a:lstStyle/>
          <a:p>
            <a:pPr marL="0" indent="0" algn="ctr">
              <a:buNone/>
            </a:pPr>
            <a:r>
              <a:rPr lang="en-US" sz="1600" b="1" dirty="0">
                <a:solidFill>
                  <a:srgbClr val="C6CAD0"/>
                </a:solidFill>
              </a:rPr>
              <a:t>Structural</a:t>
            </a:r>
            <a:endParaRPr lang="en-US" sz="1600" dirty="0"/>
          </a:p>
          <a:p>
            <a:pPr marL="0" indent="0" algn="ctr">
              <a:buNone/>
            </a:pPr>
            <a:r>
              <a:rPr lang="en-US" altLang="zh-CN" sz="1600" b="1" dirty="0">
                <a:solidFill>
                  <a:srgbClr val="C6CAD0"/>
                </a:solidFill>
              </a:rPr>
              <a:t>P</a:t>
            </a:r>
            <a:r>
              <a:rPr lang="en-US" sz="1600" b="1" dirty="0">
                <a:solidFill>
                  <a:srgbClr val="C6CAD0"/>
                </a:solidFill>
              </a:rPr>
              <a:t>otential</a:t>
            </a:r>
            <a:endParaRPr lang="en-US" sz="1600" dirty="0"/>
          </a:p>
        </p:txBody>
      </p:sp>
      <p:sp>
        <p:nvSpPr>
          <p:cNvPr id="10" name="Text 8"/>
          <p:cNvSpPr/>
          <p:nvPr/>
        </p:nvSpPr>
        <p:spPr>
          <a:xfrm>
            <a:off x="4419470" y="1286916"/>
            <a:ext cx="1417320" cy="475488"/>
          </a:xfrm>
          <a:prstGeom prst="rect">
            <a:avLst/>
          </a:prstGeom>
          <a:noFill/>
          <a:ln/>
        </p:spPr>
        <p:txBody>
          <a:bodyPr wrap="square" lIns="127" tIns="127" rIns="127" bIns="127" rtlCol="0" anchor="ctr">
            <a:noAutofit/>
          </a:bodyPr>
          <a:lstStyle/>
          <a:p>
            <a:pPr marL="0" indent="0" algn="ctr">
              <a:buNone/>
            </a:pPr>
            <a:r>
              <a:rPr lang="en-US" sz="1600" b="1" dirty="0">
                <a:solidFill>
                  <a:srgbClr val="C6CAD0"/>
                </a:solidFill>
              </a:rPr>
              <a:t>Implemented</a:t>
            </a:r>
            <a:endParaRPr lang="en-US" sz="1600" dirty="0"/>
          </a:p>
          <a:p>
            <a:pPr marL="0" indent="0" algn="ctr">
              <a:buNone/>
            </a:pPr>
            <a:r>
              <a:rPr lang="en-US" altLang="zh-CN" sz="1600" b="1" dirty="0">
                <a:solidFill>
                  <a:srgbClr val="C6CAD0"/>
                </a:solidFill>
              </a:rPr>
              <a:t>C</a:t>
            </a:r>
            <a:r>
              <a:rPr lang="en-US" sz="1600" b="1" dirty="0">
                <a:solidFill>
                  <a:srgbClr val="C6CAD0"/>
                </a:solidFill>
              </a:rPr>
              <a:t>hange</a:t>
            </a:r>
            <a:endParaRPr lang="en-US" sz="1600" dirty="0"/>
          </a:p>
        </p:txBody>
      </p:sp>
      <p:sp>
        <p:nvSpPr>
          <p:cNvPr id="11" name="Text 9"/>
          <p:cNvSpPr/>
          <p:nvPr/>
        </p:nvSpPr>
        <p:spPr>
          <a:xfrm>
            <a:off x="6239657" y="1286916"/>
            <a:ext cx="1417320" cy="475488"/>
          </a:xfrm>
          <a:prstGeom prst="rect">
            <a:avLst/>
          </a:prstGeom>
          <a:noFill/>
          <a:ln/>
        </p:spPr>
        <p:txBody>
          <a:bodyPr wrap="square" lIns="127" tIns="127" rIns="127" bIns="127" rtlCol="0" anchor="ctr">
            <a:noAutofit/>
          </a:bodyPr>
          <a:lstStyle/>
          <a:p>
            <a:pPr marL="0" indent="0" algn="ctr">
              <a:buNone/>
            </a:pPr>
            <a:r>
              <a:rPr lang="en-US" sz="1600" b="1" dirty="0">
                <a:solidFill>
                  <a:srgbClr val="C6CAD0"/>
                </a:solidFill>
              </a:rPr>
              <a:t>Counterpart</a:t>
            </a:r>
            <a:endParaRPr lang="en-US" sz="1600" dirty="0"/>
          </a:p>
          <a:p>
            <a:pPr marL="0" indent="0" algn="ctr">
              <a:buNone/>
            </a:pPr>
            <a:r>
              <a:rPr lang="en-US" altLang="zh-CN" sz="1600" b="1" dirty="0">
                <a:solidFill>
                  <a:srgbClr val="C6CAD0"/>
                </a:solidFill>
              </a:rPr>
              <a:t>E</a:t>
            </a:r>
            <a:r>
              <a:rPr lang="en-US" sz="1600" b="1" dirty="0">
                <a:solidFill>
                  <a:srgbClr val="C6CAD0"/>
                </a:solidFill>
              </a:rPr>
              <a:t>ffect</a:t>
            </a:r>
            <a:endParaRPr lang="en-US" sz="1600" dirty="0"/>
          </a:p>
        </p:txBody>
      </p:sp>
      <p:sp>
        <p:nvSpPr>
          <p:cNvPr id="12" name="Text 10"/>
          <p:cNvSpPr/>
          <p:nvPr/>
        </p:nvSpPr>
        <p:spPr>
          <a:xfrm>
            <a:off x="9747108" y="1314416"/>
            <a:ext cx="1417320" cy="475488"/>
          </a:xfrm>
          <a:prstGeom prst="rect">
            <a:avLst/>
          </a:prstGeom>
          <a:noFill/>
          <a:ln/>
        </p:spPr>
        <p:txBody>
          <a:bodyPr wrap="square" lIns="127" tIns="127" rIns="127" bIns="127" rtlCol="0" anchor="ctr">
            <a:noAutofit/>
          </a:bodyPr>
          <a:lstStyle/>
          <a:p>
            <a:pPr marL="0" indent="0" algn="ctr">
              <a:buNone/>
            </a:pPr>
            <a:r>
              <a:rPr lang="en-US" sz="1600" b="1" dirty="0">
                <a:solidFill>
                  <a:srgbClr val="C6CAD0"/>
                </a:solidFill>
              </a:rPr>
              <a:t>Durable</a:t>
            </a:r>
            <a:endParaRPr lang="en-US" sz="1600" dirty="0"/>
          </a:p>
          <a:p>
            <a:pPr marL="0" indent="0" algn="ctr">
              <a:buNone/>
            </a:pPr>
            <a:r>
              <a:rPr lang="en-US" altLang="zh-CN" sz="1600" b="1" dirty="0">
                <a:solidFill>
                  <a:srgbClr val="C6CAD0"/>
                </a:solidFill>
              </a:rPr>
              <a:t>L</a:t>
            </a:r>
            <a:r>
              <a:rPr lang="en-US" sz="1600" b="1" dirty="0">
                <a:solidFill>
                  <a:srgbClr val="C6CAD0"/>
                </a:solidFill>
              </a:rPr>
              <a:t>everage</a:t>
            </a:r>
            <a:endParaRPr lang="en-US" sz="1600" dirty="0"/>
          </a:p>
        </p:txBody>
      </p:sp>
      <p:sp>
        <p:nvSpPr>
          <p:cNvPr id="13" name="Text 11"/>
          <p:cNvSpPr/>
          <p:nvPr/>
        </p:nvSpPr>
        <p:spPr>
          <a:xfrm>
            <a:off x="2963850" y="1890420"/>
            <a:ext cx="1313291" cy="347472"/>
          </a:xfrm>
          <a:prstGeom prst="rect">
            <a:avLst/>
          </a:prstGeom>
          <a:noFill/>
          <a:ln/>
        </p:spPr>
        <p:txBody>
          <a:bodyPr wrap="square" lIns="0" tIns="0" rIns="0" bIns="0" rtlCol="0" anchor="ctr"/>
          <a:lstStyle/>
          <a:p>
            <a:pPr marL="0" indent="0" algn="l">
              <a:buNone/>
            </a:pPr>
            <a:r>
              <a:rPr lang="en-US" sz="1600" dirty="0">
                <a:solidFill>
                  <a:srgbClr val="83A979"/>
                </a:solidFill>
              </a:rPr>
              <a:t>●  Yes</a:t>
            </a:r>
            <a:endParaRPr lang="en-US" sz="1600" dirty="0"/>
          </a:p>
        </p:txBody>
      </p:sp>
      <p:sp>
        <p:nvSpPr>
          <p:cNvPr id="14" name="Text 12"/>
          <p:cNvSpPr/>
          <p:nvPr/>
        </p:nvSpPr>
        <p:spPr>
          <a:xfrm>
            <a:off x="4547487" y="189042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15" name="Text 13"/>
          <p:cNvSpPr/>
          <p:nvPr/>
        </p:nvSpPr>
        <p:spPr>
          <a:xfrm>
            <a:off x="6513443" y="189042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16" name="Text 14"/>
          <p:cNvSpPr/>
          <p:nvPr/>
        </p:nvSpPr>
        <p:spPr>
          <a:xfrm>
            <a:off x="10158457" y="1890420"/>
            <a:ext cx="114300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17" name="Text 15"/>
          <p:cNvSpPr/>
          <p:nvPr/>
        </p:nvSpPr>
        <p:spPr>
          <a:xfrm>
            <a:off x="2963850" y="2941980"/>
            <a:ext cx="1313291" cy="347472"/>
          </a:xfrm>
          <a:prstGeom prst="rect">
            <a:avLst/>
          </a:prstGeom>
          <a:noFill/>
          <a:ln/>
        </p:spPr>
        <p:txBody>
          <a:bodyPr wrap="square" lIns="0" tIns="0" rIns="0" bIns="0" rtlCol="0" anchor="ctr"/>
          <a:lstStyle/>
          <a:p>
            <a:pPr marL="0" indent="0" algn="l">
              <a:buNone/>
            </a:pPr>
            <a:r>
              <a:rPr lang="en-US" sz="1600" dirty="0">
                <a:solidFill>
                  <a:srgbClr val="83A979"/>
                </a:solidFill>
              </a:rPr>
              <a:t>●  Yes</a:t>
            </a:r>
            <a:endParaRPr lang="en-US" sz="1600" dirty="0"/>
          </a:p>
        </p:txBody>
      </p:sp>
      <p:sp>
        <p:nvSpPr>
          <p:cNvPr id="18" name="Text 16"/>
          <p:cNvSpPr/>
          <p:nvPr/>
        </p:nvSpPr>
        <p:spPr>
          <a:xfrm>
            <a:off x="4547487" y="2941980"/>
            <a:ext cx="1417320" cy="347472"/>
          </a:xfrm>
          <a:prstGeom prst="rect">
            <a:avLst/>
          </a:prstGeom>
          <a:noFill/>
          <a:ln/>
        </p:spPr>
        <p:txBody>
          <a:bodyPr wrap="square" lIns="0" tIns="0" rIns="0" bIns="0" rtlCol="0" anchor="ctr"/>
          <a:lstStyle/>
          <a:p>
            <a:pPr marL="0" indent="0" algn="l">
              <a:buNone/>
            </a:pPr>
            <a:r>
              <a:rPr lang="en-US" sz="1600" dirty="0">
                <a:solidFill>
                  <a:srgbClr val="C9A25D"/>
                </a:solidFill>
              </a:rPr>
              <a:t>◐  Provisional</a:t>
            </a:r>
            <a:endParaRPr lang="en-US" sz="1600" dirty="0"/>
          </a:p>
        </p:txBody>
      </p:sp>
      <p:sp>
        <p:nvSpPr>
          <p:cNvPr id="19" name="Text 17"/>
          <p:cNvSpPr/>
          <p:nvPr/>
        </p:nvSpPr>
        <p:spPr>
          <a:xfrm>
            <a:off x="6513443" y="294198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20" name="Text 18"/>
          <p:cNvSpPr/>
          <p:nvPr/>
        </p:nvSpPr>
        <p:spPr>
          <a:xfrm>
            <a:off x="10158457" y="2941980"/>
            <a:ext cx="114300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21" name="Text 19"/>
          <p:cNvSpPr/>
          <p:nvPr/>
        </p:nvSpPr>
        <p:spPr>
          <a:xfrm>
            <a:off x="2963850" y="3993540"/>
            <a:ext cx="1313291" cy="347472"/>
          </a:xfrm>
          <a:prstGeom prst="rect">
            <a:avLst/>
          </a:prstGeom>
          <a:noFill/>
          <a:ln/>
        </p:spPr>
        <p:txBody>
          <a:bodyPr wrap="square" lIns="0" tIns="0" rIns="0" bIns="0" rtlCol="0" anchor="ctr"/>
          <a:lstStyle/>
          <a:p>
            <a:pPr marL="0" indent="0" algn="l">
              <a:buNone/>
            </a:pPr>
            <a:r>
              <a:rPr lang="en-US" sz="1600" dirty="0">
                <a:solidFill>
                  <a:srgbClr val="83A979"/>
                </a:solidFill>
              </a:rPr>
              <a:t>●  Yes</a:t>
            </a:r>
            <a:endParaRPr lang="en-US" sz="1600" dirty="0"/>
          </a:p>
        </p:txBody>
      </p:sp>
      <p:sp>
        <p:nvSpPr>
          <p:cNvPr id="22" name="Text 20"/>
          <p:cNvSpPr/>
          <p:nvPr/>
        </p:nvSpPr>
        <p:spPr>
          <a:xfrm>
            <a:off x="4547487" y="3993540"/>
            <a:ext cx="1417319" cy="347472"/>
          </a:xfrm>
          <a:prstGeom prst="rect">
            <a:avLst/>
          </a:prstGeom>
          <a:noFill/>
          <a:ln/>
        </p:spPr>
        <p:txBody>
          <a:bodyPr wrap="square" lIns="0" tIns="0" rIns="0" bIns="0" rtlCol="0" anchor="ctr"/>
          <a:lstStyle/>
          <a:p>
            <a:pPr marL="0" indent="0" algn="l">
              <a:buNone/>
            </a:pPr>
            <a:r>
              <a:rPr lang="en-US" sz="1600" dirty="0">
                <a:solidFill>
                  <a:srgbClr val="C9A25D"/>
                </a:solidFill>
              </a:rPr>
              <a:t>◐  Partial</a:t>
            </a:r>
            <a:endParaRPr lang="en-US" sz="1600" dirty="0"/>
          </a:p>
        </p:txBody>
      </p:sp>
      <p:sp>
        <p:nvSpPr>
          <p:cNvPr id="23" name="Text 21"/>
          <p:cNvSpPr/>
          <p:nvPr/>
        </p:nvSpPr>
        <p:spPr>
          <a:xfrm>
            <a:off x="6513443" y="399354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24" name="Text 22"/>
          <p:cNvSpPr/>
          <p:nvPr/>
        </p:nvSpPr>
        <p:spPr>
          <a:xfrm>
            <a:off x="10158457" y="3993540"/>
            <a:ext cx="114300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25" name="Shape 23"/>
          <p:cNvSpPr/>
          <p:nvPr/>
        </p:nvSpPr>
        <p:spPr>
          <a:xfrm>
            <a:off x="768096" y="4818752"/>
            <a:ext cx="10332720" cy="0"/>
          </a:xfrm>
          <a:prstGeom prst="line">
            <a:avLst/>
          </a:prstGeom>
          <a:noFill/>
          <a:ln w="12700">
            <a:solidFill>
              <a:srgbClr val="394655"/>
            </a:solidFill>
            <a:prstDash val="solid"/>
          </a:ln>
        </p:spPr>
      </p:sp>
      <p:sp>
        <p:nvSpPr>
          <p:cNvPr id="26" name="Text 24"/>
          <p:cNvSpPr/>
          <p:nvPr/>
        </p:nvSpPr>
        <p:spPr>
          <a:xfrm>
            <a:off x="526050" y="4812133"/>
            <a:ext cx="4021437" cy="1313610"/>
          </a:xfrm>
          <a:prstGeom prst="rect">
            <a:avLst/>
          </a:prstGeom>
          <a:noFill/>
          <a:ln/>
        </p:spPr>
        <p:txBody>
          <a:bodyPr wrap="square" lIns="127" tIns="127" rIns="127" bIns="127" rtlCol="0" anchor="ctr"/>
          <a:lstStyle/>
          <a:p>
            <a:pPr marL="0" indent="0">
              <a:buNone/>
            </a:pPr>
            <a:r>
              <a:rPr lang="en-US" sz="2000" b="1" dirty="0">
                <a:solidFill>
                  <a:srgbClr val="F3F1E8"/>
                </a:solidFill>
              </a:rPr>
              <a:t>The comparison’s value lies in identifying evidentiary gaps rather than closing them by inference.</a:t>
            </a:r>
            <a:endParaRPr lang="en-US" sz="2000" dirty="0"/>
          </a:p>
        </p:txBody>
      </p:sp>
      <p:sp>
        <p:nvSpPr>
          <p:cNvPr id="27" name="Text 25"/>
          <p:cNvSpPr/>
          <p:nvPr/>
        </p:nvSpPr>
        <p:spPr>
          <a:xfrm>
            <a:off x="5115340" y="5001030"/>
            <a:ext cx="6563402" cy="1517903"/>
          </a:xfrm>
          <a:prstGeom prst="rect">
            <a:avLst/>
          </a:prstGeom>
          <a:noFill/>
          <a:ln/>
        </p:spPr>
        <p:txBody>
          <a:bodyPr wrap="square" lIns="254" tIns="254" rIns="254" bIns="254" rtlCol="0" anchor="t">
            <a:noAutofit/>
          </a:bodyPr>
          <a:lstStyle/>
          <a:p>
            <a:pPr marL="457200" indent="-457200">
              <a:spcAft>
                <a:spcPts val="600"/>
              </a:spcAft>
              <a:buFont typeface="Arial" panose="020B0604020202020204" pitchFamily="34" charset="0"/>
              <a:buChar char="•"/>
            </a:pPr>
            <a:r>
              <a:rPr lang="en-US" sz="1600" b="1" dirty="0">
                <a:solidFill>
                  <a:srgbClr val="C9A25D"/>
                </a:solidFill>
              </a:rPr>
              <a:t>Structural potential, implementation, counterpart effect, negotiated benefit, and durability must be established separately. </a:t>
            </a:r>
          </a:p>
          <a:p>
            <a:pPr marL="457200" indent="-457200">
              <a:spcAft>
                <a:spcPts val="600"/>
              </a:spcAft>
              <a:buFont typeface="Arial" panose="020B0604020202020204" pitchFamily="34" charset="0"/>
              <a:buChar char="•"/>
            </a:pPr>
            <a:r>
              <a:rPr lang="en-US" sz="1600" b="1" dirty="0">
                <a:solidFill>
                  <a:srgbClr val="C9A25D"/>
                </a:solidFill>
              </a:rPr>
              <a:t>External intervention indicates exposure and adaptation, not agency or resilience by itself. </a:t>
            </a:r>
          </a:p>
          <a:p>
            <a:pPr marL="457200" indent="-457200">
              <a:spcAft>
                <a:spcPts val="600"/>
              </a:spcAft>
              <a:buFont typeface="Arial" panose="020B0604020202020204" pitchFamily="34" charset="0"/>
              <a:buChar char="•"/>
            </a:pPr>
            <a:r>
              <a:rPr lang="en-US" sz="1600" b="1" dirty="0">
                <a:solidFill>
                  <a:srgbClr val="C9A25D"/>
                </a:solidFill>
              </a:rPr>
              <a:t>None of the cases establishes the full chain of weaker-state strategic leverage.</a:t>
            </a:r>
          </a:p>
        </p:txBody>
      </p:sp>
      <p:sp>
        <p:nvSpPr>
          <p:cNvPr id="37" name="Text 9">
            <a:extLst>
              <a:ext uri="{FF2B5EF4-FFF2-40B4-BE49-F238E27FC236}">
                <a16:creationId xmlns:a16="http://schemas.microsoft.com/office/drawing/2014/main" id="{306EF610-3B22-6DD2-0348-5F7FDD324C4D}"/>
              </a:ext>
            </a:extLst>
          </p:cNvPr>
          <p:cNvSpPr/>
          <p:nvPr/>
        </p:nvSpPr>
        <p:spPr>
          <a:xfrm>
            <a:off x="7993382" y="1286916"/>
            <a:ext cx="1417320" cy="475488"/>
          </a:xfrm>
          <a:prstGeom prst="rect">
            <a:avLst/>
          </a:prstGeom>
          <a:noFill/>
          <a:ln/>
        </p:spPr>
        <p:txBody>
          <a:bodyPr wrap="square" lIns="127" tIns="127" rIns="127" bIns="127" rtlCol="0" anchor="ctr">
            <a:noAutofit/>
          </a:bodyPr>
          <a:lstStyle/>
          <a:p>
            <a:pPr marL="0" indent="0" algn="ctr">
              <a:buNone/>
            </a:pPr>
            <a:r>
              <a:rPr lang="en-US" sz="1600" b="1" dirty="0">
                <a:solidFill>
                  <a:srgbClr val="C6CAD0"/>
                </a:solidFill>
              </a:rPr>
              <a:t>Negotiated Benefit</a:t>
            </a:r>
            <a:endParaRPr lang="en-US" sz="1600" dirty="0"/>
          </a:p>
        </p:txBody>
      </p:sp>
      <p:sp>
        <p:nvSpPr>
          <p:cNvPr id="39" name="Text 13">
            <a:extLst>
              <a:ext uri="{FF2B5EF4-FFF2-40B4-BE49-F238E27FC236}">
                <a16:creationId xmlns:a16="http://schemas.microsoft.com/office/drawing/2014/main" id="{FC31A5B7-EC88-FE93-5273-699885B51567}"/>
              </a:ext>
            </a:extLst>
          </p:cNvPr>
          <p:cNvSpPr/>
          <p:nvPr/>
        </p:nvSpPr>
        <p:spPr>
          <a:xfrm>
            <a:off x="8228411" y="189042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41" name="Text 17">
            <a:extLst>
              <a:ext uri="{FF2B5EF4-FFF2-40B4-BE49-F238E27FC236}">
                <a16:creationId xmlns:a16="http://schemas.microsoft.com/office/drawing/2014/main" id="{61C70A94-524D-414C-F720-EC255F039210}"/>
              </a:ext>
            </a:extLst>
          </p:cNvPr>
          <p:cNvSpPr/>
          <p:nvPr/>
        </p:nvSpPr>
        <p:spPr>
          <a:xfrm>
            <a:off x="8228411" y="2941980"/>
            <a:ext cx="1417320" cy="347472"/>
          </a:xfrm>
          <a:prstGeom prst="rect">
            <a:avLst/>
          </a:prstGeom>
          <a:noFill/>
          <a:ln/>
        </p:spPr>
        <p:txBody>
          <a:bodyPr wrap="square" lIns="0" tIns="0" rIns="0" bIns="0" rtlCol="0" anchor="ctr"/>
          <a:lstStyle/>
          <a:p>
            <a:pPr marL="0" indent="0" algn="l">
              <a:buNone/>
            </a:pPr>
            <a:r>
              <a:rPr lang="en-US" sz="1600" dirty="0">
                <a:solidFill>
                  <a:srgbClr val="8C949E"/>
                </a:solidFill>
              </a:rPr>
              <a:t>○  No</a:t>
            </a:r>
            <a:endParaRPr lang="en-US" sz="1600" dirty="0"/>
          </a:p>
        </p:txBody>
      </p:sp>
      <p:sp>
        <p:nvSpPr>
          <p:cNvPr id="47" name="Text 16">
            <a:extLst>
              <a:ext uri="{FF2B5EF4-FFF2-40B4-BE49-F238E27FC236}">
                <a16:creationId xmlns:a16="http://schemas.microsoft.com/office/drawing/2014/main" id="{BEEC4BF3-B983-C765-EE0D-0BE9ADB7B138}"/>
              </a:ext>
            </a:extLst>
          </p:cNvPr>
          <p:cNvSpPr/>
          <p:nvPr/>
        </p:nvSpPr>
        <p:spPr>
          <a:xfrm>
            <a:off x="8228410" y="4075036"/>
            <a:ext cx="1572237" cy="347472"/>
          </a:xfrm>
          <a:prstGeom prst="rect">
            <a:avLst/>
          </a:prstGeom>
          <a:noFill/>
          <a:ln/>
        </p:spPr>
        <p:txBody>
          <a:bodyPr wrap="square" lIns="0" tIns="0" rIns="0" bIns="0" rtlCol="0" anchor="ctr"/>
          <a:lstStyle/>
          <a:p>
            <a:pPr marL="274320" indent="-457200" algn="l">
              <a:buNone/>
            </a:pPr>
            <a:r>
              <a:rPr lang="en-US" sz="1600" dirty="0">
                <a:solidFill>
                  <a:srgbClr val="C9A25D"/>
                </a:solidFill>
              </a:rPr>
              <a:t>◐  Reported / Unverified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0E13"/>
        </a:solidFill>
        <a:effectLst/>
      </p:bgPr>
    </p:bg>
    <p:spTree>
      <p:nvGrpSpPr>
        <p:cNvPr id="1" name=""/>
        <p:cNvGrpSpPr/>
        <p:nvPr/>
      </p:nvGrpSpPr>
      <p:grpSpPr>
        <a:xfrm>
          <a:off x="0" y="0"/>
          <a:ext cx="0" cy="0"/>
          <a:chOff x="0" y="0"/>
          <a:chExt cx="0" cy="0"/>
        </a:xfrm>
      </p:grpSpPr>
      <p:sp>
        <p:nvSpPr>
          <p:cNvPr id="3" name="Shape 0"/>
          <p:cNvSpPr/>
          <p:nvPr/>
        </p:nvSpPr>
        <p:spPr>
          <a:xfrm>
            <a:off x="0" y="0"/>
            <a:ext cx="5669280" cy="6858000"/>
          </a:xfrm>
          <a:prstGeom prst="rect">
            <a:avLst/>
          </a:prstGeom>
          <a:solidFill>
            <a:srgbClr val="0B0E13"/>
          </a:solidFill>
          <a:ln w="12700">
            <a:solidFill>
              <a:srgbClr val="0B0E13">
                <a:alpha val="0"/>
              </a:srgbClr>
            </a:solidFill>
            <a:prstDash val="solid"/>
          </a:ln>
        </p:spPr>
      </p:sp>
      <p:sp>
        <p:nvSpPr>
          <p:cNvPr id="4" name="Text 1"/>
          <p:cNvSpPr/>
          <p:nvPr/>
        </p:nvSpPr>
        <p:spPr>
          <a:xfrm>
            <a:off x="566661" y="349741"/>
            <a:ext cx="4206240" cy="457200"/>
          </a:xfrm>
          <a:prstGeom prst="rect">
            <a:avLst/>
          </a:prstGeom>
          <a:noFill/>
          <a:ln/>
        </p:spPr>
        <p:txBody>
          <a:bodyPr wrap="square" lIns="0" tIns="0" rIns="0" bIns="0" rtlCol="0" anchor="ctr"/>
          <a:lstStyle/>
          <a:p>
            <a:pPr marL="0" indent="0">
              <a:buNone/>
            </a:pPr>
            <a:r>
              <a:rPr lang="en-US" sz="2800" b="1" dirty="0">
                <a:solidFill>
                  <a:srgbClr val="F3F1E8"/>
                </a:solidFill>
              </a:rPr>
              <a:t>4. Implications</a:t>
            </a:r>
            <a:endParaRPr lang="en-US" sz="2800" dirty="0"/>
          </a:p>
        </p:txBody>
      </p:sp>
      <p:sp>
        <p:nvSpPr>
          <p:cNvPr id="6" name="Text 3"/>
          <p:cNvSpPr/>
          <p:nvPr/>
        </p:nvSpPr>
        <p:spPr>
          <a:xfrm>
            <a:off x="640079" y="1271774"/>
            <a:ext cx="11247121" cy="6129860"/>
          </a:xfrm>
          <a:prstGeom prst="rect">
            <a:avLst/>
          </a:prstGeom>
          <a:noFill/>
          <a:ln/>
        </p:spPr>
        <p:txBody>
          <a:bodyPr wrap="square" lIns="254" tIns="254" rIns="254" bIns="254" rtlCol="0" anchor="t">
            <a:noAutofit/>
          </a:bodyPr>
          <a:lstStyle/>
          <a:p>
            <a:pPr marL="182880" indent="-457200">
              <a:spcBef>
                <a:spcPts val="600"/>
              </a:spcBef>
              <a:buNone/>
            </a:pPr>
            <a:r>
              <a:rPr lang="en-US" sz="2000" b="1" dirty="0">
                <a:solidFill>
                  <a:srgbClr val="C9A25D"/>
                </a:solidFill>
              </a:rPr>
              <a:t>For middle and small states</a:t>
            </a:r>
          </a:p>
          <a:p>
            <a:pPr marL="182880" indent="-457200">
              <a:spcBef>
                <a:spcPts val="600"/>
              </a:spcBef>
              <a:buFont typeface="Arial" panose="020B0604020202020204" pitchFamily="34" charset="0"/>
              <a:buChar char="•"/>
            </a:pPr>
            <a:r>
              <a:rPr lang="en-US" sz="2000" b="1" dirty="0">
                <a:solidFill>
                  <a:schemeClr val="bg1"/>
                </a:solidFill>
              </a:rPr>
              <a:t>Identify the relevant control-rights bundle and protect implementation capacity. </a:t>
            </a:r>
          </a:p>
          <a:p>
            <a:pPr marL="182880" indent="-457200">
              <a:spcBef>
                <a:spcPts val="600"/>
              </a:spcBef>
              <a:buFont typeface="Arial" panose="020B0604020202020204" pitchFamily="34" charset="0"/>
              <a:buChar char="•"/>
            </a:pPr>
            <a:r>
              <a:rPr lang="en-US" sz="2000" b="1" dirty="0">
                <a:solidFill>
                  <a:schemeClr val="bg1"/>
                </a:solidFill>
              </a:rPr>
              <a:t>Build redundancy and assess substitutes from the counterpart’s perspective. </a:t>
            </a:r>
          </a:p>
          <a:p>
            <a:pPr marL="182880" indent="-457200">
              <a:spcBef>
                <a:spcPts val="600"/>
              </a:spcBef>
              <a:buFont typeface="Arial" panose="020B0604020202020204" pitchFamily="34" charset="0"/>
              <a:buChar char="•"/>
            </a:pPr>
            <a:r>
              <a:rPr lang="en-US" sz="2000" b="1" dirty="0">
                <a:solidFill>
                  <a:schemeClr val="bg1"/>
                </a:solidFill>
              </a:rPr>
              <a:t>Avoid maximizing irreplaceability at the expense of resilience.</a:t>
            </a:r>
          </a:p>
          <a:p>
            <a:pPr marL="182880" indent="-457200">
              <a:spcBef>
                <a:spcPts val="600"/>
              </a:spcBef>
              <a:buNone/>
            </a:pPr>
            <a:r>
              <a:rPr lang="en-US" sz="2000" b="1" dirty="0">
                <a:solidFill>
                  <a:srgbClr val="C9A25D"/>
                </a:solidFill>
              </a:rPr>
              <a:t>For major powers</a:t>
            </a:r>
          </a:p>
          <a:p>
            <a:pPr marL="457200" indent="-457200">
              <a:spcBef>
                <a:spcPts val="600"/>
              </a:spcBef>
              <a:buFont typeface="Arial" panose="020B0604020202020204" pitchFamily="34" charset="0"/>
              <a:buChar char="•"/>
            </a:pPr>
            <a:r>
              <a:rPr lang="en-US" sz="2000" b="1" dirty="0">
                <a:solidFill>
                  <a:schemeClr val="bg1"/>
                </a:solidFill>
              </a:rPr>
              <a:t>Treat host-state access as conditional, not automatic. </a:t>
            </a:r>
          </a:p>
          <a:p>
            <a:pPr marL="457200" indent="-457200">
              <a:spcBef>
                <a:spcPts val="600"/>
              </a:spcBef>
              <a:buFont typeface="Arial" panose="020B0604020202020204" pitchFamily="34" charset="0"/>
              <a:buChar char="•"/>
            </a:pPr>
            <a:r>
              <a:rPr lang="en-US" sz="2000" b="1" dirty="0">
                <a:solidFill>
                  <a:schemeClr val="bg1"/>
                </a:solidFill>
              </a:rPr>
              <a:t>Incorporate political discretion, retaliation exposure, infrastructure capacity, and substitution costs into planning.</a:t>
            </a:r>
          </a:p>
          <a:p>
            <a:pPr marL="182880" indent="-457200">
              <a:spcBef>
                <a:spcPts val="600"/>
              </a:spcBef>
              <a:buNone/>
            </a:pPr>
            <a:r>
              <a:rPr lang="en-US" sz="2000" b="1" dirty="0">
                <a:solidFill>
                  <a:srgbClr val="C9A25D"/>
                </a:solidFill>
              </a:rPr>
              <a:t>For researchers</a:t>
            </a:r>
          </a:p>
          <a:p>
            <a:pPr marL="457200" indent="-457200">
              <a:spcBef>
                <a:spcPts val="600"/>
              </a:spcBef>
              <a:buFont typeface="Arial" panose="020B0604020202020204" pitchFamily="34" charset="0"/>
              <a:buChar char="•"/>
            </a:pPr>
            <a:r>
              <a:rPr lang="en-US" sz="2000" b="1" dirty="0">
                <a:solidFill>
                  <a:schemeClr val="bg1"/>
                </a:solidFill>
              </a:rPr>
              <a:t>Separate control rights, purposeful action, implemented access/use change, counterpart effect, negotiated benefit, durability, external intervention, and adaptation. </a:t>
            </a:r>
          </a:p>
          <a:p>
            <a:pPr marL="457200" indent="-457200">
              <a:spcBef>
                <a:spcPts val="600"/>
              </a:spcBef>
              <a:buFont typeface="Arial" panose="020B0604020202020204" pitchFamily="34" charset="0"/>
              <a:buChar char="•"/>
            </a:pPr>
            <a:r>
              <a:rPr lang="en-US" sz="2000" b="1" dirty="0">
                <a:solidFill>
                  <a:schemeClr val="bg1"/>
                </a:solidFill>
              </a:rPr>
              <a:t>Use paired successful and failed conversion cases before drawing causal claims.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a:extLst>
            <a:ext uri="{FF2B5EF4-FFF2-40B4-BE49-F238E27FC236}">
              <a16:creationId xmlns:a16="http://schemas.microsoft.com/office/drawing/2014/main" id="{54343317-B20F-1897-2C25-889B77664292}"/>
            </a:ext>
          </a:extLst>
        </p:cNvPr>
        <p:cNvGrpSpPr/>
        <p:nvPr/>
      </p:nvGrpSpPr>
      <p:grpSpPr>
        <a:xfrm>
          <a:off x="0" y="0"/>
          <a:ext cx="0" cy="0"/>
          <a:chOff x="0" y="0"/>
          <a:chExt cx="0" cy="0"/>
        </a:xfrm>
      </p:grpSpPr>
      <p:pic>
        <p:nvPicPr>
          <p:cNvPr id="2" name="Image 0" descr="/mnt/data/wide_dark_minimalist_infographic_style_background_16x9_dark.png">
            <a:extLst>
              <a:ext uri="{FF2B5EF4-FFF2-40B4-BE49-F238E27FC236}">
                <a16:creationId xmlns:a16="http://schemas.microsoft.com/office/drawing/2014/main" id="{FA8A23BB-2A66-B917-B996-C6D080DD4778}"/>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618D55B0-9F2E-8479-0A03-611A0CFC5FAC}"/>
              </a:ext>
            </a:extLst>
          </p:cNvPr>
          <p:cNvSpPr/>
          <p:nvPr/>
        </p:nvSpPr>
        <p:spPr>
          <a:xfrm>
            <a:off x="0" y="0"/>
            <a:ext cx="5669280" cy="6858000"/>
          </a:xfrm>
          <a:prstGeom prst="rect">
            <a:avLst/>
          </a:prstGeom>
          <a:solidFill>
            <a:srgbClr val="0B0E13"/>
          </a:solidFill>
          <a:ln w="12700">
            <a:solidFill>
              <a:srgbClr val="0B0E13">
                <a:alpha val="0"/>
              </a:srgbClr>
            </a:solidFill>
            <a:prstDash val="solid"/>
          </a:ln>
        </p:spPr>
      </p:sp>
      <p:sp>
        <p:nvSpPr>
          <p:cNvPr id="4" name="Text 1">
            <a:extLst>
              <a:ext uri="{FF2B5EF4-FFF2-40B4-BE49-F238E27FC236}">
                <a16:creationId xmlns:a16="http://schemas.microsoft.com/office/drawing/2014/main" id="{C23A64C0-C546-F19B-90A2-BE192A6E94DA}"/>
              </a:ext>
            </a:extLst>
          </p:cNvPr>
          <p:cNvSpPr/>
          <p:nvPr/>
        </p:nvSpPr>
        <p:spPr>
          <a:xfrm>
            <a:off x="580010" y="336392"/>
            <a:ext cx="4206240" cy="457200"/>
          </a:xfrm>
          <a:prstGeom prst="rect">
            <a:avLst/>
          </a:prstGeom>
          <a:noFill/>
          <a:ln/>
        </p:spPr>
        <p:txBody>
          <a:bodyPr wrap="square" lIns="0" tIns="0" rIns="0" bIns="0" rtlCol="0" anchor="ctr"/>
          <a:lstStyle/>
          <a:p>
            <a:pPr marL="0" indent="0">
              <a:buNone/>
            </a:pPr>
            <a:r>
              <a:rPr lang="en-US" sz="2800" b="1" dirty="0">
                <a:solidFill>
                  <a:srgbClr val="F3F1E8"/>
                </a:solidFill>
              </a:rPr>
              <a:t>5. Conclusion</a:t>
            </a:r>
            <a:endParaRPr lang="en-US" sz="2800" dirty="0"/>
          </a:p>
        </p:txBody>
      </p:sp>
      <p:sp>
        <p:nvSpPr>
          <p:cNvPr id="5" name="Text 2">
            <a:extLst>
              <a:ext uri="{FF2B5EF4-FFF2-40B4-BE49-F238E27FC236}">
                <a16:creationId xmlns:a16="http://schemas.microsoft.com/office/drawing/2014/main" id="{DDE7B622-561E-F841-F381-84CC16C7CD62}"/>
              </a:ext>
            </a:extLst>
          </p:cNvPr>
          <p:cNvSpPr/>
          <p:nvPr/>
        </p:nvSpPr>
        <p:spPr>
          <a:xfrm>
            <a:off x="658368" y="1569389"/>
            <a:ext cx="4956048" cy="658368"/>
          </a:xfrm>
          <a:prstGeom prst="rect">
            <a:avLst/>
          </a:prstGeom>
          <a:noFill/>
          <a:ln/>
        </p:spPr>
        <p:txBody>
          <a:bodyPr wrap="square" lIns="254" tIns="254" rIns="254" bIns="254" rtlCol="0" anchor="ctr">
            <a:normAutofit/>
          </a:bodyPr>
          <a:lstStyle/>
          <a:p>
            <a:pPr marL="0" indent="0">
              <a:buNone/>
            </a:pPr>
            <a:r>
              <a:rPr lang="en-US" sz="2000" b="1" dirty="0">
                <a:solidFill>
                  <a:srgbClr val="C9A25D"/>
                </a:solidFill>
              </a:rPr>
              <a:t>Node-based agency is a managed conversion problem.</a:t>
            </a:r>
            <a:endParaRPr lang="en-US" sz="2000" dirty="0"/>
          </a:p>
        </p:txBody>
      </p:sp>
      <p:sp>
        <p:nvSpPr>
          <p:cNvPr id="6" name="Text 3">
            <a:extLst>
              <a:ext uri="{FF2B5EF4-FFF2-40B4-BE49-F238E27FC236}">
                <a16:creationId xmlns:a16="http://schemas.microsoft.com/office/drawing/2014/main" id="{B180B0FF-DD12-00B2-E611-D7259EF726D0}"/>
              </a:ext>
            </a:extLst>
          </p:cNvPr>
          <p:cNvSpPr/>
          <p:nvPr/>
        </p:nvSpPr>
        <p:spPr>
          <a:xfrm>
            <a:off x="658368" y="2803828"/>
            <a:ext cx="4956048" cy="3276932"/>
          </a:xfrm>
          <a:prstGeom prst="rect">
            <a:avLst/>
          </a:prstGeom>
          <a:noFill/>
          <a:ln/>
        </p:spPr>
        <p:txBody>
          <a:bodyPr wrap="square" lIns="254" tIns="254" rIns="254" bIns="254" rtlCol="0" anchor="t">
            <a:normAutofit/>
          </a:bodyPr>
          <a:lstStyle/>
          <a:p>
            <a:pPr marL="342900" indent="-342900">
              <a:spcBef>
                <a:spcPts val="600"/>
              </a:spcBef>
              <a:spcAft>
                <a:spcPts val="600"/>
              </a:spcAft>
              <a:buFont typeface="Arial" panose="020B0604020202020204" pitchFamily="34" charset="0"/>
              <a:buChar char="•"/>
            </a:pPr>
            <a:r>
              <a:rPr lang="en-US" sz="2000" dirty="0">
                <a:solidFill>
                  <a:srgbClr val="F3F1E8"/>
                </a:solidFill>
              </a:rPr>
              <a:t>Structural importance creates opportunity, not agency. </a:t>
            </a:r>
          </a:p>
          <a:p>
            <a:pPr marL="342900" indent="-342900">
              <a:spcBef>
                <a:spcPts val="600"/>
              </a:spcBef>
              <a:spcAft>
                <a:spcPts val="600"/>
              </a:spcAft>
              <a:buFont typeface="Arial" panose="020B0604020202020204" pitchFamily="34" charset="0"/>
              <a:buChar char="•"/>
            </a:pPr>
            <a:r>
              <a:rPr lang="en-US" sz="2000" dirty="0">
                <a:solidFill>
                  <a:srgbClr val="F3F1E8"/>
                </a:solidFill>
              </a:rPr>
              <a:t>Control rights and implementation convert opportunity into agency. </a:t>
            </a:r>
          </a:p>
          <a:p>
            <a:pPr marL="342900" indent="-342900">
              <a:spcBef>
                <a:spcPts val="600"/>
              </a:spcBef>
              <a:spcAft>
                <a:spcPts val="600"/>
              </a:spcAft>
              <a:buFont typeface="Arial" panose="020B0604020202020204" pitchFamily="34" charset="0"/>
              <a:buChar char="•"/>
            </a:pPr>
            <a:r>
              <a:rPr lang="en-US" sz="2000" dirty="0">
                <a:solidFill>
                  <a:srgbClr val="F3F1E8"/>
                </a:solidFill>
              </a:rPr>
              <a:t>Attributable counterpart effect is required to establish strategic leverage.</a:t>
            </a:r>
          </a:p>
        </p:txBody>
      </p:sp>
      <p:sp>
        <p:nvSpPr>
          <p:cNvPr id="7" name="Text 4">
            <a:extLst>
              <a:ext uri="{FF2B5EF4-FFF2-40B4-BE49-F238E27FC236}">
                <a16:creationId xmlns:a16="http://schemas.microsoft.com/office/drawing/2014/main" id="{C8DCE7CF-8388-E5D5-9731-DB8F50A4B4B3}"/>
              </a:ext>
            </a:extLst>
          </p:cNvPr>
          <p:cNvSpPr/>
          <p:nvPr/>
        </p:nvSpPr>
        <p:spPr>
          <a:xfrm>
            <a:off x="7172740" y="2803828"/>
            <a:ext cx="4251960" cy="1838012"/>
          </a:xfrm>
          <a:prstGeom prst="roundRect">
            <a:avLst>
              <a:gd name="adj" fmla="val 5556"/>
            </a:avLst>
          </a:prstGeom>
          <a:solidFill>
            <a:srgbClr val="111821"/>
          </a:solidFill>
          <a:ln w="10160">
            <a:solidFill>
              <a:srgbClr val="C9A25D"/>
            </a:solidFill>
          </a:ln>
        </p:spPr>
        <p:txBody>
          <a:bodyPr wrap="square" lIns="1524" tIns="1524" rIns="1524" bIns="1524" rtlCol="0" anchor="ctr"/>
          <a:lstStyle/>
          <a:p>
            <a:pPr marL="0" indent="0" algn="ctr">
              <a:buNone/>
            </a:pPr>
            <a:r>
              <a:rPr lang="en-US" sz="2000" b="1" dirty="0">
                <a:solidFill>
                  <a:srgbClr val="F3F1E8"/>
                </a:solidFill>
              </a:rPr>
              <a:t>Strategic position does not automatically translate into agency.</a:t>
            </a:r>
          </a:p>
          <a:p>
            <a:pPr marL="0" indent="0" algn="ctr">
              <a:buNone/>
            </a:pPr>
            <a:r>
              <a:rPr lang="en-US" sz="2000" b="1" dirty="0">
                <a:solidFill>
                  <a:srgbClr val="F3F1E8"/>
                </a:solidFill>
              </a:rPr>
              <a:t>Leverage depends on control, implementation, and attributable effect.</a:t>
            </a:r>
            <a:endParaRPr lang="en-US" sz="2000" dirty="0"/>
          </a:p>
        </p:txBody>
      </p:sp>
    </p:spTree>
    <p:extLst>
      <p:ext uri="{BB962C8B-B14F-4D97-AF65-F5344CB8AC3E}">
        <p14:creationId xmlns:p14="http://schemas.microsoft.com/office/powerpoint/2010/main" val="1748892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339D-272C-38DA-5850-962EF0B0B98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2720ECA-EF78-D46A-05A8-AD4140A1CB92}"/>
              </a:ext>
            </a:extLst>
          </p:cNvPr>
          <p:cNvSpPr/>
          <p:nvPr/>
        </p:nvSpPr>
        <p:spPr>
          <a:xfrm>
            <a:off x="0" y="0"/>
            <a:ext cx="12192000" cy="6858000"/>
          </a:xfrm>
          <a:prstGeom prst="rect">
            <a:avLst/>
          </a:prstGeom>
          <a:solidFill>
            <a:srgbClr val="090B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矩形 1">
            <a:extLst>
              <a:ext uri="{FF2B5EF4-FFF2-40B4-BE49-F238E27FC236}">
                <a16:creationId xmlns:a16="http://schemas.microsoft.com/office/drawing/2014/main" id="{F89F41AC-E049-CCBB-E674-B5F45265248E}"/>
              </a:ext>
            </a:extLst>
          </p:cNvPr>
          <p:cNvSpPr/>
          <p:nvPr/>
        </p:nvSpPr>
        <p:spPr>
          <a:xfrm>
            <a:off x="3691591" y="2587333"/>
            <a:ext cx="4808817" cy="1015663"/>
          </a:xfrm>
          <a:prstGeom prst="rect">
            <a:avLst/>
          </a:prstGeom>
          <a:noFill/>
        </p:spPr>
        <p:txBody>
          <a:bodyPr wrap="none" lIns="91440" tIns="45720" rIns="91440" bIns="45720">
            <a:spAutoFit/>
          </a:bodyPr>
          <a:lstStyle/>
          <a:p>
            <a:pPr algn="ctr"/>
            <a:r>
              <a:rPr lang="en-US" altLang="zh-CN" sz="6000" dirty="0">
                <a:ln w="0"/>
                <a:solidFill>
                  <a:schemeClr val="bg1"/>
                </a:solidFill>
                <a:effectLst>
                  <a:outerShdw blurRad="38100" dist="38100" dir="2700000" algn="tl">
                    <a:srgbClr val="000000">
                      <a:alpha val="43137"/>
                    </a:srgbClr>
                  </a:outerShdw>
                </a:effectLst>
                <a:latin typeface="Arial Black" panose="020B0A04020102020204" pitchFamily="34" charset="0"/>
              </a:rPr>
              <a:t>Thank you!</a:t>
            </a:r>
            <a:endParaRPr lang="zh-CN" altLang="en-US" sz="6000" dirty="0">
              <a:ln w="0"/>
              <a:solidFill>
                <a:schemeClr val="bg1"/>
              </a:solidFill>
              <a:effectLst>
                <a:outerShdw blurRad="38100" dist="38100" dir="2700000" algn="tl">
                  <a:srgbClr val="000000">
                    <a:alpha val="43137"/>
                  </a:srgbClr>
                </a:outerShdw>
              </a:effectLst>
              <a:latin typeface="Arial Black" panose="020B0A04020102020204" pitchFamily="34" charset="0"/>
            </a:endParaRPr>
          </a:p>
        </p:txBody>
      </p:sp>
      <p:pic>
        <p:nvPicPr>
          <p:cNvPr id="6" name="图片 5">
            <a:extLst>
              <a:ext uri="{FF2B5EF4-FFF2-40B4-BE49-F238E27FC236}">
                <a16:creationId xmlns:a16="http://schemas.microsoft.com/office/drawing/2014/main" id="{7B94D6C1-C465-F5C2-CDC7-3E66B2241B17}"/>
              </a:ext>
            </a:extLst>
          </p:cNvPr>
          <p:cNvPicPr>
            <a:picLocks noChangeAspect="1"/>
          </p:cNvPicPr>
          <p:nvPr/>
        </p:nvPicPr>
        <p:blipFill>
          <a:blip r:embed="rId3"/>
          <a:stretch>
            <a:fillRect/>
          </a:stretch>
        </p:blipFill>
        <p:spPr>
          <a:xfrm>
            <a:off x="10959498" y="-13252"/>
            <a:ext cx="1250008" cy="1250008"/>
          </a:xfrm>
          <a:prstGeom prst="rect">
            <a:avLst/>
          </a:prstGeom>
        </p:spPr>
      </p:pic>
      <p:pic>
        <p:nvPicPr>
          <p:cNvPr id="8" name="图片 7">
            <a:extLst>
              <a:ext uri="{FF2B5EF4-FFF2-40B4-BE49-F238E27FC236}">
                <a16:creationId xmlns:a16="http://schemas.microsoft.com/office/drawing/2014/main" id="{E689F77F-E32F-C57D-78DE-6E9A0FD5A74A}"/>
              </a:ext>
            </a:extLst>
          </p:cNvPr>
          <p:cNvPicPr>
            <a:picLocks noChangeAspect="1"/>
          </p:cNvPicPr>
          <p:nvPr/>
        </p:nvPicPr>
        <p:blipFill>
          <a:blip r:embed="rId4"/>
          <a:stretch>
            <a:fillRect/>
          </a:stretch>
        </p:blipFill>
        <p:spPr>
          <a:xfrm>
            <a:off x="10959498" y="1236756"/>
            <a:ext cx="1259006" cy="388071"/>
          </a:xfrm>
          <a:prstGeom prst="rect">
            <a:avLst/>
          </a:prstGeom>
        </p:spPr>
      </p:pic>
    </p:spTree>
    <p:extLst>
      <p:ext uri="{BB962C8B-B14F-4D97-AF65-F5344CB8AC3E}">
        <p14:creationId xmlns:p14="http://schemas.microsoft.com/office/powerpoint/2010/main" val="1309859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TM03457485[[fn=网状]]</Template>
  <TotalTime>491</TotalTime>
  <Words>2279</Words>
  <Application>Microsoft Office PowerPoint</Application>
  <PresentationFormat>宽屏</PresentationFormat>
  <Paragraphs>278</Paragraphs>
  <Slides>14</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Aptos</vt:lpstr>
      <vt:lpstr>Aptos Display</vt:lpstr>
      <vt:lpstr>Arial</vt:lpstr>
      <vt:lpstr>Arial Black</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Buffer-State Logic: Node-Based Agency</dc:title>
  <dc:subject>Presentation based on Beyond Buffer-State Logic</dc:subject>
  <dc:creator>OpenAI</dc:creator>
  <cp:lastModifiedBy>SY Wu</cp:lastModifiedBy>
  <cp:revision>19</cp:revision>
  <dcterms:created xsi:type="dcterms:W3CDTF">2026-09-08T10:39:05Z</dcterms:created>
  <dcterms:modified xsi:type="dcterms:W3CDTF">2026-09-13T06:11:58Z</dcterms:modified>
</cp:coreProperties>
</file>